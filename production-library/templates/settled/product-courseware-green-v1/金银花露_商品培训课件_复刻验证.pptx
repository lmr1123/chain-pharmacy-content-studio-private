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033de5b0384d51" /><Relationship Type="http://schemas.openxmlformats.org/officeDocument/2006/relationships/extended-properties" Target="/docProps/app.xml" Id="Rb461979ff8214b71" /><Relationship Type="http://schemas.openxmlformats.org/officeDocument/2006/relationships/officeDocument" Target="/ppt/presentation.xml" Id="R5df1360a0b6846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ef8284c84c4bd7"/>
  </p:sldMasterIdLst>
  <p:notesMasterIdLst>
    <p:notesMasterId xmlns:r="http://schemas.openxmlformats.org/officeDocument/2006/relationships" r:id="R58e6c25fac314ff1"/>
  </p:notesMasterIdLst>
  <p:sldIdLst>
    <p:sldId xmlns:r="http://schemas.openxmlformats.org/officeDocument/2006/relationships" id="256" r:id="R9c8ce1c716f14b87"/>
    <p:sldId xmlns:r="http://schemas.openxmlformats.org/officeDocument/2006/relationships" id="257" r:id="R51731b1b1f5a4f11"/>
    <p:sldId xmlns:r="http://schemas.openxmlformats.org/officeDocument/2006/relationships" id="258" r:id="R6ce18509c1454fb6"/>
    <p:sldId xmlns:r="http://schemas.openxmlformats.org/officeDocument/2006/relationships" id="259" r:id="Re393f9d350194736"/>
    <p:sldId xmlns:r="http://schemas.openxmlformats.org/officeDocument/2006/relationships" id="260" r:id="Rf044c95104c840c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5b380a20f041fe" /><Relationship Type="http://schemas.openxmlformats.org/officeDocument/2006/relationships/slideMaster" Target="/ppt/slideMasters/slideMaster1.xml" Id="R0bef8284c84c4bd7" /><Relationship Type="http://schemas.openxmlformats.org/officeDocument/2006/relationships/notesMaster" Target="/ppt/notesMasters/notesMaster1.xml" Id="R58e6c25fac314ff1" /><Relationship Type="http://schemas.openxmlformats.org/officeDocument/2006/relationships/presProps" Target="/ppt/presProps.xml" Id="R525e57d4a15c4c29" /><Relationship Type="http://schemas.openxmlformats.org/officeDocument/2006/relationships/tableStyles" Target="/ppt/tableStyles.xml" Id="R698a23b6411f4e5a" /><Relationship Type="http://schemas.openxmlformats.org/officeDocument/2006/relationships/slide" Target="/ppt/slides/slide1.xml" Id="R9c8ce1c716f14b87" /><Relationship Type="http://schemas.openxmlformats.org/officeDocument/2006/relationships/slide" Target="/ppt/slides/slide2.xml" Id="R51731b1b1f5a4f11" /><Relationship Type="http://schemas.openxmlformats.org/officeDocument/2006/relationships/slide" Target="/ppt/slides/slide3.xml" Id="R6ce18509c1454fb6" /><Relationship Type="http://schemas.openxmlformats.org/officeDocument/2006/relationships/slide" Target="/ppt/slides/slide4.xml" Id="Re393f9d350194736" /><Relationship Type="http://schemas.openxmlformats.org/officeDocument/2006/relationships/slide" Target="/ppt/slides/slide5.xml" Id="Rf044c95104c840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f3a461452a4e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13eff1a3ef44db" /><Relationship Type="http://schemas.openxmlformats.org/officeDocument/2006/relationships/notesMaster" Target="/ppt/notesMasters/notesMaster1.xml" Id="R434c1551403f47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926a08ff3b4a34" /><Relationship Type="http://schemas.openxmlformats.org/officeDocument/2006/relationships/notesMaster" Target="/ppt/notesMasters/notesMaster1.xml" Id="R6cced509d2f541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e9460f31d04d81" /><Relationship Type="http://schemas.openxmlformats.org/officeDocument/2006/relationships/notesMaster" Target="/ppt/notesMasters/notesMaster1.xml" Id="R2ee820a221b249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183e69295448a2" /><Relationship Type="http://schemas.openxmlformats.org/officeDocument/2006/relationships/notesMaster" Target="/ppt/notesMasters/notesMaster1.xml" Id="Rfaea2caad5814b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ba886789b04c8f" /><Relationship Type="http://schemas.openxmlformats.org/officeDocument/2006/relationships/notesMaster" Target="/ppt/notesMasters/notesMaster1.xml" Id="R414db96c7fd143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33CC7A3A-9CB3-4383-9587-7564FD74AFAF.png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171FA13F-202E-4B0D-A440-2614EF985EFF.png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1DBBECEC-9258-48D6-82A6-793D6B539DBE.png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C0D1AC4D-8CD3-497C-98A0-2B8D0DDB6B39.png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CBD2D8CD-6DC6-442A-A16F-EEFFF500E9EC.png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b3ddeb4e684dc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8e2a0b89e341d0" /><Relationship Type="http://schemas.openxmlformats.org/officeDocument/2006/relationships/slideLayout" Target="/ppt/slideLayouts/slideLayout1.xml" Id="R1cc17aa760b74d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c17aa760b74d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848428ca04742" /><Relationship Type="http://schemas.openxmlformats.org/officeDocument/2006/relationships/notesSlide" Target="/ppt/notesSlides/notesSlide1.xml" Id="R0d383e589ef94a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db234c32b4a13" /><Relationship Type="http://schemas.openxmlformats.org/officeDocument/2006/relationships/notesSlide" Target="/ppt/notesSlides/notesSlide2.xml" Id="Rd47270e6aa6640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c06f6ab7046e1" /><Relationship Type="http://schemas.openxmlformats.org/officeDocument/2006/relationships/notesSlide" Target="/ppt/notesSlides/notesSlide3.xml" Id="Rfa0c618834e746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99af8febb4623" /><Relationship Type="http://schemas.openxmlformats.org/officeDocument/2006/relationships/notesSlide" Target="/ppt/notesSlides/notesSlide4.xml" Id="R20f671606fde41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9a841154c453b" /><Relationship Type="http://schemas.openxmlformats.org/officeDocument/2006/relationships/notesSlide" Target="/ppt/notesSlides/notesSlide5.xml" Id="R626fcee2f3794d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cover-color-field">
            <a:extLst xmlns:a="http://schemas.openxmlformats.org/drawingml/2006/main">
              <a:ext uri="{FF2B5EF4-FFF2-40B4-BE49-F238E27FC236}">
                <a16:creationId xmlns:a16="http://schemas.microsoft.com/office/drawing/2014/main" id="{E6C8CE1C-DD14-4D08-B4D5-490E2DCE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blue-field">
            <a:extLst xmlns:a="http://schemas.openxmlformats.org/drawingml/2006/main">
              <a:ext uri="{FF2B5EF4-FFF2-40B4-BE49-F238E27FC236}">
                <a16:creationId xmlns:a16="http://schemas.microsoft.com/office/drawing/2014/main" id="{B1AC89DD-5D22-4272-BC5A-380315A2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6858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green-overlay">
            <a:extLst xmlns:a="http://schemas.openxmlformats.org/drawingml/2006/main">
              <a:ext uri="{FF2B5EF4-FFF2-40B4-BE49-F238E27FC236}">
                <a16:creationId xmlns:a16="http://schemas.microsoft.com/office/drawing/2014/main" id="{510C9485-37D5-48FB-B70A-05B27CA1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15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building-band-1">
            <a:extLst xmlns:a="http://schemas.openxmlformats.org/drawingml/2006/main">
              <a:ext uri="{FF2B5EF4-FFF2-40B4-BE49-F238E27FC236}">
                <a16:creationId xmlns:a16="http://schemas.microsoft.com/office/drawing/2014/main" id="{B1DD784E-2C34-49A8-A92A-7738A844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3875"/>
            <a:ext cx="2476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building-band-2">
            <a:extLst xmlns:a="http://schemas.openxmlformats.org/drawingml/2006/main">
              <a:ext uri="{FF2B5EF4-FFF2-40B4-BE49-F238E27FC236}">
                <a16:creationId xmlns:a16="http://schemas.microsoft.com/office/drawing/2014/main" id="{88F8CC5E-3E19-4980-9E54-B54CE556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695325"/>
            <a:ext cx="2476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building-band-3">
            <a:extLst xmlns:a="http://schemas.openxmlformats.org/drawingml/2006/main">
              <a:ext uri="{FF2B5EF4-FFF2-40B4-BE49-F238E27FC236}">
                <a16:creationId xmlns:a16="http://schemas.microsoft.com/office/drawing/2014/main" id="{0ACC17CF-4185-4F30-9715-D5312235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66775"/>
            <a:ext cx="2476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-building-band-4">
            <a:extLst xmlns:a="http://schemas.openxmlformats.org/drawingml/2006/main">
              <a:ext uri="{FF2B5EF4-FFF2-40B4-BE49-F238E27FC236}">
                <a16:creationId xmlns:a16="http://schemas.microsoft.com/office/drawing/2014/main" id="{DA0CCD51-CEA9-4B44-9327-4742F39D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3875"/>
            <a:ext cx="2476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-building-band-5">
            <a:extLst xmlns:a="http://schemas.openxmlformats.org/drawingml/2006/main">
              <a:ext uri="{FF2B5EF4-FFF2-40B4-BE49-F238E27FC236}">
                <a16:creationId xmlns:a16="http://schemas.microsoft.com/office/drawing/2014/main" id="{59E49F3E-E23A-4256-9236-A6252220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95325"/>
            <a:ext cx="2476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building-band-6">
            <a:extLst xmlns:a="http://schemas.openxmlformats.org/drawingml/2006/main">
              <a:ext uri="{FF2B5EF4-FFF2-40B4-BE49-F238E27FC236}">
                <a16:creationId xmlns:a16="http://schemas.microsoft.com/office/drawing/2014/main" id="{3B0758F6-216F-4E34-A12E-62BC47A2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866775"/>
            <a:ext cx="2476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building-band-7">
            <a:extLst xmlns:a="http://schemas.openxmlformats.org/drawingml/2006/main">
              <a:ext uri="{FF2B5EF4-FFF2-40B4-BE49-F238E27FC236}">
                <a16:creationId xmlns:a16="http://schemas.microsoft.com/office/drawing/2014/main" id="{2D8D5D9B-EC5A-479A-BC72-2EA287D4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23875"/>
            <a:ext cx="2476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ver-building-band-8">
            <a:extLst xmlns:a="http://schemas.openxmlformats.org/drawingml/2006/main">
              <a:ext uri="{FF2B5EF4-FFF2-40B4-BE49-F238E27FC236}">
                <a16:creationId xmlns:a16="http://schemas.microsoft.com/office/drawing/2014/main" id="{81D12A59-11A1-4437-8F6A-D92E3EDC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95325"/>
            <a:ext cx="2476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ver-building-band-9">
            <a:extLst xmlns:a="http://schemas.openxmlformats.org/drawingml/2006/main">
              <a:ext uri="{FF2B5EF4-FFF2-40B4-BE49-F238E27FC236}">
                <a16:creationId xmlns:a16="http://schemas.microsoft.com/office/drawing/2014/main" id="{EA1E103E-CF98-4A30-B93F-2B54F488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866775"/>
            <a:ext cx="2476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ver-building-band-10">
            <a:extLst xmlns:a="http://schemas.openxmlformats.org/drawingml/2006/main">
              <a:ext uri="{FF2B5EF4-FFF2-40B4-BE49-F238E27FC236}">
                <a16:creationId xmlns:a16="http://schemas.microsoft.com/office/drawing/2014/main" id="{67BBAB5A-547C-4D98-A4C9-2F182656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23875"/>
            <a:ext cx="2476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over-white-bottom">
            <a:extLst xmlns:a="http://schemas.openxmlformats.org/drawingml/2006/main">
              <a:ext uri="{FF2B5EF4-FFF2-40B4-BE49-F238E27FC236}">
                <a16:creationId xmlns:a16="http://schemas.microsoft.com/office/drawing/2014/main" id="{B8658D47-014F-41CD-B9EA-3E438FF8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ver-white-curve">
            <a:extLst xmlns:a="http://schemas.openxmlformats.org/drawingml/2006/main">
              <a:ext uri="{FF2B5EF4-FFF2-40B4-BE49-F238E27FC236}">
                <a16:creationId xmlns:a16="http://schemas.microsoft.com/office/drawing/2014/main" id="{B803B080-E3D6-46C0-B52E-0D14A370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43250"/>
            <a:ext cx="121920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ver-frame-top">
            <a:extLst xmlns:a="http://schemas.openxmlformats.org/drawingml/2006/main">
              <a:ext uri="{FF2B5EF4-FFF2-40B4-BE49-F238E27FC236}">
                <a16:creationId xmlns:a16="http://schemas.microsoft.com/office/drawing/2014/main" id="{E56D3205-4CA7-4E7D-ACC4-E7099E1F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143000"/>
            <a:ext cx="838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2D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ver-frame-left">
            <a:extLst xmlns:a="http://schemas.openxmlformats.org/drawingml/2006/main">
              <a:ext uri="{FF2B5EF4-FFF2-40B4-BE49-F238E27FC236}">
                <a16:creationId xmlns:a16="http://schemas.microsoft.com/office/drawing/2014/main" id="{0BF9EFFA-4593-4834-8B34-7B812330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143000"/>
            <a:ext cx="381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2D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ver-frame-right">
            <a:extLst xmlns:a="http://schemas.openxmlformats.org/drawingml/2006/main">
              <a:ext uri="{FF2B5EF4-FFF2-40B4-BE49-F238E27FC236}">
                <a16:creationId xmlns:a16="http://schemas.microsoft.com/office/drawing/2014/main" id="{FA43BBC4-EF69-4B63-BC21-50244754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143000"/>
            <a:ext cx="381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ver-frame-bottom">
            <a:extLst xmlns:a="http://schemas.openxmlformats.org/drawingml/2006/main">
              <a:ext uri="{FF2B5EF4-FFF2-40B4-BE49-F238E27FC236}">
                <a16:creationId xmlns:a16="http://schemas.microsoft.com/office/drawing/2014/main" id="{3E722BF5-C659-453A-A26D-AC547EEB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95900"/>
            <a:ext cx="838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ver-brand">
            <a:extLst xmlns:a="http://schemas.openxmlformats.org/drawingml/2006/main">
              <a:ext uri="{FF2B5EF4-FFF2-40B4-BE49-F238E27FC236}">
                <a16:creationId xmlns:a16="http://schemas.microsoft.com/office/drawing/2014/main" id="{7D3D8EAB-B5BD-4937-B398-71957A7F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295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大参林 dashenlin</a:t>
            </a:r>
          </a:p>
        </p:txBody>
      </p:sp>
      <p:sp>
        <p:nvSpPr>
          <p:cNvPr id="21" name="cover-organization">
            <a:extLst xmlns:a="http://schemas.openxmlformats.org/drawingml/2006/main">
              <a:ext uri="{FF2B5EF4-FFF2-40B4-BE49-F238E27FC236}">
                <a16:creationId xmlns:a16="http://schemas.microsoft.com/office/drawing/2014/main" id="{94C0FF58-609B-4D30-A9DA-408C9837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5737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大参林医药集团</a:t>
            </a:r>
          </a:p>
        </p:txBody>
      </p:sp>
      <p:sp>
        <p:nvSpPr>
          <p:cNvPr id="22" name="cover-rule-left">
            <a:extLst xmlns:a="http://schemas.openxmlformats.org/drawingml/2006/main">
              <a:ext uri="{FF2B5EF4-FFF2-40B4-BE49-F238E27FC236}">
                <a16:creationId xmlns:a16="http://schemas.microsoft.com/office/drawing/2014/main" id="{211EFB4F-2B35-4324-904A-10D73845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4787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ver-rule-right">
            <a:extLst xmlns:a="http://schemas.openxmlformats.org/drawingml/2006/main">
              <a:ext uri="{FF2B5EF4-FFF2-40B4-BE49-F238E27FC236}">
                <a16:creationId xmlns:a16="http://schemas.microsoft.com/office/drawing/2014/main" id="{D052EF61-57E3-453E-9B3B-36D29A29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4787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C278EA-1B1F-4652-B08C-4602B84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4572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金银花露</a:t>
            </a:r>
          </a:p>
        </p:txBody>
      </p:sp>
      <p:sp>
        <p:nvSpPr>
          <p:cNvPr id="25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755B3100-77CB-4BD9-B812-A27DEF6D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162550"/>
            <a:ext cx="1714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【专业力】</a:t>
            </a:r>
          </a:p>
        </p:txBody>
      </p:sp>
      <p:sp>
        <p:nvSpPr>
          <p:cNvPr id="26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4D883609-D2D2-4DBB-A860-EF677F2B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532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仅供内部学习</a:t>
            </a:r>
          </a:p>
        </p:txBody>
      </p:sp>
      <p:sp>
        <p:nvSpPr>
          <p:cNvPr id="27" name="page-index">
            <a:extLst xmlns:a="http://schemas.openxmlformats.org/drawingml/2006/main">
              <a:ext uri="{FF2B5EF4-FFF2-40B4-BE49-F238E27FC236}">
                <a16:creationId xmlns:a16="http://schemas.microsoft.com/office/drawing/2014/main" id="{0C1DE216-D953-4C82-9C5D-8A16F03B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01 / 05</a:t>
            </a:r>
          </a:p>
        </p:txBody>
      </p:sp>
    </p:spTree>
    <p:extLst>
      <p:ext uri="{BB962C8B-B14F-4D97-AF65-F5344CB8AC3E}">
        <p14:creationId xmlns:p14="http://schemas.microsoft.com/office/powerpoint/2010/main" val="283288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C7BD88E0-6319-40F7-97DF-EAA95DED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D8F1A9-00D0-4795-9CFD-8E26C156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3" name="page-title">
            <a:extLst xmlns:a="http://schemas.openxmlformats.org/drawingml/2006/main">
              <a:ext uri="{FF2B5EF4-FFF2-40B4-BE49-F238E27FC236}">
                <a16:creationId xmlns:a16="http://schemas.microsoft.com/office/drawing/2014/main" id="{20D1EFF6-1002-4893-A176-27DA7121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A24"/>
                </a:solidFill>
              </a:defRPr>
            </a:pPr>
            <a:r>
              <a:rPr sz="20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商品介绍、核心卖点、适宜人群</a:t>
            </a:r>
          </a:p>
        </p:txBody>
      </p:sp>
      <p:sp>
        <p:nvSpPr>
          <p:cNvPr id="4" name="chrome-hairline">
            <a:extLst xmlns:a="http://schemas.openxmlformats.org/drawingml/2006/main">
              <a:ext uri="{FF2B5EF4-FFF2-40B4-BE49-F238E27FC236}">
                <a16:creationId xmlns:a16="http://schemas.microsoft.com/office/drawing/2014/main" id="{30417640-6F65-4314-AA0D-E7C33784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95325"/>
            <a:ext cx="1158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rome-rule-accent">
            <a:extLst xmlns:a="http://schemas.openxmlformats.org/drawingml/2006/main">
              <a:ext uri="{FF2B5EF4-FFF2-40B4-BE49-F238E27FC236}">
                <a16:creationId xmlns:a16="http://schemas.microsoft.com/office/drawing/2014/main" id="{FF8B302D-DC32-4B00-824F-2855B5F0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66750"/>
            <a:ext cx="68580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4D406CEE-0697-4C2D-B75A-F0F4DFFD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5A817"/>
                </a:solidFill>
              </a:defRPr>
            </a:pPr>
            <a:r>
              <a:rPr sz="10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98C649D4-A8D7-4248-87D4-593273DC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532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仅供内部学习</a:t>
            </a:r>
          </a:p>
        </p:txBody>
      </p:sp>
      <p:sp>
        <p:nvSpPr>
          <p:cNvPr id="8" name="page-index">
            <a:extLst xmlns:a="http://schemas.openxmlformats.org/drawingml/2006/main">
              <a:ext uri="{FF2B5EF4-FFF2-40B4-BE49-F238E27FC236}">
                <a16:creationId xmlns:a16="http://schemas.microsoft.com/office/drawing/2014/main" id="{BAB33C25-E609-4F33-B3B9-8AB0AA5D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02 / 05</a:t>
            </a:r>
          </a:p>
        </p:txBody>
      </p:sp>
      <p:sp>
        <p:nvSpPr>
          <p:cNvPr id="9" name="primary-packshot-surface">
            <a:extLst xmlns:a="http://schemas.openxmlformats.org/drawingml/2006/main">
              <a:ext uri="{FF2B5EF4-FFF2-40B4-BE49-F238E27FC236}">
                <a16:creationId xmlns:a16="http://schemas.microsoft.com/office/drawing/2014/main" id="{F1B461CF-2307-4E49-B155-2AEF2835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876300"/>
            <a:ext cx="1952625" cy="24765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0" name="primary-packshot-label">
            <a:extLst xmlns:a="http://schemas.openxmlformats.org/drawingml/2006/main">
              <a:ext uri="{FF2B5EF4-FFF2-40B4-BE49-F238E27FC236}">
                <a16:creationId xmlns:a16="http://schemas.microsoft.com/office/drawing/2014/main" id="{215B9074-5900-4B09-B9AA-49AA8430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8764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商品包装高清图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待接入</a:t>
            </a:r>
          </a:p>
        </p:txBody>
      </p:sp>
      <p:sp>
        <p:nvSpPr>
          <p:cNvPr id="11" name="product-name">
            <a:extLst xmlns:a="http://schemas.openxmlformats.org/drawingml/2006/main">
              <a:ext uri="{FF2B5EF4-FFF2-40B4-BE49-F238E27FC236}">
                <a16:creationId xmlns:a16="http://schemas.microsoft.com/office/drawing/2014/main" id="{6D530655-91F6-4B46-97C6-1DD92A21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7662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60012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金银花露（可可康）</a:t>
            </a:r>
          </a:p>
        </p:txBody>
      </p:sp>
      <p:sp>
        <p:nvSpPr>
          <p:cNvPr id="12" name="product-table-head-0-surface">
            <a:extLst xmlns:a="http://schemas.openxmlformats.org/drawingml/2006/main">
              <a:ext uri="{FF2B5EF4-FFF2-40B4-BE49-F238E27FC236}">
                <a16:creationId xmlns:a16="http://schemas.microsoft.com/office/drawing/2014/main" id="{269C6D89-0180-48F1-A2C6-A63B90DF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005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3" name="product-table-head-0-text">
            <a:extLst xmlns:a="http://schemas.openxmlformats.org/drawingml/2006/main">
              <a:ext uri="{FF2B5EF4-FFF2-40B4-BE49-F238E27FC236}">
                <a16:creationId xmlns:a16="http://schemas.microsoft.com/office/drawing/2014/main" id="{2727D501-52D7-4D20-A1BC-D7BAA44A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0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编码</a:t>
            </a:r>
          </a:p>
        </p:txBody>
      </p:sp>
      <p:sp>
        <p:nvSpPr>
          <p:cNvPr id="14" name="product-table-head-1-surface">
            <a:extLst xmlns:a="http://schemas.openxmlformats.org/drawingml/2006/main">
              <a:ext uri="{FF2B5EF4-FFF2-40B4-BE49-F238E27FC236}">
                <a16:creationId xmlns:a16="http://schemas.microsoft.com/office/drawing/2014/main" id="{1A0EE25D-75C1-4060-852D-9C51DF15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00500"/>
            <a:ext cx="781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5" name="product-table-head-1-text">
            <a:extLst xmlns:a="http://schemas.openxmlformats.org/drawingml/2006/main">
              <a:ext uri="{FF2B5EF4-FFF2-40B4-BE49-F238E27FC236}">
                <a16:creationId xmlns:a16="http://schemas.microsoft.com/office/drawing/2014/main" id="{398650EB-E9BF-4BFE-9104-E8C6DE69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00500"/>
            <a:ext cx="628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主推</a:t>
            </a:r>
          </a:p>
        </p:txBody>
      </p:sp>
      <p:sp>
        <p:nvSpPr>
          <p:cNvPr id="16" name="product-table-head-2-surface">
            <a:extLst xmlns:a="http://schemas.openxmlformats.org/drawingml/2006/main">
              <a:ext uri="{FF2B5EF4-FFF2-40B4-BE49-F238E27FC236}">
                <a16:creationId xmlns:a16="http://schemas.microsoft.com/office/drawing/2014/main" id="{28A230F9-0036-4B62-A088-A745B123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00500"/>
            <a:ext cx="14573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7" name="product-table-head-2-text">
            <a:extLst xmlns:a="http://schemas.openxmlformats.org/drawingml/2006/main">
              <a:ext uri="{FF2B5EF4-FFF2-40B4-BE49-F238E27FC236}">
                <a16:creationId xmlns:a16="http://schemas.microsoft.com/office/drawing/2014/main" id="{022C93F7-918B-4A7D-884D-8548EE14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00500"/>
            <a:ext cx="13049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规格</a:t>
            </a:r>
          </a:p>
        </p:txBody>
      </p:sp>
      <p:sp>
        <p:nvSpPr>
          <p:cNvPr id="18" name="product-table-head-3-surface">
            <a:extLst xmlns:a="http://schemas.openxmlformats.org/drawingml/2006/main">
              <a:ext uri="{FF2B5EF4-FFF2-40B4-BE49-F238E27FC236}">
                <a16:creationId xmlns:a16="http://schemas.microsoft.com/office/drawing/2014/main" id="{07FF014F-9EF5-4B0B-B43A-054D7280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000500"/>
            <a:ext cx="1066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9" name="product-table-head-3-text">
            <a:extLst xmlns:a="http://schemas.openxmlformats.org/drawingml/2006/main">
              <a:ext uri="{FF2B5EF4-FFF2-40B4-BE49-F238E27FC236}">
                <a16:creationId xmlns:a16="http://schemas.microsoft.com/office/drawing/2014/main" id="{FEA6E879-51F0-48EB-832D-B2A09338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0050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零售价</a:t>
            </a:r>
          </a:p>
        </p:txBody>
      </p:sp>
      <p:sp>
        <p:nvSpPr>
          <p:cNvPr id="20" name="product-table-value-0-surface">
            <a:extLst xmlns:a="http://schemas.openxmlformats.org/drawingml/2006/main">
              <a:ext uri="{FF2B5EF4-FFF2-40B4-BE49-F238E27FC236}">
                <a16:creationId xmlns:a16="http://schemas.microsoft.com/office/drawing/2014/main" id="{3D8F1F9C-CD13-48D3-9B46-D4767B71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57700"/>
            <a:ext cx="114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1" name="product-table-value-0-text">
            <a:extLst xmlns:a="http://schemas.openxmlformats.org/drawingml/2006/main">
              <a:ext uri="{FF2B5EF4-FFF2-40B4-BE49-F238E27FC236}">
                <a16:creationId xmlns:a16="http://schemas.microsoft.com/office/drawing/2014/main" id="{6D1186A1-A141-44F5-94E4-22F4084A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57700"/>
            <a:ext cx="990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2A24"/>
                </a:solidFill>
              </a:defRPr>
            </a:pPr>
            <a:r>
              <a:rPr sz="1200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2429715</a:t>
            </a:r>
          </a:p>
        </p:txBody>
      </p:sp>
      <p:sp>
        <p:nvSpPr>
          <p:cNvPr id="22" name="product-table-value-1-surface">
            <a:extLst xmlns:a="http://schemas.openxmlformats.org/drawingml/2006/main">
              <a:ext uri="{FF2B5EF4-FFF2-40B4-BE49-F238E27FC236}">
                <a16:creationId xmlns:a16="http://schemas.microsoft.com/office/drawing/2014/main" id="{D0FB4B65-924B-425F-9C4E-2F09E1A9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57700"/>
            <a:ext cx="781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3" name="product-table-value-1-text">
            <a:extLst xmlns:a="http://schemas.openxmlformats.org/drawingml/2006/main">
              <a:ext uri="{FF2B5EF4-FFF2-40B4-BE49-F238E27FC236}">
                <a16:creationId xmlns:a16="http://schemas.microsoft.com/office/drawing/2014/main" id="{B0ADA714-2A32-4304-A846-DB91E2C6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57700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A</a:t>
            </a:r>
          </a:p>
        </p:txBody>
      </p:sp>
      <p:sp>
        <p:nvSpPr>
          <p:cNvPr id="24" name="product-table-value-2-surface">
            <a:extLst xmlns:a="http://schemas.openxmlformats.org/drawingml/2006/main">
              <a:ext uri="{FF2B5EF4-FFF2-40B4-BE49-F238E27FC236}">
                <a16:creationId xmlns:a16="http://schemas.microsoft.com/office/drawing/2014/main" id="{164D1544-84F0-405C-AE16-C1B7D994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57700"/>
            <a:ext cx="14573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5" name="product-table-value-2-text">
            <a:extLst xmlns:a="http://schemas.openxmlformats.org/drawingml/2006/main">
              <a:ext uri="{FF2B5EF4-FFF2-40B4-BE49-F238E27FC236}">
                <a16:creationId xmlns:a16="http://schemas.microsoft.com/office/drawing/2014/main" id="{1ACA5284-72C8-4178-A90C-0E864375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457700"/>
            <a:ext cx="13049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265ml</a:t>
            </a:r>
          </a:p>
        </p:txBody>
      </p:sp>
      <p:sp>
        <p:nvSpPr>
          <p:cNvPr id="26" name="product-table-value-3-surface">
            <a:extLst xmlns:a="http://schemas.openxmlformats.org/drawingml/2006/main">
              <a:ext uri="{FF2B5EF4-FFF2-40B4-BE49-F238E27FC236}">
                <a16:creationId xmlns:a16="http://schemas.microsoft.com/office/drawing/2014/main" id="{078F233C-300E-42D2-8D07-32F53128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457700"/>
            <a:ext cx="1066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7" name="product-table-value-3-text">
            <a:extLst xmlns:a="http://schemas.openxmlformats.org/drawingml/2006/main">
              <a:ext uri="{FF2B5EF4-FFF2-40B4-BE49-F238E27FC236}">
                <a16:creationId xmlns:a16="http://schemas.microsoft.com/office/drawing/2014/main" id="{EE4CB7FF-7333-4CA1-BFFD-1693AD44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457700"/>
            <a:ext cx="91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9.9元</a:t>
            </a:r>
          </a:p>
        </p:txBody>
      </p:sp>
      <p:sp>
        <p:nvSpPr>
          <p:cNvPr id="28" name="selling-point-surface">
            <a:extLst xmlns:a="http://schemas.openxmlformats.org/drawingml/2006/main">
              <a:ext uri="{FF2B5EF4-FFF2-40B4-BE49-F238E27FC236}">
                <a16:creationId xmlns:a16="http://schemas.microsoft.com/office/drawing/2014/main" id="{DF511038-585C-4727-9F32-3585FD08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5181600"/>
            <a:ext cx="44481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3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elling-point">
            <a:extLst xmlns:a="http://schemas.openxmlformats.org/drawingml/2006/main">
              <a:ext uri="{FF2B5EF4-FFF2-40B4-BE49-F238E27FC236}">
                <a16:creationId xmlns:a16="http://schemas.microsoft.com/office/drawing/2014/main" id="{A3BFA8EB-20C7-46A8-8902-91775871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81600"/>
            <a:ext cx="41814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A24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一句话卖点：宝宝去火，温和安全，甘甜又好喝</a:t>
            </a:r>
          </a:p>
        </p:txBody>
      </p:sp>
      <p:sp>
        <p:nvSpPr>
          <p:cNvPr id="30" name="section-title-0">
            <a:extLst xmlns:a="http://schemas.openxmlformats.org/drawingml/2006/main">
              <a:ext uri="{FF2B5EF4-FFF2-40B4-BE49-F238E27FC236}">
                <a16:creationId xmlns:a16="http://schemas.microsoft.com/office/drawing/2014/main" id="{2477E8D7-37D0-4273-8883-E71A6CBA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9715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一、商品介绍：</a:t>
            </a:r>
          </a:p>
        </p:txBody>
      </p:sp>
      <p:sp>
        <p:nvSpPr>
          <p:cNvPr id="31" name="section-0-item-0">
            <a:extLst xmlns:a="http://schemas.openxmlformats.org/drawingml/2006/main">
              <a:ext uri="{FF2B5EF4-FFF2-40B4-BE49-F238E27FC236}">
                <a16:creationId xmlns:a16="http://schemas.microsoft.com/office/drawing/2014/main" id="{526910E7-D9BD-406B-B4EA-891F8D45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4302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A24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1、主要成分：金银花</a:t>
            </a:r>
          </a:p>
        </p:txBody>
      </p:sp>
      <p:sp>
        <p:nvSpPr>
          <p:cNvPr id="32" name="section-0-item-1">
            <a:extLst xmlns:a="http://schemas.openxmlformats.org/drawingml/2006/main">
              <a:ext uri="{FF2B5EF4-FFF2-40B4-BE49-F238E27FC236}">
                <a16:creationId xmlns:a16="http://schemas.microsoft.com/office/drawing/2014/main" id="{8EA2B9BD-43F9-4EF1-A549-99EE7872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68592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A24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2、功能主治：清热解毒。用于小儿痱毒，暑热口渴</a:t>
            </a:r>
          </a:p>
        </p:txBody>
      </p:sp>
      <p:sp>
        <p:nvSpPr>
          <p:cNvPr id="33" name="section-0-item-2">
            <a:extLst xmlns:a="http://schemas.openxmlformats.org/drawingml/2006/main">
              <a:ext uri="{FF2B5EF4-FFF2-40B4-BE49-F238E27FC236}">
                <a16:creationId xmlns:a16="http://schemas.microsoft.com/office/drawing/2014/main" id="{EB6BCC3F-8931-431B-AFC7-0A2C1701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02882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A24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3、用法用量：口服。一次60～120毫升，一日2～3次。</a:t>
            </a:r>
          </a:p>
        </p:txBody>
      </p:sp>
      <p:sp>
        <p:nvSpPr>
          <p:cNvPr id="34" name="section-title-1">
            <a:extLst xmlns:a="http://schemas.openxmlformats.org/drawingml/2006/main">
              <a:ext uri="{FF2B5EF4-FFF2-40B4-BE49-F238E27FC236}">
                <a16:creationId xmlns:a16="http://schemas.microsoft.com/office/drawing/2014/main" id="{A0DD2409-2C85-49E1-80D7-3AC62AE0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669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二、核心卖点：</a:t>
            </a:r>
          </a:p>
        </p:txBody>
      </p:sp>
      <p:sp>
        <p:nvSpPr>
          <p:cNvPr id="35" name="section-1-item-0">
            <a:extLst xmlns:a="http://schemas.openxmlformats.org/drawingml/2006/main">
              <a:ext uri="{FF2B5EF4-FFF2-40B4-BE49-F238E27FC236}">
                <a16:creationId xmlns:a16="http://schemas.microsoft.com/office/drawing/2014/main" id="{AE7AE294-4FCB-4859-8163-1792352D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38425"/>
            <a:ext cx="676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1、专为小儿体质设计，温和不伤胃：单方金银花制剂，药性平和，清热去火不损伤婴幼儿娇嫩肠胃。</a:t>
            </a:r>
          </a:p>
        </p:txBody>
      </p:sp>
      <p:sp>
        <p:nvSpPr>
          <p:cNvPr id="36" name="section-1-item-1">
            <a:extLst xmlns:a="http://schemas.openxmlformats.org/drawingml/2006/main">
              <a:ext uri="{FF2B5EF4-FFF2-40B4-BE49-F238E27FC236}">
                <a16:creationId xmlns:a16="http://schemas.microsoft.com/office/drawing/2014/main" id="{536EED83-EB53-4652-B3F6-A14F5651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19450"/>
            <a:ext cx="676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2、药食同源，安全无添加：无添加色素，药食同源。</a:t>
            </a:r>
          </a:p>
        </p:txBody>
      </p:sp>
      <p:sp>
        <p:nvSpPr>
          <p:cNvPr id="37" name="section-1-item-2">
            <a:extLst xmlns:a="http://schemas.openxmlformats.org/drawingml/2006/main">
              <a:ext uri="{FF2B5EF4-FFF2-40B4-BE49-F238E27FC236}">
                <a16:creationId xmlns:a16="http://schemas.microsoft.com/office/drawing/2014/main" id="{854A3EDC-5023-4482-9DBF-D3538FF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800475"/>
            <a:ext cx="676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3、靶向解决小儿夏季常见问题：精准应对痱毒、暑热口渴、小便黄、咽喉不适等夏季上火症状，一瓶多效。</a:t>
            </a:r>
          </a:p>
        </p:txBody>
      </p:sp>
      <p:sp>
        <p:nvSpPr>
          <p:cNvPr id="38" name="section-title-2">
            <a:extLst xmlns:a="http://schemas.openxmlformats.org/drawingml/2006/main">
              <a:ext uri="{FF2B5EF4-FFF2-40B4-BE49-F238E27FC236}">
                <a16:creationId xmlns:a16="http://schemas.microsoft.com/office/drawing/2014/main" id="{1D500CED-C838-4043-B043-7C732019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482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三、适宜人群：</a:t>
            </a:r>
          </a:p>
        </p:txBody>
      </p:sp>
      <p:sp>
        <p:nvSpPr>
          <p:cNvPr id="39" name="section-2-item-0">
            <a:extLst xmlns:a="http://schemas.openxmlformats.org/drawingml/2006/main">
              <a:ext uri="{FF2B5EF4-FFF2-40B4-BE49-F238E27FC236}">
                <a16:creationId xmlns:a16="http://schemas.microsoft.com/office/drawing/2014/main" id="{7DEA6FF2-CBE9-4247-B0FD-13C1F365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01967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A24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1、夏季易生痱子的幼儿；</a:t>
            </a:r>
          </a:p>
        </p:txBody>
      </p:sp>
      <p:sp>
        <p:nvSpPr>
          <p:cNvPr id="40" name="section-2-item-1">
            <a:extLst xmlns:a="http://schemas.openxmlformats.org/drawingml/2006/main">
              <a:ext uri="{FF2B5EF4-FFF2-40B4-BE49-F238E27FC236}">
                <a16:creationId xmlns:a16="http://schemas.microsoft.com/office/drawing/2014/main" id="{18CD769F-3EBA-4D2D-9A28-84B9D16B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6257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A24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2、上火症状明显的儿童；</a:t>
            </a:r>
          </a:p>
        </p:txBody>
      </p:sp>
      <p:sp>
        <p:nvSpPr>
          <p:cNvPr id="41" name="section-2-item-2">
            <a:extLst xmlns:a="http://schemas.openxmlformats.org/drawingml/2006/main">
              <a:ext uri="{FF2B5EF4-FFF2-40B4-BE49-F238E27FC236}">
                <a16:creationId xmlns:a16="http://schemas.microsoft.com/office/drawing/2014/main" id="{C15549FE-3326-4A33-B14E-B553D665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70547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A24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3、暑热烦渴、食欲不振的儿童。</a:t>
            </a:r>
          </a:p>
        </p:txBody>
      </p:sp>
    </p:spTree>
    <p:extLst>
      <p:ext uri="{BB962C8B-B14F-4D97-AF65-F5344CB8AC3E}">
        <p14:creationId xmlns:p14="http://schemas.microsoft.com/office/powerpoint/2010/main" val="2092049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D9530592-5955-417E-B087-2F1A2A3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55B6FD-CAC5-4207-8830-340E8DE8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3" name="page-title">
            <a:extLst xmlns:a="http://schemas.openxmlformats.org/drawingml/2006/main">
              <a:ext uri="{FF2B5EF4-FFF2-40B4-BE49-F238E27FC236}">
                <a16:creationId xmlns:a16="http://schemas.microsoft.com/office/drawing/2014/main" id="{436AF5F6-566B-4351-AA9D-BE9DE73C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A24"/>
                </a:solidFill>
              </a:defRPr>
            </a:pPr>
            <a:r>
              <a:rPr sz="20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联合用药话术</a:t>
            </a:r>
          </a:p>
        </p:txBody>
      </p:sp>
      <p:sp>
        <p:nvSpPr>
          <p:cNvPr id="4" name="chrome-hairline">
            <a:extLst xmlns:a="http://schemas.openxmlformats.org/drawingml/2006/main">
              <a:ext uri="{FF2B5EF4-FFF2-40B4-BE49-F238E27FC236}">
                <a16:creationId xmlns:a16="http://schemas.microsoft.com/office/drawing/2014/main" id="{19B74A66-6CEC-4DA4-BC48-99BA1144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95325"/>
            <a:ext cx="1158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rome-rule-accent">
            <a:extLst xmlns:a="http://schemas.openxmlformats.org/drawingml/2006/main">
              <a:ext uri="{FF2B5EF4-FFF2-40B4-BE49-F238E27FC236}">
                <a16:creationId xmlns:a16="http://schemas.microsoft.com/office/drawing/2014/main" id="{8968FD0B-6C96-4261-85A9-3F0182FE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66750"/>
            <a:ext cx="68580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22263D00-6F4C-4D06-9C18-17A113C2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5A817"/>
                </a:solidFill>
              </a:defRPr>
            </a:pPr>
            <a:r>
              <a:rPr sz="10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B4E51C53-1AA7-4B46-835F-557C548A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532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仅供内部学习</a:t>
            </a:r>
          </a:p>
        </p:txBody>
      </p:sp>
      <p:sp>
        <p:nvSpPr>
          <p:cNvPr id="8" name="page-index">
            <a:extLst xmlns:a="http://schemas.openxmlformats.org/drawingml/2006/main">
              <a:ext uri="{FF2B5EF4-FFF2-40B4-BE49-F238E27FC236}">
                <a16:creationId xmlns:a16="http://schemas.microsoft.com/office/drawing/2014/main" id="{087FE41D-3701-4333-BD38-F7521E41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03 / 05</a:t>
            </a:r>
          </a:p>
        </p:txBody>
      </p:sp>
      <p:sp>
        <p:nvSpPr>
          <p:cNvPr id="9" name="combination-head-0-surface">
            <a:extLst xmlns:a="http://schemas.openxmlformats.org/drawingml/2006/main">
              <a:ext uri="{FF2B5EF4-FFF2-40B4-BE49-F238E27FC236}">
                <a16:creationId xmlns:a16="http://schemas.microsoft.com/office/drawing/2014/main" id="{B391FBED-81D5-4862-AB6C-DD9A10AC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1440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0" name="combination-head-0-text">
            <a:extLst xmlns:a="http://schemas.openxmlformats.org/drawingml/2006/main">
              <a:ext uri="{FF2B5EF4-FFF2-40B4-BE49-F238E27FC236}">
                <a16:creationId xmlns:a16="http://schemas.microsoft.com/office/drawing/2014/main" id="{4C09813E-C704-4A3A-935F-6351445C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914400"/>
            <a:ext cx="1276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应用场景（适宜人群）</a:t>
            </a:r>
          </a:p>
        </p:txBody>
      </p:sp>
      <p:sp>
        <p:nvSpPr>
          <p:cNvPr id="11" name="combination-head-1-surface">
            <a:extLst xmlns:a="http://schemas.openxmlformats.org/drawingml/2006/main">
              <a:ext uri="{FF2B5EF4-FFF2-40B4-BE49-F238E27FC236}">
                <a16:creationId xmlns:a16="http://schemas.microsoft.com/office/drawing/2014/main" id="{C25D3911-A519-4C14-93EA-F3355D7F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914400"/>
            <a:ext cx="1666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2" name="combination-head-1-text">
            <a:extLst xmlns:a="http://schemas.openxmlformats.org/drawingml/2006/main">
              <a:ext uri="{FF2B5EF4-FFF2-40B4-BE49-F238E27FC236}">
                <a16:creationId xmlns:a16="http://schemas.microsoft.com/office/drawing/2014/main" id="{A9C6F259-8CE3-460C-8035-75C4A4CB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914400"/>
            <a:ext cx="1514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联合用药</a:t>
            </a:r>
          </a:p>
        </p:txBody>
      </p:sp>
      <p:sp>
        <p:nvSpPr>
          <p:cNvPr id="13" name="combination-head-2-surface">
            <a:extLst xmlns:a="http://schemas.openxmlformats.org/drawingml/2006/main">
              <a:ext uri="{FF2B5EF4-FFF2-40B4-BE49-F238E27FC236}">
                <a16:creationId xmlns:a16="http://schemas.microsoft.com/office/drawing/2014/main" id="{25A449CF-E929-4525-B4E7-AAF759B3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9144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4" name="combination-head-2-text">
            <a:extLst xmlns:a="http://schemas.openxmlformats.org/drawingml/2006/main">
              <a:ext uri="{FF2B5EF4-FFF2-40B4-BE49-F238E27FC236}">
                <a16:creationId xmlns:a16="http://schemas.microsoft.com/office/drawing/2014/main" id="{E3A1CBFB-4AE1-4170-A4C7-D9761C27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914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联合商品图</a:t>
            </a:r>
          </a:p>
        </p:txBody>
      </p:sp>
      <p:sp>
        <p:nvSpPr>
          <p:cNvPr id="15" name="combination-head-3-surface">
            <a:extLst xmlns:a="http://schemas.openxmlformats.org/drawingml/2006/main">
              <a:ext uri="{FF2B5EF4-FFF2-40B4-BE49-F238E27FC236}">
                <a16:creationId xmlns:a16="http://schemas.microsoft.com/office/drawing/2014/main" id="{20F1504C-BCF0-47EE-AF6C-0AB35524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91440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6" name="combination-head-3-text">
            <a:extLst xmlns:a="http://schemas.openxmlformats.org/drawingml/2006/main">
              <a:ext uri="{FF2B5EF4-FFF2-40B4-BE49-F238E27FC236}">
                <a16:creationId xmlns:a16="http://schemas.microsoft.com/office/drawing/2014/main" id="{8C0959AB-9F31-426D-A5F3-8EE8FA39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914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本品图</a:t>
            </a:r>
          </a:p>
        </p:txBody>
      </p:sp>
      <p:sp>
        <p:nvSpPr>
          <p:cNvPr id="17" name="combination-head-4-surface">
            <a:extLst xmlns:a="http://schemas.openxmlformats.org/drawingml/2006/main">
              <a:ext uri="{FF2B5EF4-FFF2-40B4-BE49-F238E27FC236}">
                <a16:creationId xmlns:a16="http://schemas.microsoft.com/office/drawing/2014/main" id="{E3879114-B5AA-434F-863D-E3DB85F3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914400"/>
            <a:ext cx="4429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8" name="combination-head-4-text">
            <a:extLst xmlns:a="http://schemas.openxmlformats.org/drawingml/2006/main">
              <a:ext uri="{FF2B5EF4-FFF2-40B4-BE49-F238E27FC236}">
                <a16:creationId xmlns:a16="http://schemas.microsoft.com/office/drawing/2014/main" id="{81D16C14-7860-425C-81E7-7C310906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914400"/>
            <a:ext cx="42767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销售话术</a:t>
            </a:r>
          </a:p>
        </p:txBody>
      </p:sp>
      <p:sp>
        <p:nvSpPr>
          <p:cNvPr id="19" name="combination-scenario-0-surface">
            <a:extLst xmlns:a="http://schemas.openxmlformats.org/drawingml/2006/main">
              <a:ext uri="{FF2B5EF4-FFF2-40B4-BE49-F238E27FC236}">
                <a16:creationId xmlns:a16="http://schemas.microsoft.com/office/drawing/2014/main" id="{9CC15238-B3B2-4334-98AA-D5733BC6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466850"/>
            <a:ext cx="1428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0" name="combination-scenario-0-text">
            <a:extLst xmlns:a="http://schemas.openxmlformats.org/drawingml/2006/main">
              <a:ext uri="{FF2B5EF4-FFF2-40B4-BE49-F238E27FC236}">
                <a16:creationId xmlns:a16="http://schemas.microsoft.com/office/drawing/2014/main" id="{A8048C87-1A6F-40BA-8137-70DEBE9D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66850"/>
            <a:ext cx="12763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A24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风热感冒引起的咽喉肿痛</a:t>
            </a:r>
          </a:p>
        </p:txBody>
      </p:sp>
      <p:sp>
        <p:nvSpPr>
          <p:cNvPr id="21" name="combination-name-0-surface">
            <a:extLst xmlns:a="http://schemas.openxmlformats.org/drawingml/2006/main">
              <a:ext uri="{FF2B5EF4-FFF2-40B4-BE49-F238E27FC236}">
                <a16:creationId xmlns:a16="http://schemas.microsoft.com/office/drawing/2014/main" id="{59083EA5-B972-40CF-9A1D-2C4962B2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466850"/>
            <a:ext cx="166687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2" name="combination-name-0-text">
            <a:extLst xmlns:a="http://schemas.openxmlformats.org/drawingml/2006/main">
              <a:ext uri="{FF2B5EF4-FFF2-40B4-BE49-F238E27FC236}">
                <a16:creationId xmlns:a16="http://schemas.microsoft.com/office/drawing/2014/main" id="{35E1C363-4A23-48EE-B448-E78493BCF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466850"/>
            <a:ext cx="151447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A24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金银花露 + 小儿咽扁颗粒</a:t>
            </a:r>
          </a:p>
        </p:txBody>
      </p:sp>
      <p:sp>
        <p:nvSpPr>
          <p:cNvPr id="23" name="combination-partner-surface-0">
            <a:extLst xmlns:a="http://schemas.openxmlformats.org/drawingml/2006/main">
              <a:ext uri="{FF2B5EF4-FFF2-40B4-BE49-F238E27FC236}">
                <a16:creationId xmlns:a16="http://schemas.microsoft.com/office/drawing/2014/main" id="{E4C1B3BA-14D3-4BA9-B614-9A909276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466850"/>
            <a:ext cx="2190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4" name="partner-slot-0-surface">
            <a:extLst xmlns:a="http://schemas.openxmlformats.org/drawingml/2006/main">
              <a:ext uri="{FF2B5EF4-FFF2-40B4-BE49-F238E27FC236}">
                <a16:creationId xmlns:a16="http://schemas.microsoft.com/office/drawing/2014/main" id="{27B5B89F-92B6-46F1-BF0C-417A0420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00200"/>
            <a:ext cx="1809750" cy="1409700"/>
          </a:xfrm>
          <a:prstGeom xmlns:a="http://schemas.openxmlformats.org/drawingml/2006/main" prst="roundRect">
            <a:avLst>
              <a:gd name="adj" fmla="val 6757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5" name="partner-slot-0-label">
            <a:extLst xmlns:a="http://schemas.openxmlformats.org/drawingml/2006/main">
              <a:ext uri="{FF2B5EF4-FFF2-40B4-BE49-F238E27FC236}">
                <a16:creationId xmlns:a16="http://schemas.microsoft.com/office/drawing/2014/main" id="{D7D6BF56-62B2-441C-8024-C7896906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06692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小儿咽扁颗粒（康乐仔）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包装图待接入</a:t>
            </a:r>
          </a:p>
        </p:txBody>
      </p:sp>
      <p:sp>
        <p:nvSpPr>
          <p:cNvPr id="26" name="combination-talk-0-surface">
            <a:extLst xmlns:a="http://schemas.openxmlformats.org/drawingml/2006/main">
              <a:ext uri="{FF2B5EF4-FFF2-40B4-BE49-F238E27FC236}">
                <a16:creationId xmlns:a16="http://schemas.microsoft.com/office/drawing/2014/main" id="{F35F8652-6F5D-4D7C-80DC-B7855875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466850"/>
            <a:ext cx="4429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7" name="combination-talk-0-text">
            <a:extLst xmlns:a="http://schemas.openxmlformats.org/drawingml/2006/main">
              <a:ext uri="{FF2B5EF4-FFF2-40B4-BE49-F238E27FC236}">
                <a16:creationId xmlns:a16="http://schemas.microsoft.com/office/drawing/2014/main" id="{656D3D97-B498-4A9C-823B-EB32CFFF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466850"/>
            <a:ext cx="42767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A24"/>
                </a:solidFill>
              </a:defRPr>
            </a:pPr>
            <a:r>
              <a:rPr sz="11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小儿咽扁颗粒直击咽喉炎症，消肿止痛；金银花露清解内热，辅助降火。二者联用，内外兼治，加速缓解咽喉肿痛、暑热烦躁。</a:t>
            </a:r>
          </a:p>
        </p:txBody>
      </p:sp>
      <p:sp>
        <p:nvSpPr>
          <p:cNvPr id="28" name="combination-scenario-1-surface">
            <a:extLst xmlns:a="http://schemas.openxmlformats.org/drawingml/2006/main">
              <a:ext uri="{FF2B5EF4-FFF2-40B4-BE49-F238E27FC236}">
                <a16:creationId xmlns:a16="http://schemas.microsoft.com/office/drawing/2014/main" id="{64568724-DBC3-4FAB-BEC3-8E891425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143250"/>
            <a:ext cx="1428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9" name="combination-scenario-1-text">
            <a:extLst xmlns:a="http://schemas.openxmlformats.org/drawingml/2006/main">
              <a:ext uri="{FF2B5EF4-FFF2-40B4-BE49-F238E27FC236}">
                <a16:creationId xmlns:a16="http://schemas.microsoft.com/office/drawing/2014/main" id="{196B6199-9DFD-4ED2-AA68-E4B8763E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143250"/>
            <a:ext cx="12763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A24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风热感冒引起的发热、鼻塞流涕</a:t>
            </a:r>
          </a:p>
        </p:txBody>
      </p:sp>
      <p:sp>
        <p:nvSpPr>
          <p:cNvPr id="30" name="combination-name-1-surface">
            <a:extLst xmlns:a="http://schemas.openxmlformats.org/drawingml/2006/main">
              <a:ext uri="{FF2B5EF4-FFF2-40B4-BE49-F238E27FC236}">
                <a16:creationId xmlns:a16="http://schemas.microsoft.com/office/drawing/2014/main" id="{CB4A4D52-151D-45C4-8185-C8DFE942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143250"/>
            <a:ext cx="16668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1" name="combination-name-1-text">
            <a:extLst xmlns:a="http://schemas.openxmlformats.org/drawingml/2006/main">
              <a:ext uri="{FF2B5EF4-FFF2-40B4-BE49-F238E27FC236}">
                <a16:creationId xmlns:a16="http://schemas.microsoft.com/office/drawing/2014/main" id="{077DC476-20F4-4C20-BA7D-7D73CB18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43250"/>
            <a:ext cx="151447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A24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金银花露 + 小儿氨酚黄那敏颗粒</a:t>
            </a:r>
          </a:p>
        </p:txBody>
      </p:sp>
      <p:sp>
        <p:nvSpPr>
          <p:cNvPr id="32" name="combination-partner-surface-1">
            <a:extLst xmlns:a="http://schemas.openxmlformats.org/drawingml/2006/main">
              <a:ext uri="{FF2B5EF4-FFF2-40B4-BE49-F238E27FC236}">
                <a16:creationId xmlns:a16="http://schemas.microsoft.com/office/drawing/2014/main" id="{48774BC4-F044-4219-B82E-F1D710D5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143250"/>
            <a:ext cx="2190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3" name="partner-slot-1-surface">
            <a:extLst xmlns:a="http://schemas.openxmlformats.org/drawingml/2006/main">
              <a:ext uri="{FF2B5EF4-FFF2-40B4-BE49-F238E27FC236}">
                <a16:creationId xmlns:a16="http://schemas.microsoft.com/office/drawing/2014/main" id="{EA2B0389-C145-40A7-A47C-74A3DD73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276600"/>
            <a:ext cx="1809750" cy="1400175"/>
          </a:xfrm>
          <a:prstGeom xmlns:a="http://schemas.openxmlformats.org/drawingml/2006/main" prst="roundRect">
            <a:avLst>
              <a:gd name="adj" fmla="val 6803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4" name="partner-slot-1-label">
            <a:extLst xmlns:a="http://schemas.openxmlformats.org/drawingml/2006/main">
              <a:ext uri="{FF2B5EF4-FFF2-40B4-BE49-F238E27FC236}">
                <a16:creationId xmlns:a16="http://schemas.microsoft.com/office/drawing/2014/main" id="{4092CE3E-B115-4594-A336-3CDEC0F4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38563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小儿氨酚黄那敏颗粒（康乐仔）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包装图待接入</a:t>
            </a:r>
          </a:p>
        </p:txBody>
      </p:sp>
      <p:sp>
        <p:nvSpPr>
          <p:cNvPr id="35" name="combination-talk-1-surface">
            <a:extLst xmlns:a="http://schemas.openxmlformats.org/drawingml/2006/main">
              <a:ext uri="{FF2B5EF4-FFF2-40B4-BE49-F238E27FC236}">
                <a16:creationId xmlns:a16="http://schemas.microsoft.com/office/drawing/2014/main" id="{BA2DEDF0-8B35-44E4-99A7-3AB06729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143250"/>
            <a:ext cx="4429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6" name="combination-talk-1-text">
            <a:extLst xmlns:a="http://schemas.openxmlformats.org/drawingml/2006/main">
              <a:ext uri="{FF2B5EF4-FFF2-40B4-BE49-F238E27FC236}">
                <a16:creationId xmlns:a16="http://schemas.microsoft.com/office/drawing/2014/main" id="{D8DFFF72-4E58-4E65-AAC8-19ED748C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43250"/>
            <a:ext cx="42767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A24"/>
                </a:solidFill>
              </a:defRPr>
            </a:pPr>
            <a:r>
              <a:rPr sz="11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小儿氨酚黄那敏颗粒用于缓解感冒症状，帮助退热、通鼻塞、止咳；金银花露清热解毒、利咽消肿。二者搭配，一个缓解外在症状，一个清解内热，快速缓解不适。</a:t>
            </a:r>
          </a:p>
        </p:txBody>
      </p:sp>
      <p:sp>
        <p:nvSpPr>
          <p:cNvPr id="37" name="combination-scenario-2-surface">
            <a:extLst xmlns:a="http://schemas.openxmlformats.org/drawingml/2006/main">
              <a:ext uri="{FF2B5EF4-FFF2-40B4-BE49-F238E27FC236}">
                <a16:creationId xmlns:a16="http://schemas.microsoft.com/office/drawing/2014/main" id="{750B09FA-2135-4A18-AE7E-0D14F485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1428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8" name="combination-scenario-2-text">
            <a:extLst xmlns:a="http://schemas.openxmlformats.org/drawingml/2006/main">
              <a:ext uri="{FF2B5EF4-FFF2-40B4-BE49-F238E27FC236}">
                <a16:creationId xmlns:a16="http://schemas.microsoft.com/office/drawing/2014/main" id="{A76B5CE5-A580-4747-87B9-9186BB1F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810125"/>
            <a:ext cx="12763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A24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风热/肺热引起的咳嗽</a:t>
            </a:r>
          </a:p>
        </p:txBody>
      </p:sp>
      <p:sp>
        <p:nvSpPr>
          <p:cNvPr id="39" name="combination-name-2-surface">
            <a:extLst xmlns:a="http://schemas.openxmlformats.org/drawingml/2006/main">
              <a:ext uri="{FF2B5EF4-FFF2-40B4-BE49-F238E27FC236}">
                <a16:creationId xmlns:a16="http://schemas.microsoft.com/office/drawing/2014/main" id="{8926B40A-FE62-47B1-9421-C8DD5C40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10125"/>
            <a:ext cx="16668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40" name="combination-name-2-text">
            <a:extLst xmlns:a="http://schemas.openxmlformats.org/drawingml/2006/main">
              <a:ext uri="{FF2B5EF4-FFF2-40B4-BE49-F238E27FC236}">
                <a16:creationId xmlns:a16="http://schemas.microsoft.com/office/drawing/2014/main" id="{7E6D18BF-34FA-43A6-8491-E9ED9A9C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10125"/>
            <a:ext cx="151447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A24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金银花露 + 氨溴特罗口服溶液</a:t>
            </a:r>
          </a:p>
        </p:txBody>
      </p:sp>
      <p:sp>
        <p:nvSpPr>
          <p:cNvPr id="41" name="combination-partner-surface-2">
            <a:extLst xmlns:a="http://schemas.openxmlformats.org/drawingml/2006/main">
              <a:ext uri="{FF2B5EF4-FFF2-40B4-BE49-F238E27FC236}">
                <a16:creationId xmlns:a16="http://schemas.microsoft.com/office/drawing/2014/main" id="{2D1BDD6F-99CB-4A08-B66C-151FEF9D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810125"/>
            <a:ext cx="2190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42" name="partner-slot-2-surface">
            <a:extLst xmlns:a="http://schemas.openxmlformats.org/drawingml/2006/main">
              <a:ext uri="{FF2B5EF4-FFF2-40B4-BE49-F238E27FC236}">
                <a16:creationId xmlns:a16="http://schemas.microsoft.com/office/drawing/2014/main" id="{31041B63-50C7-490A-9234-8183F967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43475"/>
            <a:ext cx="1809750" cy="1400175"/>
          </a:xfrm>
          <a:prstGeom xmlns:a="http://schemas.openxmlformats.org/drawingml/2006/main" prst="roundRect">
            <a:avLst>
              <a:gd name="adj" fmla="val 6803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43" name="partner-slot-2-label">
            <a:extLst xmlns:a="http://schemas.openxmlformats.org/drawingml/2006/main">
              <a:ext uri="{FF2B5EF4-FFF2-40B4-BE49-F238E27FC236}">
                <a16:creationId xmlns:a16="http://schemas.microsoft.com/office/drawing/2014/main" id="{794F1748-E136-42B5-95B4-09CBB29B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405438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氨溴特罗口服溶液（康乐仔）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包装图待接入</a:t>
            </a:r>
          </a:p>
        </p:txBody>
      </p:sp>
      <p:sp>
        <p:nvSpPr>
          <p:cNvPr id="44" name="combination-talk-2-surface">
            <a:extLst xmlns:a="http://schemas.openxmlformats.org/drawingml/2006/main">
              <a:ext uri="{FF2B5EF4-FFF2-40B4-BE49-F238E27FC236}">
                <a16:creationId xmlns:a16="http://schemas.microsoft.com/office/drawing/2014/main" id="{85A69C95-4BF8-4058-972C-6AC357C0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810125"/>
            <a:ext cx="4429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45" name="combination-talk-2-text">
            <a:extLst xmlns:a="http://schemas.openxmlformats.org/drawingml/2006/main">
              <a:ext uri="{FF2B5EF4-FFF2-40B4-BE49-F238E27FC236}">
                <a16:creationId xmlns:a16="http://schemas.microsoft.com/office/drawing/2014/main" id="{B19AF7B1-3F68-48E9-AE7B-A4CA92CD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810125"/>
            <a:ext cx="42767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A24"/>
                </a:solidFill>
              </a:defRPr>
            </a:pPr>
            <a:r>
              <a:rPr sz="11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肺炎光排痰不够，还需清肺热。氨溴特罗化痰止咳，金银花露清肺消炎；两个搭着用，炎症消得快，咳喘好得快。</a:t>
            </a:r>
          </a:p>
        </p:txBody>
      </p:sp>
      <p:sp>
        <p:nvSpPr>
          <p:cNvPr id="46" name="combination-primary-merge-surface">
            <a:extLst xmlns:a="http://schemas.openxmlformats.org/drawingml/2006/main">
              <a:ext uri="{FF2B5EF4-FFF2-40B4-BE49-F238E27FC236}">
                <a16:creationId xmlns:a16="http://schemas.microsoft.com/office/drawing/2014/main" id="{58D2D108-EB14-4009-B3EC-4E1D7B5E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1466850"/>
            <a:ext cx="1905000" cy="501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47" name="combination-primary-divider">
            <a:extLst xmlns:a="http://schemas.openxmlformats.org/drawingml/2006/main">
              <a:ext uri="{FF2B5EF4-FFF2-40B4-BE49-F238E27FC236}">
                <a16:creationId xmlns:a16="http://schemas.microsoft.com/office/drawing/2014/main" id="{2599D5C0-46E7-4AAA-A077-CF1E434B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1466850"/>
            <a:ext cx="28575" cy="501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combination-plus">
            <a:extLst xmlns:a="http://schemas.openxmlformats.org/drawingml/2006/main">
              <a:ext uri="{FF2B5EF4-FFF2-40B4-BE49-F238E27FC236}">
                <a16:creationId xmlns:a16="http://schemas.microsoft.com/office/drawing/2014/main" id="{93E06F61-2A4B-4A1E-9FFC-9EFC0048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705225"/>
            <a:ext cx="38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E60012"/>
                </a:solidFill>
              </a:defRPr>
            </a:pPr>
            <a:r>
              <a:rPr sz="3000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+</a:t>
            </a:r>
          </a:p>
        </p:txBody>
      </p:sp>
      <p:sp>
        <p:nvSpPr>
          <p:cNvPr id="49" name="combination-primary-product-surface">
            <a:extLst xmlns:a="http://schemas.openxmlformats.org/drawingml/2006/main">
              <a:ext uri="{FF2B5EF4-FFF2-40B4-BE49-F238E27FC236}">
                <a16:creationId xmlns:a16="http://schemas.microsoft.com/office/drawing/2014/main" id="{A949FC49-028F-4C46-A56C-022657A4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38425"/>
            <a:ext cx="1238250" cy="26670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50" name="combination-primary-product-label">
            <a:extLst xmlns:a="http://schemas.openxmlformats.org/drawingml/2006/main">
              <a:ext uri="{FF2B5EF4-FFF2-40B4-BE49-F238E27FC236}">
                <a16:creationId xmlns:a16="http://schemas.microsoft.com/office/drawing/2014/main" id="{C787E1A9-8423-4364-B30D-71F2A65E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3380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金银花露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包装图待接入</a:t>
            </a:r>
          </a:p>
        </p:txBody>
      </p:sp>
    </p:spTree>
    <p:extLst>
      <p:ext uri="{BB962C8B-B14F-4D97-AF65-F5344CB8AC3E}">
        <p14:creationId xmlns:p14="http://schemas.microsoft.com/office/powerpoint/2010/main" val="16048536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D0113684-E560-4ACD-807D-47E845E8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169B17-1182-437D-8D3A-3B407644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" name="page-title">
            <a:extLst xmlns:a="http://schemas.openxmlformats.org/drawingml/2006/main">
              <a:ext uri="{FF2B5EF4-FFF2-40B4-BE49-F238E27FC236}">
                <a16:creationId xmlns:a16="http://schemas.microsoft.com/office/drawing/2014/main" id="{7BCF2EF3-5FAB-48CC-8B5D-4647D56B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A24"/>
                </a:solidFill>
              </a:defRPr>
            </a:pPr>
            <a:r>
              <a:rPr sz="20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品种对标</a:t>
            </a:r>
          </a:p>
        </p:txBody>
      </p:sp>
      <p:sp>
        <p:nvSpPr>
          <p:cNvPr id="4" name="chrome-hairline">
            <a:extLst xmlns:a="http://schemas.openxmlformats.org/drawingml/2006/main">
              <a:ext uri="{FF2B5EF4-FFF2-40B4-BE49-F238E27FC236}">
                <a16:creationId xmlns:a16="http://schemas.microsoft.com/office/drawing/2014/main" id="{9A215708-4459-4DE7-A41E-6CAD6B62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95325"/>
            <a:ext cx="1158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rome-rule-accent">
            <a:extLst xmlns:a="http://schemas.openxmlformats.org/drawingml/2006/main">
              <a:ext uri="{FF2B5EF4-FFF2-40B4-BE49-F238E27FC236}">
                <a16:creationId xmlns:a16="http://schemas.microsoft.com/office/drawing/2014/main" id="{D819EC9D-69A5-400A-9A32-99A55E73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66750"/>
            <a:ext cx="68580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9DAD0CDC-4BB3-4CB5-B8D2-2AB677DA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5A817"/>
                </a:solidFill>
              </a:defRPr>
            </a:pPr>
            <a:r>
              <a:rPr sz="10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8989E820-A961-4103-A949-E211431E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532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仅供内部学习</a:t>
            </a:r>
          </a:p>
        </p:txBody>
      </p:sp>
      <p:sp>
        <p:nvSpPr>
          <p:cNvPr id="8" name="page-index">
            <a:extLst xmlns:a="http://schemas.openxmlformats.org/drawingml/2006/main">
              <a:ext uri="{FF2B5EF4-FFF2-40B4-BE49-F238E27FC236}">
                <a16:creationId xmlns:a16="http://schemas.microsoft.com/office/drawing/2014/main" id="{A811C0EF-73AF-4AC8-B661-F11965EA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04 / 05</a:t>
            </a:r>
          </a:p>
        </p:txBody>
      </p:sp>
      <p:sp>
        <p:nvSpPr>
          <p:cNvPr id="9" name="benchmark-head-0-surface">
            <a:extLst xmlns:a="http://schemas.openxmlformats.org/drawingml/2006/main">
              <a:ext uri="{FF2B5EF4-FFF2-40B4-BE49-F238E27FC236}">
                <a16:creationId xmlns:a16="http://schemas.microsoft.com/office/drawing/2014/main" id="{930030B0-6AD4-487B-8079-A682AB5C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000125"/>
            <a:ext cx="171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0" name="benchmark-head-0-text">
            <a:extLst xmlns:a="http://schemas.openxmlformats.org/drawingml/2006/main">
              <a:ext uri="{FF2B5EF4-FFF2-40B4-BE49-F238E27FC236}">
                <a16:creationId xmlns:a16="http://schemas.microsoft.com/office/drawing/2014/main" id="{8639D9D0-EF76-4CBF-8478-13058975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000125"/>
            <a:ext cx="1562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对比维度</a:t>
            </a:r>
          </a:p>
        </p:txBody>
      </p:sp>
      <p:sp>
        <p:nvSpPr>
          <p:cNvPr id="11" name="benchmark-head-1-surface">
            <a:extLst xmlns:a="http://schemas.openxmlformats.org/drawingml/2006/main">
              <a:ext uri="{FF2B5EF4-FFF2-40B4-BE49-F238E27FC236}">
                <a16:creationId xmlns:a16="http://schemas.microsoft.com/office/drawing/2014/main" id="{04F3F9C0-9999-4F73-9611-BD6B193C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000125"/>
            <a:ext cx="504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2" name="benchmark-head-1-text">
            <a:extLst xmlns:a="http://schemas.openxmlformats.org/drawingml/2006/main">
              <a:ext uri="{FF2B5EF4-FFF2-40B4-BE49-F238E27FC236}">
                <a16:creationId xmlns:a16="http://schemas.microsoft.com/office/drawing/2014/main" id="{62BD8308-91DB-47FC-A528-0B0C3084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000125"/>
            <a:ext cx="4895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金银花露（可可康）</a:t>
            </a:r>
          </a:p>
        </p:txBody>
      </p:sp>
      <p:sp>
        <p:nvSpPr>
          <p:cNvPr id="13" name="benchmark-head-2-surface">
            <a:extLst xmlns:a="http://schemas.openxmlformats.org/drawingml/2006/main">
              <a:ext uri="{FF2B5EF4-FFF2-40B4-BE49-F238E27FC236}">
                <a16:creationId xmlns:a16="http://schemas.microsoft.com/office/drawing/2014/main" id="{A1C619CE-E11E-41F7-8EB7-44A8051A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000125"/>
            <a:ext cx="4667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6A2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4" name="benchmark-head-2-text">
            <a:extLst xmlns:a="http://schemas.openxmlformats.org/drawingml/2006/main">
              <a:ext uri="{FF2B5EF4-FFF2-40B4-BE49-F238E27FC236}">
                <a16:creationId xmlns:a16="http://schemas.microsoft.com/office/drawing/2014/main" id="{7AFFD0FA-FC59-42CC-8176-E9411DF6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000125"/>
            <a:ext cx="4514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金银花露（小葵花露-葵花药业）</a:t>
            </a:r>
          </a:p>
        </p:txBody>
      </p:sp>
      <p:sp>
        <p:nvSpPr>
          <p:cNvPr id="15" name="benchmark-label-0-surface">
            <a:extLst xmlns:a="http://schemas.openxmlformats.org/drawingml/2006/main">
              <a:ext uri="{FF2B5EF4-FFF2-40B4-BE49-F238E27FC236}">
                <a16:creationId xmlns:a16="http://schemas.microsoft.com/office/drawing/2014/main" id="{9A43AF3B-DA73-48A7-93A5-A8436BAC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90675"/>
            <a:ext cx="1714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6" name="benchmark-label-0-text">
            <a:extLst xmlns:a="http://schemas.openxmlformats.org/drawingml/2006/main">
              <a:ext uri="{FF2B5EF4-FFF2-40B4-BE49-F238E27FC236}">
                <a16:creationId xmlns:a16="http://schemas.microsoft.com/office/drawing/2014/main" id="{1FEE799E-001B-4868-8457-D9B89976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90675"/>
            <a:ext cx="15621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产品展示</a:t>
            </a:r>
          </a:p>
        </p:txBody>
      </p:sp>
      <p:sp>
        <p:nvSpPr>
          <p:cNvPr id="17" name="benchmark-product-left-cell">
            <a:extLst xmlns:a="http://schemas.openxmlformats.org/drawingml/2006/main">
              <a:ext uri="{FF2B5EF4-FFF2-40B4-BE49-F238E27FC236}">
                <a16:creationId xmlns:a16="http://schemas.microsoft.com/office/drawing/2014/main" id="{B0EB1BFC-2B8C-4B40-8F42-A457CAB4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590675"/>
            <a:ext cx="5048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8" name="benchmark-product-right-cell">
            <a:extLst xmlns:a="http://schemas.openxmlformats.org/drawingml/2006/main">
              <a:ext uri="{FF2B5EF4-FFF2-40B4-BE49-F238E27FC236}">
                <a16:creationId xmlns:a16="http://schemas.microsoft.com/office/drawing/2014/main" id="{51273525-DB27-4888-9ED5-FAE5682B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90675"/>
            <a:ext cx="4667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9" name="benchmark-primary-packshot-surface">
            <a:extLst xmlns:a="http://schemas.openxmlformats.org/drawingml/2006/main">
              <a:ext uri="{FF2B5EF4-FFF2-40B4-BE49-F238E27FC236}">
                <a16:creationId xmlns:a16="http://schemas.microsoft.com/office/drawing/2014/main" id="{CBDB8CF2-C99F-41C4-9D9B-1FDDD74D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62125"/>
            <a:ext cx="1333500" cy="14668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0" name="benchmark-primary-packshot-label">
            <a:extLst xmlns:a="http://schemas.openxmlformats.org/drawingml/2006/main">
              <a:ext uri="{FF2B5EF4-FFF2-40B4-BE49-F238E27FC236}">
                <a16:creationId xmlns:a16="http://schemas.microsoft.com/office/drawing/2014/main" id="{FA0D6964-8010-4E1A-9FCB-6F5D94E3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57425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可可康包装图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待接入</a:t>
            </a:r>
          </a:p>
        </p:txBody>
      </p:sp>
      <p:sp>
        <p:nvSpPr>
          <p:cNvPr id="21" name="benchmark-competitor-packshot-surface">
            <a:extLst xmlns:a="http://schemas.openxmlformats.org/drawingml/2006/main">
              <a:ext uri="{FF2B5EF4-FFF2-40B4-BE49-F238E27FC236}">
                <a16:creationId xmlns:a16="http://schemas.microsoft.com/office/drawing/2014/main" id="{9831760F-D08A-44C5-B688-429200E1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62125"/>
            <a:ext cx="1333500" cy="14668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2" name="benchmark-competitor-packshot-label">
            <a:extLst xmlns:a="http://schemas.openxmlformats.org/drawingml/2006/main">
              <a:ext uri="{FF2B5EF4-FFF2-40B4-BE49-F238E27FC236}">
                <a16:creationId xmlns:a16="http://schemas.microsoft.com/office/drawing/2014/main" id="{6FFF4673-2964-4503-8569-5FDEAD17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57425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竞品包装图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待接入</a:t>
            </a:r>
          </a:p>
        </p:txBody>
      </p:sp>
      <p:sp>
        <p:nvSpPr>
          <p:cNvPr id="23" name="benchmark-label-1-surface">
            <a:extLst xmlns:a="http://schemas.openxmlformats.org/drawingml/2006/main">
              <a:ext uri="{FF2B5EF4-FFF2-40B4-BE49-F238E27FC236}">
                <a16:creationId xmlns:a16="http://schemas.microsoft.com/office/drawing/2014/main" id="{BF29B76B-856A-43C8-8381-FBD16547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4004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4" name="benchmark-label-1-text">
            <a:extLst xmlns:a="http://schemas.openxmlformats.org/drawingml/2006/main">
              <a:ext uri="{FF2B5EF4-FFF2-40B4-BE49-F238E27FC236}">
                <a16:creationId xmlns:a16="http://schemas.microsoft.com/office/drawing/2014/main" id="{506720B7-BF55-4BFA-8522-AFC3551A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00425"/>
            <a:ext cx="1562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功效主治</a:t>
            </a:r>
          </a:p>
        </p:txBody>
      </p:sp>
      <p:sp>
        <p:nvSpPr>
          <p:cNvPr id="25" name="benchmark-merged-1-surface">
            <a:extLst xmlns:a="http://schemas.openxmlformats.org/drawingml/2006/main">
              <a:ext uri="{FF2B5EF4-FFF2-40B4-BE49-F238E27FC236}">
                <a16:creationId xmlns:a16="http://schemas.microsoft.com/office/drawing/2014/main" id="{337E17AF-0E80-4AF4-A0D8-3F61F690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0425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6" name="benchmark-merged-1-text">
            <a:extLst xmlns:a="http://schemas.openxmlformats.org/drawingml/2006/main">
              <a:ext uri="{FF2B5EF4-FFF2-40B4-BE49-F238E27FC236}">
                <a16:creationId xmlns:a16="http://schemas.microsoft.com/office/drawing/2014/main" id="{40D4F49F-7A11-47B0-91CB-796720F1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400425"/>
            <a:ext cx="9563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F2A24"/>
                </a:solidFill>
              </a:defRPr>
            </a:pPr>
            <a:r>
              <a:rPr sz="127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清热解毒。用于小儿痱毒，暑热口渴</a:t>
            </a:r>
          </a:p>
        </p:txBody>
      </p:sp>
      <p:sp>
        <p:nvSpPr>
          <p:cNvPr id="27" name="benchmark-label-2-surface">
            <a:extLst xmlns:a="http://schemas.openxmlformats.org/drawingml/2006/main">
              <a:ext uri="{FF2B5EF4-FFF2-40B4-BE49-F238E27FC236}">
                <a16:creationId xmlns:a16="http://schemas.microsoft.com/office/drawing/2014/main" id="{3CB1BEC1-8574-483D-9A42-9117B8E7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862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8" name="benchmark-label-2-text">
            <a:extLst xmlns:a="http://schemas.openxmlformats.org/drawingml/2006/main">
              <a:ext uri="{FF2B5EF4-FFF2-40B4-BE49-F238E27FC236}">
                <a16:creationId xmlns:a16="http://schemas.microsoft.com/office/drawing/2014/main" id="{BDFB7E53-6FBD-4229-A870-C56A4258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86225"/>
            <a:ext cx="1562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共有优势</a:t>
            </a:r>
          </a:p>
        </p:txBody>
      </p:sp>
      <p:sp>
        <p:nvSpPr>
          <p:cNvPr id="29" name="benchmark-merged-2-surface">
            <a:extLst xmlns:a="http://schemas.openxmlformats.org/drawingml/2006/main">
              <a:ext uri="{FF2B5EF4-FFF2-40B4-BE49-F238E27FC236}">
                <a16:creationId xmlns:a16="http://schemas.microsoft.com/office/drawing/2014/main" id="{470FBC86-C82D-41E6-9F63-6CFA16AB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086225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0" name="benchmark-merged-2-text">
            <a:extLst xmlns:a="http://schemas.openxmlformats.org/drawingml/2006/main">
              <a:ext uri="{FF2B5EF4-FFF2-40B4-BE49-F238E27FC236}">
                <a16:creationId xmlns:a16="http://schemas.microsoft.com/office/drawing/2014/main" id="{220704E8-35DC-459B-B1DD-6DA67FCF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086225"/>
            <a:ext cx="9563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清甜好喝不抗拒，防漏瓶盖不浪费，宝宝自己就能喝</a:t>
            </a:r>
          </a:p>
        </p:txBody>
      </p:sp>
      <p:sp>
        <p:nvSpPr>
          <p:cNvPr id="31" name="benchmark-label-3-surface">
            <a:extLst xmlns:a="http://schemas.openxmlformats.org/drawingml/2006/main">
              <a:ext uri="{FF2B5EF4-FFF2-40B4-BE49-F238E27FC236}">
                <a16:creationId xmlns:a16="http://schemas.microsoft.com/office/drawing/2014/main" id="{BD315539-A521-4976-930E-287E1FC8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7720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2" name="benchmark-label-3-text">
            <a:extLst xmlns:a="http://schemas.openxmlformats.org/drawingml/2006/main">
              <a:ext uri="{FF2B5EF4-FFF2-40B4-BE49-F238E27FC236}">
                <a16:creationId xmlns:a16="http://schemas.microsoft.com/office/drawing/2014/main" id="{619CE746-7C2E-49E6-9348-A49C7D81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772025"/>
            <a:ext cx="1562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零售价</a:t>
            </a:r>
          </a:p>
        </p:txBody>
      </p:sp>
      <p:sp>
        <p:nvSpPr>
          <p:cNvPr id="33" name="benchmark-left-3-surface">
            <a:extLst xmlns:a="http://schemas.openxmlformats.org/drawingml/2006/main">
              <a:ext uri="{FF2B5EF4-FFF2-40B4-BE49-F238E27FC236}">
                <a16:creationId xmlns:a16="http://schemas.microsoft.com/office/drawing/2014/main" id="{A803194E-B5BA-4A83-BA62-9F32A76A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72025"/>
            <a:ext cx="5048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4" name="benchmark-left-3-text">
            <a:extLst xmlns:a="http://schemas.openxmlformats.org/drawingml/2006/main">
              <a:ext uri="{FF2B5EF4-FFF2-40B4-BE49-F238E27FC236}">
                <a16:creationId xmlns:a16="http://schemas.microsoft.com/office/drawing/2014/main" id="{B77B58F8-B6C7-48C1-929A-404E3E3F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772025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F2A24"/>
                </a:solidFill>
              </a:defRPr>
            </a:pPr>
            <a:r>
              <a:rPr sz="127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9.9元（265ml）</a:t>
            </a:r>
          </a:p>
        </p:txBody>
      </p:sp>
      <p:sp>
        <p:nvSpPr>
          <p:cNvPr id="35" name="benchmark-right-3-surface">
            <a:extLst xmlns:a="http://schemas.openxmlformats.org/drawingml/2006/main">
              <a:ext uri="{FF2B5EF4-FFF2-40B4-BE49-F238E27FC236}">
                <a16:creationId xmlns:a16="http://schemas.microsoft.com/office/drawing/2014/main" id="{A0FF17C7-180F-49FA-A285-5524E1E2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772025"/>
            <a:ext cx="4667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AF5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6" name="benchmark-right-3-text">
            <a:extLst xmlns:a="http://schemas.openxmlformats.org/drawingml/2006/main">
              <a:ext uri="{FF2B5EF4-FFF2-40B4-BE49-F238E27FC236}">
                <a16:creationId xmlns:a16="http://schemas.microsoft.com/office/drawing/2014/main" id="{5C902A82-DCAF-4229-BCE5-1A2305A0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772025"/>
            <a:ext cx="4514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F2A24"/>
                </a:solidFill>
              </a:defRPr>
            </a:pPr>
            <a:r>
              <a:rPr sz="127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13.3元（250ml）</a:t>
            </a:r>
          </a:p>
        </p:txBody>
      </p:sp>
      <p:sp>
        <p:nvSpPr>
          <p:cNvPr id="37" name="benchmark-label-4-surface">
            <a:extLst xmlns:a="http://schemas.openxmlformats.org/drawingml/2006/main">
              <a:ext uri="{FF2B5EF4-FFF2-40B4-BE49-F238E27FC236}">
                <a16:creationId xmlns:a16="http://schemas.microsoft.com/office/drawing/2014/main" id="{F5E6F629-7BA6-406E-9C81-1B74DBCD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457825"/>
            <a:ext cx="1714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8" name="benchmark-label-4-text">
            <a:extLst xmlns:a="http://schemas.openxmlformats.org/drawingml/2006/main">
              <a:ext uri="{FF2B5EF4-FFF2-40B4-BE49-F238E27FC236}">
                <a16:creationId xmlns:a16="http://schemas.microsoft.com/office/drawing/2014/main" id="{2FA3367C-3C8A-4882-B823-7563C47D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457825"/>
            <a:ext cx="1562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2A24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卖点差异</a:t>
            </a:r>
          </a:p>
        </p:txBody>
      </p:sp>
      <p:sp>
        <p:nvSpPr>
          <p:cNvPr id="39" name="benchmark-left-4-surface">
            <a:extLst xmlns:a="http://schemas.openxmlformats.org/drawingml/2006/main">
              <a:ext uri="{FF2B5EF4-FFF2-40B4-BE49-F238E27FC236}">
                <a16:creationId xmlns:a16="http://schemas.microsoft.com/office/drawing/2014/main" id="{34065A14-83EF-4E2A-BC3D-819392AB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457825"/>
            <a:ext cx="504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40" name="benchmark-left-4-text">
            <a:extLst xmlns:a="http://schemas.openxmlformats.org/drawingml/2006/main">
              <a:ext uri="{FF2B5EF4-FFF2-40B4-BE49-F238E27FC236}">
                <a16:creationId xmlns:a16="http://schemas.microsoft.com/office/drawing/2014/main" id="{1AC85553-7322-4A31-95A9-98BABB61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5457825"/>
            <a:ext cx="4895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60012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性价比高</a:t>
            </a:r>
          </a:p>
          <a:p xmlns:a="http://schemas.openxmlformats.org/drawingml/2006/main">
            <a:pPr algn="ctr">
              <a:defRPr sz="1275" b="1">
                <a:solidFill>
                  <a:srgbClr val="E60012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毛利率高</a:t>
            </a:r>
          </a:p>
        </p:txBody>
      </p:sp>
      <p:sp>
        <p:nvSpPr>
          <p:cNvPr id="41" name="benchmark-right-4-surface">
            <a:extLst xmlns:a="http://schemas.openxmlformats.org/drawingml/2006/main">
              <a:ext uri="{FF2B5EF4-FFF2-40B4-BE49-F238E27FC236}">
                <a16:creationId xmlns:a16="http://schemas.microsoft.com/office/drawing/2014/main" id="{787E2DA4-CEE2-4945-8B1E-1517B961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457825"/>
            <a:ext cx="466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42" name="benchmark-right-4-text">
            <a:extLst xmlns:a="http://schemas.openxmlformats.org/drawingml/2006/main">
              <a:ext uri="{FF2B5EF4-FFF2-40B4-BE49-F238E27FC236}">
                <a16:creationId xmlns:a16="http://schemas.microsoft.com/office/drawing/2014/main" id="{39B847FE-1220-4EA8-85F8-2A25D08A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457825"/>
            <a:ext cx="4514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F2A24"/>
                </a:solidFill>
              </a:defRPr>
            </a:pPr>
            <a:r>
              <a:rPr sz="127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3329592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D9D3ACCB-1D2A-4445-B8B9-3C339FA1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5BC589-F1E4-4FB0-9A7A-1E766E18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" name="page-title">
            <a:extLst xmlns:a="http://schemas.openxmlformats.org/drawingml/2006/main">
              <a:ext uri="{FF2B5EF4-FFF2-40B4-BE49-F238E27FC236}">
                <a16:creationId xmlns:a16="http://schemas.microsoft.com/office/drawing/2014/main" id="{F534EE4B-AE04-4827-8C6C-76724AB1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A24"/>
                </a:solidFill>
              </a:defRPr>
            </a:pPr>
            <a:r>
              <a:rPr sz="2025" b="1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注意事项</a:t>
            </a:r>
          </a:p>
        </p:txBody>
      </p:sp>
      <p:sp>
        <p:nvSpPr>
          <p:cNvPr id="4" name="chrome-hairline">
            <a:extLst xmlns:a="http://schemas.openxmlformats.org/drawingml/2006/main">
              <a:ext uri="{FF2B5EF4-FFF2-40B4-BE49-F238E27FC236}">
                <a16:creationId xmlns:a16="http://schemas.microsoft.com/office/drawing/2014/main" id="{6922ABD0-F7BA-49CD-9E4B-F52C1DDB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95325"/>
            <a:ext cx="1158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rome-rule-accent">
            <a:extLst xmlns:a="http://schemas.openxmlformats.org/drawingml/2006/main">
              <a:ext uri="{FF2B5EF4-FFF2-40B4-BE49-F238E27FC236}">
                <a16:creationId xmlns:a16="http://schemas.microsoft.com/office/drawing/2014/main" id="{3CC7DDBE-C7C0-4544-A514-38EB556F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66750"/>
            <a:ext cx="68580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14EFECD4-96CF-48BC-B972-91090C21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5A817"/>
                </a:solidFill>
              </a:defRPr>
            </a:pPr>
            <a:r>
              <a:rPr sz="10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E5598529-3760-4024-A6EC-90C94409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532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仅供内部学习</a:t>
            </a:r>
          </a:p>
        </p:txBody>
      </p:sp>
      <p:sp>
        <p:nvSpPr>
          <p:cNvPr id="8" name="page-index">
            <a:extLst xmlns:a="http://schemas.openxmlformats.org/drawingml/2006/main">
              <a:ext uri="{FF2B5EF4-FFF2-40B4-BE49-F238E27FC236}">
                <a16:creationId xmlns:a16="http://schemas.microsoft.com/office/drawing/2014/main" id="{11EEB782-81F2-45B4-AA45-74AFFD90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A6B61"/>
                </a:solidFill>
              </a:defRPr>
            </a:pPr>
            <a:r>
              <a:rPr sz="900" b="0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05 / 05</a:t>
            </a:r>
          </a:p>
        </p:txBody>
      </p:sp>
      <p:sp>
        <p:nvSpPr>
          <p:cNvPr id="9" name="precautions-label">
            <a:extLst xmlns:a="http://schemas.openxmlformats.org/drawingml/2006/main">
              <a:ext uri="{FF2B5EF4-FFF2-40B4-BE49-F238E27FC236}">
                <a16:creationId xmlns:a16="http://schemas.microsoft.com/office/drawing/2014/main" id="{38CD09B8-70DD-45A9-BFA5-2770C76B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238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66A2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注意事项：</a:t>
            </a:r>
          </a:p>
        </p:txBody>
      </p:sp>
      <p:sp>
        <p:nvSpPr>
          <p:cNvPr id="10" name="precaution-item-0">
            <a:extLst xmlns:a="http://schemas.openxmlformats.org/drawingml/2006/main">
              <a:ext uri="{FF2B5EF4-FFF2-40B4-BE49-F238E27FC236}">
                <a16:creationId xmlns:a16="http://schemas.microsoft.com/office/drawing/2014/main" id="{0FAD1C58-E43C-49D6-A395-5C7E1050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538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1、服药时饮食宜清淡。</a:t>
            </a:r>
          </a:p>
        </p:txBody>
      </p:sp>
      <p:sp>
        <p:nvSpPr>
          <p:cNvPr id="11" name="precaution-item-1">
            <a:extLst xmlns:a="http://schemas.openxmlformats.org/drawingml/2006/main">
              <a:ext uri="{FF2B5EF4-FFF2-40B4-BE49-F238E27FC236}">
                <a16:creationId xmlns:a16="http://schemas.microsoft.com/office/drawing/2014/main" id="{FD73CE1C-0962-4527-9F43-A90AB357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538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2、服用本药时，不宜同时服滋补性中成药。</a:t>
            </a:r>
          </a:p>
        </p:txBody>
      </p:sp>
      <p:sp>
        <p:nvSpPr>
          <p:cNvPr id="12" name="precaution-item-2">
            <a:extLst xmlns:a="http://schemas.openxmlformats.org/drawingml/2006/main">
              <a:ext uri="{FF2B5EF4-FFF2-40B4-BE49-F238E27FC236}">
                <a16:creationId xmlns:a16="http://schemas.microsoft.com/office/drawing/2014/main" id="{8A591AF4-EA38-4A1B-A5F3-C3C90972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0375"/>
            <a:ext cx="538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3、脾虚大便溏者慎服。</a:t>
            </a:r>
          </a:p>
        </p:txBody>
      </p:sp>
      <p:sp>
        <p:nvSpPr>
          <p:cNvPr id="13" name="precaution-item-3">
            <a:extLst xmlns:a="http://schemas.openxmlformats.org/drawingml/2006/main">
              <a:ext uri="{FF2B5EF4-FFF2-40B4-BE49-F238E27FC236}">
                <a16:creationId xmlns:a16="http://schemas.microsoft.com/office/drawing/2014/main" id="{D51F8C2E-7EAD-4131-851D-5820CE1E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5381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4、服用3天后，症状无改善，或出现其他严重症状时应停药，并去医院就诊。</a:t>
            </a:r>
          </a:p>
        </p:txBody>
      </p:sp>
      <p:sp>
        <p:nvSpPr>
          <p:cNvPr id="14" name="precaution-item-4">
            <a:extLst xmlns:a="http://schemas.openxmlformats.org/drawingml/2006/main">
              <a:ext uri="{FF2B5EF4-FFF2-40B4-BE49-F238E27FC236}">
                <a16:creationId xmlns:a16="http://schemas.microsoft.com/office/drawing/2014/main" id="{34531CB0-E703-4169-A66F-9F83F68C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19625"/>
            <a:ext cx="5381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4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F2A24"/>
                </a:solidFill>
              </a:rPr>
              <a:t>5、对本品过敏者禁用，过敏体质者慎用。本品性状发生改变时禁止使用。</a:t>
            </a:r>
          </a:p>
        </p:txBody>
      </p:sp>
      <p:sp>
        <p:nvSpPr>
          <p:cNvPr id="15" name="precaution-card-0">
            <a:extLst xmlns:a="http://schemas.openxmlformats.org/drawingml/2006/main">
              <a:ext uri="{FF2B5EF4-FFF2-40B4-BE49-F238E27FC236}">
                <a16:creationId xmlns:a16="http://schemas.microsoft.com/office/drawing/2014/main" id="{51D90BD0-20AC-4B36-8B5F-2C736C20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00125"/>
            <a:ext cx="2524125" cy="2500313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6" name="precaution-card-accent-0">
            <a:extLst xmlns:a="http://schemas.openxmlformats.org/drawingml/2006/main">
              <a:ext uri="{FF2B5EF4-FFF2-40B4-BE49-F238E27FC236}">
                <a16:creationId xmlns:a16="http://schemas.microsoft.com/office/drawing/2014/main" id="{CCBAB97A-BF04-419A-A827-A349891A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152525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ecaution-card-title-0">
            <a:extLst xmlns:a="http://schemas.openxmlformats.org/drawingml/2006/main">
              <a:ext uri="{FF2B5EF4-FFF2-40B4-BE49-F238E27FC236}">
                <a16:creationId xmlns:a16="http://schemas.microsoft.com/office/drawing/2014/main" id="{065F1DAE-49A9-4803-97CD-535AC125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133475"/>
            <a:ext cx="214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6A2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066A2F"/>
                </a:solidFill>
              </a:rPr>
              <a:t>饮食宜清淡</a:t>
            </a:r>
          </a:p>
        </p:txBody>
      </p:sp>
      <p:sp>
        <p:nvSpPr>
          <p:cNvPr id="18" name="precaution-asset-0-surface">
            <a:extLst xmlns:a="http://schemas.openxmlformats.org/drawingml/2006/main">
              <a:ext uri="{FF2B5EF4-FFF2-40B4-BE49-F238E27FC236}">
                <a16:creationId xmlns:a16="http://schemas.microsoft.com/office/drawing/2014/main" id="{59FB2841-A210-4A2B-A733-D89AAAF1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609725"/>
            <a:ext cx="1990725" cy="1681163"/>
          </a:xfrm>
          <a:prstGeom xmlns:a="http://schemas.openxmlformats.org/drawingml/2006/main" prst="roundRect">
            <a:avLst>
              <a:gd name="adj" fmla="val 56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19" name="precaution-asset-0-label">
            <a:extLst xmlns:a="http://schemas.openxmlformats.org/drawingml/2006/main">
              <a:ext uri="{FF2B5EF4-FFF2-40B4-BE49-F238E27FC236}">
                <a16:creationId xmlns:a16="http://schemas.microsoft.com/office/drawing/2014/main" id="{E1A828FC-42FB-4632-93A2-E13CD1BE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12181"/>
            <a:ext cx="1800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原创插图槽位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饮食宜清淡</a:t>
            </a:r>
          </a:p>
        </p:txBody>
      </p:sp>
      <p:sp>
        <p:nvSpPr>
          <p:cNvPr id="20" name="precaution-card-1">
            <a:extLst xmlns:a="http://schemas.openxmlformats.org/drawingml/2006/main">
              <a:ext uri="{FF2B5EF4-FFF2-40B4-BE49-F238E27FC236}">
                <a16:creationId xmlns:a16="http://schemas.microsoft.com/office/drawing/2014/main" id="{B98C7BB3-69E0-425D-8199-287B5E8C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000125"/>
            <a:ext cx="2524125" cy="2500313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1" name="precaution-card-accent-1">
            <a:extLst xmlns:a="http://schemas.openxmlformats.org/drawingml/2006/main">
              <a:ext uri="{FF2B5EF4-FFF2-40B4-BE49-F238E27FC236}">
                <a16:creationId xmlns:a16="http://schemas.microsoft.com/office/drawing/2014/main" id="{BD4B4851-AA83-4D29-B7C6-5D6C5149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52525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ecaution-card-title-1">
            <a:extLst xmlns:a="http://schemas.openxmlformats.org/drawingml/2006/main">
              <a:ext uri="{FF2B5EF4-FFF2-40B4-BE49-F238E27FC236}">
                <a16:creationId xmlns:a16="http://schemas.microsoft.com/office/drawing/2014/main" id="{521EE99F-5515-4321-9C07-EFFEAF4C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133475"/>
            <a:ext cx="214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6A2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066A2F"/>
                </a:solidFill>
              </a:rPr>
              <a:t>滋补性中成药</a:t>
            </a:r>
          </a:p>
        </p:txBody>
      </p:sp>
      <p:sp>
        <p:nvSpPr>
          <p:cNvPr id="23" name="precaution-asset-1-surface">
            <a:extLst xmlns:a="http://schemas.openxmlformats.org/drawingml/2006/main">
              <a:ext uri="{FF2B5EF4-FFF2-40B4-BE49-F238E27FC236}">
                <a16:creationId xmlns:a16="http://schemas.microsoft.com/office/drawing/2014/main" id="{AC857B69-0E5F-4978-8383-248CA3FF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609725"/>
            <a:ext cx="1990725" cy="1681163"/>
          </a:xfrm>
          <a:prstGeom xmlns:a="http://schemas.openxmlformats.org/drawingml/2006/main" prst="roundRect">
            <a:avLst>
              <a:gd name="adj" fmla="val 5666"/>
            </a:avLst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4" name="precaution-asset-1-label">
            <a:extLst xmlns:a="http://schemas.openxmlformats.org/drawingml/2006/main">
              <a:ext uri="{FF2B5EF4-FFF2-40B4-BE49-F238E27FC236}">
                <a16:creationId xmlns:a16="http://schemas.microsoft.com/office/drawing/2014/main" id="{9ABA342A-3741-4568-B70B-5DFEE15D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212181"/>
            <a:ext cx="1800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原创插图槽位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滋补性中成药</a:t>
            </a:r>
          </a:p>
        </p:txBody>
      </p:sp>
      <p:sp>
        <p:nvSpPr>
          <p:cNvPr id="25" name="precaution-card-2">
            <a:extLst xmlns:a="http://schemas.openxmlformats.org/drawingml/2006/main">
              <a:ext uri="{FF2B5EF4-FFF2-40B4-BE49-F238E27FC236}">
                <a16:creationId xmlns:a16="http://schemas.microsoft.com/office/drawing/2014/main" id="{E588323C-A1A0-4C6D-916F-FEF38C5F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95688"/>
            <a:ext cx="2524125" cy="2500313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6" name="precaution-card-accent-2">
            <a:extLst xmlns:a="http://schemas.openxmlformats.org/drawingml/2006/main">
              <a:ext uri="{FF2B5EF4-FFF2-40B4-BE49-F238E27FC236}">
                <a16:creationId xmlns:a16="http://schemas.microsoft.com/office/drawing/2014/main" id="{49035869-C86F-4DB9-ADB0-B8839AFC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48088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recaution-card-title-2">
            <a:extLst xmlns:a="http://schemas.openxmlformats.org/drawingml/2006/main">
              <a:ext uri="{FF2B5EF4-FFF2-40B4-BE49-F238E27FC236}">
                <a16:creationId xmlns:a16="http://schemas.microsoft.com/office/drawing/2014/main" id="{1BD7DAFC-98C9-477D-9932-764302F3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29038"/>
            <a:ext cx="214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6A2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066A2F"/>
                </a:solidFill>
              </a:rPr>
              <a:t>及时就诊</a:t>
            </a:r>
          </a:p>
        </p:txBody>
      </p:sp>
      <p:sp>
        <p:nvSpPr>
          <p:cNvPr id="28" name="precaution-asset-2-surface">
            <a:extLst xmlns:a="http://schemas.openxmlformats.org/drawingml/2006/main">
              <a:ext uri="{FF2B5EF4-FFF2-40B4-BE49-F238E27FC236}">
                <a16:creationId xmlns:a16="http://schemas.microsoft.com/office/drawing/2014/main" id="{79F43F5C-1D7C-4A34-A131-19EBB6B9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05288"/>
            <a:ext cx="1990725" cy="1681163"/>
          </a:xfrm>
          <a:prstGeom xmlns:a="http://schemas.openxmlformats.org/drawingml/2006/main" prst="roundRect">
            <a:avLst>
              <a:gd name="adj" fmla="val 56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29" name="precaution-asset-2-label">
            <a:extLst xmlns:a="http://schemas.openxmlformats.org/drawingml/2006/main">
              <a:ext uri="{FF2B5EF4-FFF2-40B4-BE49-F238E27FC236}">
                <a16:creationId xmlns:a16="http://schemas.microsoft.com/office/drawing/2014/main" id="{04F23962-6FE4-4A1B-A3E9-7EFB9028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07744"/>
            <a:ext cx="1800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原创插图槽位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及时就诊</a:t>
            </a:r>
          </a:p>
        </p:txBody>
      </p:sp>
      <p:sp>
        <p:nvSpPr>
          <p:cNvPr id="30" name="precaution-card-3">
            <a:extLst xmlns:a="http://schemas.openxmlformats.org/drawingml/2006/main">
              <a:ext uri="{FF2B5EF4-FFF2-40B4-BE49-F238E27FC236}">
                <a16:creationId xmlns:a16="http://schemas.microsoft.com/office/drawing/2014/main" id="{67086738-4AB0-4DB0-939F-E75FFC1B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595688"/>
            <a:ext cx="2524125" cy="2500313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9F7EE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1" name="precaution-card-accent-3">
            <a:extLst xmlns:a="http://schemas.openxmlformats.org/drawingml/2006/main">
              <a:ext uri="{FF2B5EF4-FFF2-40B4-BE49-F238E27FC236}">
                <a16:creationId xmlns:a16="http://schemas.microsoft.com/office/drawing/2014/main" id="{F7F13E86-6508-4A98-BD42-E92D6312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748088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recaution-card-title-3">
            <a:extLst xmlns:a="http://schemas.openxmlformats.org/drawingml/2006/main">
              <a:ext uri="{FF2B5EF4-FFF2-40B4-BE49-F238E27FC236}">
                <a16:creationId xmlns:a16="http://schemas.microsoft.com/office/drawing/2014/main" id="{1EF64274-5FC6-44C8-9CAF-202A995F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729038"/>
            <a:ext cx="214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6A2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066A2F"/>
                </a:solidFill>
              </a:rPr>
              <a:t>过敏慎用</a:t>
            </a:r>
          </a:p>
        </p:txBody>
      </p:sp>
      <p:sp>
        <p:nvSpPr>
          <p:cNvPr id="33" name="precaution-asset-3-surface">
            <a:extLst xmlns:a="http://schemas.openxmlformats.org/drawingml/2006/main">
              <a:ext uri="{FF2B5EF4-FFF2-40B4-BE49-F238E27FC236}">
                <a16:creationId xmlns:a16="http://schemas.microsoft.com/office/drawing/2014/main" id="{37DB7FF2-94F6-4566-9F12-AC8FDE48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205288"/>
            <a:ext cx="1990725" cy="1681163"/>
          </a:xfrm>
          <a:prstGeom xmlns:a="http://schemas.openxmlformats.org/drawingml/2006/main" prst="roundRect">
            <a:avLst>
              <a:gd name="adj" fmla="val 5666"/>
            </a:avLst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D9E9DF"/>
            </a:solidFill>
            <a:prstDash val="solid"/>
          </a:ln>
        </p:spPr>
      </p:sp>
      <p:sp>
        <p:nvSpPr>
          <p:cNvPr id="34" name="precaution-asset-3-label">
            <a:extLst xmlns:a="http://schemas.openxmlformats.org/drawingml/2006/main">
              <a:ext uri="{FF2B5EF4-FFF2-40B4-BE49-F238E27FC236}">
                <a16:creationId xmlns:a16="http://schemas.microsoft.com/office/drawing/2014/main" id="{96075E23-8D68-42DA-8136-0428C0D5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807744"/>
            <a:ext cx="1800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原创插图槽位</a:t>
            </a:r>
          </a:p>
          <a:p xmlns:a="http://schemas.openxmlformats.org/drawingml/2006/main">
            <a:pPr algn="ctr">
              <a:defRPr sz="1125" b="1">
                <a:solidFill>
                  <a:srgbClr val="5A6B6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5A6B61"/>
                </a:solidFill>
              </a:rPr>
              <a:t>过敏慎用</a:t>
            </a:r>
          </a:p>
        </p:txBody>
      </p:sp>
    </p:spTree>
    <p:extLst>
      <p:ext uri="{BB962C8B-B14F-4D97-AF65-F5344CB8AC3E}">
        <p14:creationId xmlns:p14="http://schemas.microsoft.com/office/powerpoint/2010/main" val="1044285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2026-08-04T00:59:21.0640000Z</dcterms:created>
  <dcterms:modified xsi:type="dcterms:W3CDTF">2026-08-04T00:59:21.0640000Z</dcterms:modified>
</coreProperties>
</file>