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6862c44f44710" /><Relationship Type="http://schemas.openxmlformats.org/officeDocument/2006/relationships/extended-properties" Target="/docProps/app.xml" Id="R15a67ea00bab49bb" /><Relationship Type="http://schemas.openxmlformats.org/officeDocument/2006/relationships/officeDocument" Target="/ppt/presentation.xml" Id="R6affb5cfc47640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948c2a960a48f8"/>
  </p:sldMasterIdLst>
  <p:notesMasterIdLst>
    <p:notesMasterId xmlns:r="http://schemas.openxmlformats.org/officeDocument/2006/relationships" r:id="R4990dc86d54b49a7"/>
  </p:notesMasterIdLst>
  <p:sldIdLst>
    <p:sldId xmlns:r="http://schemas.openxmlformats.org/officeDocument/2006/relationships" id="256" r:id="R9c0992d9e26b416c"/>
    <p:sldId xmlns:r="http://schemas.openxmlformats.org/officeDocument/2006/relationships" id="257" r:id="R795af62e449441fa"/>
    <p:sldId xmlns:r="http://schemas.openxmlformats.org/officeDocument/2006/relationships" id="258" r:id="R4b6cadb09d1f4b45"/>
    <p:sldId xmlns:r="http://schemas.openxmlformats.org/officeDocument/2006/relationships" id="259" r:id="R395d01921096433a"/>
    <p:sldId xmlns:r="http://schemas.openxmlformats.org/officeDocument/2006/relationships" id="260" r:id="Rdc727c848b174f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8af0e7f2045b3" /><Relationship Type="http://schemas.openxmlformats.org/officeDocument/2006/relationships/slideMaster" Target="/ppt/slideMasters/slideMaster1.xml" Id="R6c948c2a960a48f8" /><Relationship Type="http://schemas.openxmlformats.org/officeDocument/2006/relationships/notesMaster" Target="/ppt/notesMasters/notesMaster1.xml" Id="R4990dc86d54b49a7" /><Relationship Type="http://schemas.openxmlformats.org/officeDocument/2006/relationships/presProps" Target="/ppt/presProps.xml" Id="Rb18186842caf4d9d" /><Relationship Type="http://schemas.openxmlformats.org/officeDocument/2006/relationships/tableStyles" Target="/ppt/tableStyles.xml" Id="R614cc3fd8c87450e" /><Relationship Type="http://schemas.openxmlformats.org/officeDocument/2006/relationships/slide" Target="/ppt/slides/slide1.xml" Id="R9c0992d9e26b416c" /><Relationship Type="http://schemas.openxmlformats.org/officeDocument/2006/relationships/slide" Target="/ppt/slides/slide2.xml" Id="R795af62e449441fa" /><Relationship Type="http://schemas.openxmlformats.org/officeDocument/2006/relationships/slide" Target="/ppt/slides/slide3.xml" Id="R4b6cadb09d1f4b45" /><Relationship Type="http://schemas.openxmlformats.org/officeDocument/2006/relationships/slide" Target="/ppt/slides/slide4.xml" Id="R395d01921096433a" /><Relationship Type="http://schemas.openxmlformats.org/officeDocument/2006/relationships/slide" Target="/ppt/slides/slide5.xml" Id="Rdc727c848b17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39b4ceae64e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436626f0148c7" /><Relationship Type="http://schemas.openxmlformats.org/officeDocument/2006/relationships/notesMaster" Target="/ppt/notesMasters/notesMaster1.xml" Id="R6cebed141e83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2c7d47eb84446" /><Relationship Type="http://schemas.openxmlformats.org/officeDocument/2006/relationships/notesMaster" Target="/ppt/notesMasters/notesMaster1.xml" Id="Rf48283792be845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0abc6f3f349aa" /><Relationship Type="http://schemas.openxmlformats.org/officeDocument/2006/relationships/notesMaster" Target="/ppt/notesMasters/notesMaster1.xml" Id="R86c32bd3868549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e131492d8948cb" /><Relationship Type="http://schemas.openxmlformats.org/officeDocument/2006/relationships/notesMaster" Target="/ppt/notesMasters/notesMaster1.xml" Id="Ra33f8f3e2b1b44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39509022df4bdf" /><Relationship Type="http://schemas.openxmlformats.org/officeDocument/2006/relationships/notesMaster" Target="/ppt/notesMasters/notesMaster1.xml" Id="R79498ce5df8246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33CC7A3A-9CB3-4383-9587-7564FD74AFAF.png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171FA13F-202E-4B0D-A440-2614EF985EFF.png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1DBBECEC-9258-48D6-82A6-793D6B539DBE.png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C0D1AC4D-8CD3-497C-98A0-2B8D0DDB6B39.png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internal reference screenshot: CBD2D8CD-6DC6-442A-A16F-EEFFF500E9EC.png</a:t>
            </a:r>
          </a:p>
          <a:p xmlns:a="http://schemas.openxmlformats.org/drawingml/2006/main">
            <a:r>
              <a:t>- Content status: manual transcription; pharmacist/compliance review required.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22c0f8b234c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2dff16a354cf8" /><Relationship Type="http://schemas.openxmlformats.org/officeDocument/2006/relationships/slideLayout" Target="/ppt/slideLayouts/slideLayout1.xml" Id="Rd36a7ec6f5e94d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a7ec6f5e94d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23f8754c4283" /><Relationship Type="http://schemas.openxmlformats.org/officeDocument/2006/relationships/notesSlide" Target="/ppt/notesSlides/notesSlide1.xml" Id="Rd8a5730b2c79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2eaf93eb047dd" /><Relationship Type="http://schemas.openxmlformats.org/officeDocument/2006/relationships/notesSlide" Target="/ppt/notesSlides/notesSlide2.xml" Id="R399e88efbd3649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8be5caf6a46d5" /><Relationship Type="http://schemas.openxmlformats.org/officeDocument/2006/relationships/notesSlide" Target="/ppt/notesSlides/notesSlide3.xml" Id="R545fd1931016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c133019b24a9b" /><Relationship Type="http://schemas.openxmlformats.org/officeDocument/2006/relationships/notesSlide" Target="/ppt/notesSlides/notesSlide4.xml" Id="R080614f505fa44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ac4e677534093" /><Relationship Type="http://schemas.openxmlformats.org/officeDocument/2006/relationships/notesSlide" Target="/ppt/notesSlides/notesSlide5.xml" Id="R28481d3ca2c643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cover-color-field">
            <a:extLst xmlns:a="http://schemas.openxmlformats.org/drawingml/2006/main">
              <a:ext uri="{FF2B5EF4-FFF2-40B4-BE49-F238E27FC236}">
                <a16:creationId xmlns:a16="http://schemas.microsoft.com/office/drawing/2014/main" id="{B9597C85-5559-46E8-A511-1972117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ue-field">
            <a:extLst xmlns:a="http://schemas.openxmlformats.org/drawingml/2006/main">
              <a:ext uri="{FF2B5EF4-FFF2-40B4-BE49-F238E27FC236}">
                <a16:creationId xmlns:a16="http://schemas.microsoft.com/office/drawing/2014/main" id="{76CE8515-6B88-4188-ACBC-49033ED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6858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A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green-overlay">
            <a:extLst xmlns:a="http://schemas.openxmlformats.org/drawingml/2006/main">
              <a:ext uri="{FF2B5EF4-FFF2-40B4-BE49-F238E27FC236}">
                <a16:creationId xmlns:a16="http://schemas.microsoft.com/office/drawing/2014/main" id="{3F3FED0D-ECF2-4618-88FF-AB5A31E0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building-band-1">
            <a:extLst xmlns:a="http://schemas.openxmlformats.org/drawingml/2006/main">
              <a:ext uri="{FF2B5EF4-FFF2-40B4-BE49-F238E27FC236}">
                <a16:creationId xmlns:a16="http://schemas.microsoft.com/office/drawing/2014/main" id="{F9BF3FF7-21C6-4DEE-B642-2FEF4FB4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building-band-2">
            <a:extLst xmlns:a="http://schemas.openxmlformats.org/drawingml/2006/main">
              <a:ext uri="{FF2B5EF4-FFF2-40B4-BE49-F238E27FC236}">
                <a16:creationId xmlns:a16="http://schemas.microsoft.com/office/drawing/2014/main" id="{93E32347-1823-439F-AB49-62C7DCC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9532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building-band-3">
            <a:extLst xmlns:a="http://schemas.openxmlformats.org/drawingml/2006/main">
              <a:ext uri="{FF2B5EF4-FFF2-40B4-BE49-F238E27FC236}">
                <a16:creationId xmlns:a16="http://schemas.microsoft.com/office/drawing/2014/main" id="{ADAF469D-9817-4B05-8C46-EEA1F148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66775"/>
            <a:ext cx="247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building-band-4">
            <a:extLst xmlns:a="http://schemas.openxmlformats.org/drawingml/2006/main">
              <a:ext uri="{FF2B5EF4-FFF2-40B4-BE49-F238E27FC236}">
                <a16:creationId xmlns:a16="http://schemas.microsoft.com/office/drawing/2014/main" id="{6AC83AAE-E198-43AA-BDEA-982392D4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"/>
            <a:ext cx="24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building-band-5">
            <a:extLst xmlns:a="http://schemas.openxmlformats.org/drawingml/2006/main">
              <a:ext uri="{FF2B5EF4-FFF2-40B4-BE49-F238E27FC236}">
                <a16:creationId xmlns:a16="http://schemas.microsoft.com/office/drawing/2014/main" id="{5F3FE0F5-CD68-47B2-AE35-425F9CA8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9532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building-band-6">
            <a:extLst xmlns:a="http://schemas.openxmlformats.org/drawingml/2006/main">
              <a:ext uri="{FF2B5EF4-FFF2-40B4-BE49-F238E27FC236}">
                <a16:creationId xmlns:a16="http://schemas.microsoft.com/office/drawing/2014/main" id="{EBC8F575-984D-4944-BBEF-447F24EB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6677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building-band-7">
            <a:extLst xmlns:a="http://schemas.openxmlformats.org/drawingml/2006/main">
              <a:ext uri="{FF2B5EF4-FFF2-40B4-BE49-F238E27FC236}">
                <a16:creationId xmlns:a16="http://schemas.microsoft.com/office/drawing/2014/main" id="{960ADAB1-2847-48F0-A896-BC46A552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"/>
            <a:ext cx="247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building-band-8">
            <a:extLst xmlns:a="http://schemas.openxmlformats.org/drawingml/2006/main">
              <a:ext uri="{FF2B5EF4-FFF2-40B4-BE49-F238E27FC236}">
                <a16:creationId xmlns:a16="http://schemas.microsoft.com/office/drawing/2014/main" id="{2C79102C-28CD-409C-8654-83C2B8CA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95325"/>
            <a:ext cx="24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building-band-9">
            <a:extLst xmlns:a="http://schemas.openxmlformats.org/drawingml/2006/main">
              <a:ext uri="{FF2B5EF4-FFF2-40B4-BE49-F238E27FC236}">
                <a16:creationId xmlns:a16="http://schemas.microsoft.com/office/drawing/2014/main" id="{9564F5C1-9147-41F0-8087-33866BFD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66775"/>
            <a:ext cx="247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98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building-band-10">
            <a:extLst xmlns:a="http://schemas.openxmlformats.org/drawingml/2006/main">
              <a:ext uri="{FF2B5EF4-FFF2-40B4-BE49-F238E27FC236}">
                <a16:creationId xmlns:a16="http://schemas.microsoft.com/office/drawing/2014/main" id="{2837874F-94F0-4299-A3DF-180DE04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"/>
            <a:ext cx="2476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white-bottom">
            <a:extLst xmlns:a="http://schemas.openxmlformats.org/drawingml/2006/main">
              <a:ext uri="{FF2B5EF4-FFF2-40B4-BE49-F238E27FC236}">
                <a16:creationId xmlns:a16="http://schemas.microsoft.com/office/drawing/2014/main" id="{E7220808-E654-4948-B274-D492F10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white-curve">
            <a:extLst xmlns:a="http://schemas.openxmlformats.org/drawingml/2006/main">
              <a:ext uri="{FF2B5EF4-FFF2-40B4-BE49-F238E27FC236}">
                <a16:creationId xmlns:a16="http://schemas.microsoft.com/office/drawing/2014/main" id="{BE74E146-06D6-4883-BC9B-209C2F7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43250"/>
            <a:ext cx="12192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frame-top">
            <a:extLst xmlns:a="http://schemas.openxmlformats.org/drawingml/2006/main">
              <a:ext uri="{FF2B5EF4-FFF2-40B4-BE49-F238E27FC236}">
                <a16:creationId xmlns:a16="http://schemas.microsoft.com/office/drawing/2014/main" id="{C75D2B38-A17D-47AC-A26E-3C3F16BA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4300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frame-left">
            <a:extLst xmlns:a="http://schemas.openxmlformats.org/drawingml/2006/main">
              <a:ext uri="{FF2B5EF4-FFF2-40B4-BE49-F238E27FC236}">
                <a16:creationId xmlns:a16="http://schemas.microsoft.com/office/drawing/2014/main" id="{46B9CBFD-DC20-4215-834A-0C33A40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143000"/>
            <a:ext cx="381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D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ver-frame-right">
            <a:extLst xmlns:a="http://schemas.openxmlformats.org/drawingml/2006/main">
              <a:ext uri="{FF2B5EF4-FFF2-40B4-BE49-F238E27FC236}">
                <a16:creationId xmlns:a16="http://schemas.microsoft.com/office/drawing/2014/main" id="{80226A80-AA1E-4959-AE50-214C3A55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143000"/>
            <a:ext cx="381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ver-frame-bottom">
            <a:extLst xmlns:a="http://schemas.openxmlformats.org/drawingml/2006/main">
              <a:ext uri="{FF2B5EF4-FFF2-40B4-BE49-F238E27FC236}">
                <a16:creationId xmlns:a16="http://schemas.microsoft.com/office/drawing/2014/main" id="{A989D893-4A68-4C44-B1F8-619E259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9590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ver-brand">
            <a:extLst xmlns:a="http://schemas.openxmlformats.org/drawingml/2006/main">
              <a:ext uri="{FF2B5EF4-FFF2-40B4-BE49-F238E27FC236}">
                <a16:creationId xmlns:a16="http://schemas.microsoft.com/office/drawing/2014/main" id="{CB21EECB-4AE4-4D14-80E2-FC6CB199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2954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大参林 dashenlin</a:t>
            </a:r>
          </a:p>
        </p:txBody>
      </p:sp>
      <p:sp>
        <p:nvSpPr>
          <p:cNvPr id="21" name="cover-organization">
            <a:extLst xmlns:a="http://schemas.openxmlformats.org/drawingml/2006/main">
              <a:ext uri="{FF2B5EF4-FFF2-40B4-BE49-F238E27FC236}">
                <a16:creationId xmlns:a16="http://schemas.microsoft.com/office/drawing/2014/main" id="{E040BFC5-6442-4138-B4F7-D5D7449D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大参林医药集团</a:t>
            </a:r>
          </a:p>
        </p:txBody>
      </p:sp>
      <p:sp>
        <p:nvSpPr>
          <p:cNvPr id="22" name="cover-rule-left">
            <a:extLst xmlns:a="http://schemas.openxmlformats.org/drawingml/2006/main">
              <a:ext uri="{FF2B5EF4-FFF2-40B4-BE49-F238E27FC236}">
                <a16:creationId xmlns:a16="http://schemas.microsoft.com/office/drawing/2014/main" id="{93D83B5F-0038-4408-96D0-E857151D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1666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ver-rule-right">
            <a:extLst xmlns:a="http://schemas.openxmlformats.org/drawingml/2006/main">
              <a:ext uri="{FF2B5EF4-FFF2-40B4-BE49-F238E27FC236}">
                <a16:creationId xmlns:a16="http://schemas.microsoft.com/office/drawing/2014/main" id="{68F5146A-5CFF-44F1-ADE2-BF3C0A3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1666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90E8784-FDC8-45A5-B805-14D01189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</a:t>
            </a:r>
          </a:p>
        </p:txBody>
      </p:sp>
      <p:sp>
        <p:nvSpPr>
          <p:cNvPr id="25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C808C601-9EFF-4C3F-BE63-781D5A27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62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7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【专业力】</a:t>
            </a:r>
          </a:p>
        </p:txBody>
      </p:sp>
      <p:sp>
        <p:nvSpPr>
          <p:cNvPr id="26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D6F02779-1A64-4683-907D-CAB58A3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</p:spTree>
    <p:extLst>
      <p:ext uri="{BB962C8B-B14F-4D97-AF65-F5344CB8AC3E}">
        <p14:creationId xmlns:p14="http://schemas.microsoft.com/office/powerpoint/2010/main" val="959530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3AC2647E-63D3-4C09-ACF1-ADA9270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1D1C2869-A642-483A-8711-7A963A0C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BB40637F-0A95-4827-ACBC-A79097CB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5A57A4-B76A-47CE-87DD-597F3573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0284E1E4-5ABE-4C1A-A684-6B6ECCFD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商品介绍、核心卖点、适宜人群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2914E371-28E7-4C84-8459-92199681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D2F6205F-9E86-4B7D-92D6-33CD4BA4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primary-packshot-surface">
            <a:extLst xmlns:a="http://schemas.openxmlformats.org/drawingml/2006/main">
              <a:ext uri="{FF2B5EF4-FFF2-40B4-BE49-F238E27FC236}">
                <a16:creationId xmlns:a16="http://schemas.microsoft.com/office/drawing/2014/main" id="{651D1671-F825-4A25-BB59-B74240F4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81050"/>
            <a:ext cx="1952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9" name="primary-packshot-label">
            <a:extLst xmlns:a="http://schemas.openxmlformats.org/drawingml/2006/main">
              <a:ext uri="{FF2B5EF4-FFF2-40B4-BE49-F238E27FC236}">
                <a16:creationId xmlns:a16="http://schemas.microsoft.com/office/drawing/2014/main" id="{71163ACE-9833-4BF1-96F9-A964E68C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2880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商品包装高清图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10" name="product-name">
            <a:extLst xmlns:a="http://schemas.openxmlformats.org/drawingml/2006/main">
              <a:ext uri="{FF2B5EF4-FFF2-40B4-BE49-F238E27FC236}">
                <a16:creationId xmlns:a16="http://schemas.microsoft.com/office/drawing/2014/main" id="{65AB2EFB-0B58-4543-A03F-F8E52E7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60012"/>
                </a:solidFill>
              </a:defRPr>
            </a:pPr>
            <a:r>
              <a:rPr sz="1725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金银花露（可可康）</a:t>
            </a:r>
          </a:p>
        </p:txBody>
      </p:sp>
      <p:sp>
        <p:nvSpPr>
          <p:cNvPr id="11" name="product-table-head-0-surface">
            <a:extLst xmlns:a="http://schemas.openxmlformats.org/drawingml/2006/main">
              <a:ext uri="{FF2B5EF4-FFF2-40B4-BE49-F238E27FC236}">
                <a16:creationId xmlns:a16="http://schemas.microsoft.com/office/drawing/2014/main" id="{B07CEB68-E28D-4BA2-8788-E24C3EF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product-table-head-0-text">
            <a:extLst xmlns:a="http://schemas.openxmlformats.org/drawingml/2006/main">
              <a:ext uri="{FF2B5EF4-FFF2-40B4-BE49-F238E27FC236}">
                <a16:creationId xmlns:a16="http://schemas.microsoft.com/office/drawing/2014/main" id="{9562BD08-99F5-4BE8-B02B-7F791CBD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7670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编码</a:t>
            </a:r>
          </a:p>
        </p:txBody>
      </p:sp>
      <p:sp>
        <p:nvSpPr>
          <p:cNvPr id="13" name="product-table-head-1-surface">
            <a:extLst xmlns:a="http://schemas.openxmlformats.org/drawingml/2006/main">
              <a:ext uri="{FF2B5EF4-FFF2-40B4-BE49-F238E27FC236}">
                <a16:creationId xmlns:a16="http://schemas.microsoft.com/office/drawing/2014/main" id="{A9C334D1-52B2-4303-A2BA-7E519687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4" name="product-table-head-1-text">
            <a:extLst xmlns:a="http://schemas.openxmlformats.org/drawingml/2006/main">
              <a:ext uri="{FF2B5EF4-FFF2-40B4-BE49-F238E27FC236}">
                <a16:creationId xmlns:a16="http://schemas.microsoft.com/office/drawing/2014/main" id="{78A08983-7DA5-465B-80E1-1AF154E8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7670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主推</a:t>
            </a:r>
          </a:p>
        </p:txBody>
      </p:sp>
      <p:sp>
        <p:nvSpPr>
          <p:cNvPr id="15" name="product-table-head-2-surface">
            <a:extLst xmlns:a="http://schemas.openxmlformats.org/drawingml/2006/main">
              <a:ext uri="{FF2B5EF4-FFF2-40B4-BE49-F238E27FC236}">
                <a16:creationId xmlns:a16="http://schemas.microsoft.com/office/drawing/2014/main" id="{D2BBA36B-EF85-4100-8A3E-761E7460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00500"/>
            <a:ext cx="14573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product-table-head-2-text">
            <a:extLst xmlns:a="http://schemas.openxmlformats.org/drawingml/2006/main">
              <a:ext uri="{FF2B5EF4-FFF2-40B4-BE49-F238E27FC236}">
                <a16:creationId xmlns:a16="http://schemas.microsoft.com/office/drawing/2014/main" id="{700D2A89-52E2-47AA-87CF-13D99FCE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767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规格</a:t>
            </a:r>
          </a:p>
        </p:txBody>
      </p:sp>
      <p:sp>
        <p:nvSpPr>
          <p:cNvPr id="17" name="product-table-head-3-surface">
            <a:extLst xmlns:a="http://schemas.openxmlformats.org/drawingml/2006/main">
              <a:ext uri="{FF2B5EF4-FFF2-40B4-BE49-F238E27FC236}">
                <a16:creationId xmlns:a16="http://schemas.microsoft.com/office/drawing/2014/main" id="{5CB3DE06-AE7C-459E-A9A4-59C31719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0050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product-table-head-3-text">
            <a:extLst xmlns:a="http://schemas.openxmlformats.org/drawingml/2006/main">
              <a:ext uri="{FF2B5EF4-FFF2-40B4-BE49-F238E27FC236}">
                <a16:creationId xmlns:a16="http://schemas.microsoft.com/office/drawing/2014/main" id="{8B4A9933-5F84-4CCA-8A8F-F068297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767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零售价</a:t>
            </a:r>
          </a:p>
        </p:txBody>
      </p:sp>
      <p:sp>
        <p:nvSpPr>
          <p:cNvPr id="19" name="product-table-value-0-surface">
            <a:extLst xmlns:a="http://schemas.openxmlformats.org/drawingml/2006/main">
              <a:ext uri="{FF2B5EF4-FFF2-40B4-BE49-F238E27FC236}">
                <a16:creationId xmlns:a16="http://schemas.microsoft.com/office/drawing/2014/main" id="{36ACBC85-A8DC-4255-BA22-9903CB57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577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product-table-value-0-text">
            <a:extLst xmlns:a="http://schemas.openxmlformats.org/drawingml/2006/main">
              <a:ext uri="{FF2B5EF4-FFF2-40B4-BE49-F238E27FC236}">
                <a16:creationId xmlns:a16="http://schemas.microsoft.com/office/drawing/2014/main" id="{FFEEFD15-741C-4F8F-896C-D6FDB8F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33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2429715</a:t>
            </a:r>
          </a:p>
        </p:txBody>
      </p:sp>
      <p:sp>
        <p:nvSpPr>
          <p:cNvPr id="21" name="product-table-value-1-surface">
            <a:extLst xmlns:a="http://schemas.openxmlformats.org/drawingml/2006/main">
              <a:ext uri="{FF2B5EF4-FFF2-40B4-BE49-F238E27FC236}">
                <a16:creationId xmlns:a16="http://schemas.microsoft.com/office/drawing/2014/main" id="{DF5E4EF0-DFDE-4289-9A25-CA3639D9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781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2" name="product-table-value-1-text">
            <a:extLst xmlns:a="http://schemas.openxmlformats.org/drawingml/2006/main">
              <a:ext uri="{FF2B5EF4-FFF2-40B4-BE49-F238E27FC236}">
                <a16:creationId xmlns:a16="http://schemas.microsoft.com/office/drawing/2014/main" id="{EE1827C4-698B-47BB-BA64-534DC2D4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3390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3" name="product-table-value-2-surface">
            <a:extLst xmlns:a="http://schemas.openxmlformats.org/drawingml/2006/main">
              <a:ext uri="{FF2B5EF4-FFF2-40B4-BE49-F238E27FC236}">
                <a16:creationId xmlns:a16="http://schemas.microsoft.com/office/drawing/2014/main" id="{E929B07B-6336-4CD5-9229-D88479E8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57700"/>
            <a:ext cx="14573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product-table-value-2-text">
            <a:extLst xmlns:a="http://schemas.openxmlformats.org/drawingml/2006/main">
              <a:ext uri="{FF2B5EF4-FFF2-40B4-BE49-F238E27FC236}">
                <a16:creationId xmlns:a16="http://schemas.microsoft.com/office/drawing/2014/main" id="{070E24D8-3F7D-458E-82C7-D10827EB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33900"/>
            <a:ext cx="1304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265ml</a:t>
            </a:r>
          </a:p>
        </p:txBody>
      </p:sp>
      <p:sp>
        <p:nvSpPr>
          <p:cNvPr id="25" name="product-table-value-3-surface">
            <a:extLst xmlns:a="http://schemas.openxmlformats.org/drawingml/2006/main">
              <a:ext uri="{FF2B5EF4-FFF2-40B4-BE49-F238E27FC236}">
                <a16:creationId xmlns:a16="http://schemas.microsoft.com/office/drawing/2014/main" id="{AD5A38ED-DBB1-410B-8437-61B38E2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577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6" name="product-table-value-3-text">
            <a:extLst xmlns:a="http://schemas.openxmlformats.org/drawingml/2006/main">
              <a:ext uri="{FF2B5EF4-FFF2-40B4-BE49-F238E27FC236}">
                <a16:creationId xmlns:a16="http://schemas.microsoft.com/office/drawing/2014/main" id="{BF834963-461B-4F62-8000-DEA295EB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33900"/>
            <a:ext cx="91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9.9元</a:t>
            </a:r>
          </a:p>
        </p:txBody>
      </p:sp>
      <p:sp>
        <p:nvSpPr>
          <p:cNvPr id="27" name="selling-point-highlight">
            <a:extLst xmlns:a="http://schemas.openxmlformats.org/drawingml/2006/main">
              <a:ext uri="{FF2B5EF4-FFF2-40B4-BE49-F238E27FC236}">
                <a16:creationId xmlns:a16="http://schemas.microsoft.com/office/drawing/2014/main" id="{29EA4A5A-87AE-4858-B1CD-647E57C5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81600"/>
            <a:ext cx="44481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lling-point">
            <a:extLst xmlns:a="http://schemas.openxmlformats.org/drawingml/2006/main">
              <a:ext uri="{FF2B5EF4-FFF2-40B4-BE49-F238E27FC236}">
                <a16:creationId xmlns:a16="http://schemas.microsoft.com/office/drawing/2014/main" id="{F0D09D03-914F-4E12-9989-2F5C1DE8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4238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一句话卖点：宝宝去火，温和安全，甘甜又好喝</a:t>
            </a:r>
          </a:p>
        </p:txBody>
      </p:sp>
      <p:sp>
        <p:nvSpPr>
          <p:cNvPr id="2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931EF60-506D-403B-B6A7-5EDAC3C5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971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一、商品介绍：</a:t>
            </a:r>
          </a:p>
        </p:txBody>
      </p:sp>
      <p:sp>
        <p:nvSpPr>
          <p:cNvPr id="30" name="section-0-item-0">
            <a:extLst xmlns:a="http://schemas.openxmlformats.org/drawingml/2006/main">
              <a:ext uri="{FF2B5EF4-FFF2-40B4-BE49-F238E27FC236}">
                <a16:creationId xmlns:a16="http://schemas.microsoft.com/office/drawing/2014/main" id="{63A26BB1-213E-499E-ACE5-4994195E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3430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1、主要成分：金银花</a:t>
            </a:r>
          </a:p>
        </p:txBody>
      </p:sp>
      <p:sp>
        <p:nvSpPr>
          <p:cNvPr id="31" name="section-0-item-1">
            <a:extLst xmlns:a="http://schemas.openxmlformats.org/drawingml/2006/main">
              <a:ext uri="{FF2B5EF4-FFF2-40B4-BE49-F238E27FC236}">
                <a16:creationId xmlns:a16="http://schemas.microsoft.com/office/drawing/2014/main" id="{FDA24C82-0A94-4797-BD0D-6EF2EC6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859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2、功能主治：清热解毒。用于小儿痱毒，暑热口渴</a:t>
            </a:r>
          </a:p>
        </p:txBody>
      </p:sp>
      <p:sp>
        <p:nvSpPr>
          <p:cNvPr id="32" name="section-0-item-2">
            <a:extLst xmlns:a="http://schemas.openxmlformats.org/drawingml/2006/main">
              <a:ext uri="{FF2B5EF4-FFF2-40B4-BE49-F238E27FC236}">
                <a16:creationId xmlns:a16="http://schemas.microsoft.com/office/drawing/2014/main" id="{8BA5D8D5-D570-4A7E-B809-A3D72D0C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2882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3、用法用量：口服。一次60～120毫升，一日2～3次。</a:t>
            </a:r>
          </a:p>
        </p:txBody>
      </p:sp>
      <p:sp>
        <p:nvSpPr>
          <p:cNvPr id="33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D22ADF62-A90B-4772-989F-CF77CED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669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二、核心卖点：</a:t>
            </a:r>
          </a:p>
        </p:txBody>
      </p:sp>
      <p:sp>
        <p:nvSpPr>
          <p:cNvPr id="34" name="section-1-item-0">
            <a:extLst xmlns:a="http://schemas.openxmlformats.org/drawingml/2006/main">
              <a:ext uri="{FF2B5EF4-FFF2-40B4-BE49-F238E27FC236}">
                <a16:creationId xmlns:a16="http://schemas.microsoft.com/office/drawing/2014/main" id="{AACB0BB4-4C62-417B-8A9B-05AA0BFF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38425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1、专为小儿体质设计，温和不伤胃：单方金银花制剂，药性平和，清热去火不损伤婴幼儿娇嫩肠胃。</a:t>
            </a:r>
          </a:p>
        </p:txBody>
      </p:sp>
      <p:sp>
        <p:nvSpPr>
          <p:cNvPr id="35" name="section-1-item-1">
            <a:extLst xmlns:a="http://schemas.openxmlformats.org/drawingml/2006/main">
              <a:ext uri="{FF2B5EF4-FFF2-40B4-BE49-F238E27FC236}">
                <a16:creationId xmlns:a16="http://schemas.microsoft.com/office/drawing/2014/main" id="{5A923B51-511A-4A81-9F6C-E10D6FA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19450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2、药食同源，安全无添加：无添加色素，药食同源。</a:t>
            </a:r>
          </a:p>
        </p:txBody>
      </p:sp>
      <p:sp>
        <p:nvSpPr>
          <p:cNvPr id="36" name="section-1-item-2">
            <a:extLst xmlns:a="http://schemas.openxmlformats.org/drawingml/2006/main">
              <a:ext uri="{FF2B5EF4-FFF2-40B4-BE49-F238E27FC236}">
                <a16:creationId xmlns:a16="http://schemas.microsoft.com/office/drawing/2014/main" id="{C120F104-F7A2-454D-A753-45F9825C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00475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3、靶向解决小儿夏季常见问题：精准应对痱毒、暑热口渴、小便黄、咽喉不适等夏季上火症状，一瓶多效。</a:t>
            </a:r>
          </a:p>
        </p:txBody>
      </p:sp>
      <p:sp>
        <p:nvSpPr>
          <p:cNvPr id="37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ECC4CD24-34C9-4806-8D44-FC61BDE2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48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三、适宜人群：</a:t>
            </a:r>
          </a:p>
        </p:txBody>
      </p:sp>
      <p:sp>
        <p:nvSpPr>
          <p:cNvPr id="38" name="section-2-item-0">
            <a:extLst xmlns:a="http://schemas.openxmlformats.org/drawingml/2006/main">
              <a:ext uri="{FF2B5EF4-FFF2-40B4-BE49-F238E27FC236}">
                <a16:creationId xmlns:a16="http://schemas.microsoft.com/office/drawing/2014/main" id="{B3DF0C22-4314-4E77-B6A2-7E6840B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0196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1、夏季易生痱子的幼儿；</a:t>
            </a:r>
          </a:p>
        </p:txBody>
      </p:sp>
      <p:sp>
        <p:nvSpPr>
          <p:cNvPr id="39" name="section-2-item-1">
            <a:extLst xmlns:a="http://schemas.openxmlformats.org/drawingml/2006/main">
              <a:ext uri="{FF2B5EF4-FFF2-40B4-BE49-F238E27FC236}">
                <a16:creationId xmlns:a16="http://schemas.microsoft.com/office/drawing/2014/main" id="{4E9EA74D-B4C0-49C4-A6DD-082AA89C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625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2、上火症状明显的儿童；</a:t>
            </a:r>
          </a:p>
        </p:txBody>
      </p:sp>
      <p:sp>
        <p:nvSpPr>
          <p:cNvPr id="40" name="section-2-item-2">
            <a:extLst xmlns:a="http://schemas.openxmlformats.org/drawingml/2006/main">
              <a:ext uri="{FF2B5EF4-FFF2-40B4-BE49-F238E27FC236}">
                <a16:creationId xmlns:a16="http://schemas.microsoft.com/office/drawing/2014/main" id="{97CA60AC-6B88-42E7-8C64-D1E1C5F3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05475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3、暑热烦渴、食欲不振的儿童。</a:t>
            </a:r>
          </a:p>
        </p:txBody>
      </p:sp>
    </p:spTree>
    <p:extLst>
      <p:ext uri="{BB962C8B-B14F-4D97-AF65-F5344CB8AC3E}">
        <p14:creationId xmlns:p14="http://schemas.microsoft.com/office/powerpoint/2010/main" val="888957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F3028CBF-ABDD-4DE5-A114-058D14D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46BC8110-18CF-427E-B127-5AF7DA7D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D36101B8-0A0C-42E0-B689-10335F0D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31D0D1-9CD6-4838-8476-FC6DA2F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BFFC1D44-508F-4C47-8E95-3579E1A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联合用药话术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954A0761-9B74-4185-B3EF-FDDE06F4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7A6531C2-230F-4DD6-BC2B-6A4C085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combination-head-0-surface">
            <a:extLst xmlns:a="http://schemas.openxmlformats.org/drawingml/2006/main">
              <a:ext uri="{FF2B5EF4-FFF2-40B4-BE49-F238E27FC236}">
                <a16:creationId xmlns:a16="http://schemas.microsoft.com/office/drawing/2014/main" id="{CFE034DF-89B7-42D9-8777-0A1A8131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144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combination-head-0-text">
            <a:extLst xmlns:a="http://schemas.openxmlformats.org/drawingml/2006/main">
              <a:ext uri="{FF2B5EF4-FFF2-40B4-BE49-F238E27FC236}">
                <a16:creationId xmlns:a16="http://schemas.microsoft.com/office/drawing/2014/main" id="{20D4DD8A-FDE6-400A-BCC1-5D3F6958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9060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应用场景（适宜人群）</a:t>
            </a:r>
          </a:p>
        </p:txBody>
      </p:sp>
      <p:sp>
        <p:nvSpPr>
          <p:cNvPr id="10" name="combination-head-1-surface">
            <a:extLst xmlns:a="http://schemas.openxmlformats.org/drawingml/2006/main">
              <a:ext uri="{FF2B5EF4-FFF2-40B4-BE49-F238E27FC236}">
                <a16:creationId xmlns:a16="http://schemas.microsoft.com/office/drawing/2014/main" id="{E13FABDA-8936-4B60-910D-6EF7709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14400"/>
            <a:ext cx="1666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combination-head-1-text">
            <a:extLst xmlns:a="http://schemas.openxmlformats.org/drawingml/2006/main">
              <a:ext uri="{FF2B5EF4-FFF2-40B4-BE49-F238E27FC236}">
                <a16:creationId xmlns:a16="http://schemas.microsoft.com/office/drawing/2014/main" id="{2D6B04F4-DD21-4931-B3D8-47DCADE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90600"/>
            <a:ext cx="1514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联合用药</a:t>
            </a:r>
          </a:p>
        </p:txBody>
      </p:sp>
      <p:sp>
        <p:nvSpPr>
          <p:cNvPr id="12" name="combination-head-2-surface">
            <a:extLst xmlns:a="http://schemas.openxmlformats.org/drawingml/2006/main">
              <a:ext uri="{FF2B5EF4-FFF2-40B4-BE49-F238E27FC236}">
                <a16:creationId xmlns:a16="http://schemas.microsoft.com/office/drawing/2014/main" id="{C139B00E-537F-4BCC-BAC1-1E5FE09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9144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combination-head-2-text">
            <a:extLst xmlns:a="http://schemas.openxmlformats.org/drawingml/2006/main">
              <a:ext uri="{FF2B5EF4-FFF2-40B4-BE49-F238E27FC236}">
                <a16:creationId xmlns:a16="http://schemas.microsoft.com/office/drawing/2014/main" id="{EB55DBB5-1951-4A57-A4A3-F426C334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990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联合商品图</a:t>
            </a:r>
          </a:p>
        </p:txBody>
      </p:sp>
      <p:sp>
        <p:nvSpPr>
          <p:cNvPr id="14" name="combination-head-3-surface">
            <a:extLst xmlns:a="http://schemas.openxmlformats.org/drawingml/2006/main">
              <a:ext uri="{FF2B5EF4-FFF2-40B4-BE49-F238E27FC236}">
                <a16:creationId xmlns:a16="http://schemas.microsoft.com/office/drawing/2014/main" id="{74B64EA7-667F-4945-BDE0-4740154A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1440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combination-head-3-text">
            <a:extLst xmlns:a="http://schemas.openxmlformats.org/drawingml/2006/main">
              <a:ext uri="{FF2B5EF4-FFF2-40B4-BE49-F238E27FC236}">
                <a16:creationId xmlns:a16="http://schemas.microsoft.com/office/drawing/2014/main" id="{E5A2F92B-966B-4750-BB8B-DAF19DD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9906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本品图</a:t>
            </a:r>
          </a:p>
        </p:txBody>
      </p:sp>
      <p:sp>
        <p:nvSpPr>
          <p:cNvPr id="16" name="combination-head-4-surface">
            <a:extLst xmlns:a="http://schemas.openxmlformats.org/drawingml/2006/main">
              <a:ext uri="{FF2B5EF4-FFF2-40B4-BE49-F238E27FC236}">
                <a16:creationId xmlns:a16="http://schemas.microsoft.com/office/drawing/2014/main" id="{7AEA13FA-B226-401D-9333-4AD5820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914400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combination-head-4-text">
            <a:extLst xmlns:a="http://schemas.openxmlformats.org/drawingml/2006/main">
              <a:ext uri="{FF2B5EF4-FFF2-40B4-BE49-F238E27FC236}">
                <a16:creationId xmlns:a16="http://schemas.microsoft.com/office/drawing/2014/main" id="{D2D7E454-4C56-4B34-A24C-059FD37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990600"/>
            <a:ext cx="4276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销售话术</a:t>
            </a:r>
          </a:p>
        </p:txBody>
      </p:sp>
      <p:sp>
        <p:nvSpPr>
          <p:cNvPr id="18" name="combination-scenario-0-surface">
            <a:extLst xmlns:a="http://schemas.openxmlformats.org/drawingml/2006/main">
              <a:ext uri="{FF2B5EF4-FFF2-40B4-BE49-F238E27FC236}">
                <a16:creationId xmlns:a16="http://schemas.microsoft.com/office/drawing/2014/main" id="{7D7B4A89-78E8-49EC-A4B3-F3CF20A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142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combination-scenario-0-text">
            <a:extLst xmlns:a="http://schemas.openxmlformats.org/drawingml/2006/main">
              <a:ext uri="{FF2B5EF4-FFF2-40B4-BE49-F238E27FC236}">
                <a16:creationId xmlns:a16="http://schemas.microsoft.com/office/drawing/2014/main" id="{7397024A-ED98-4247-B92F-243C3F7D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43050"/>
            <a:ext cx="1276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风热感冒引起的咽喉肿痛</a:t>
            </a:r>
          </a:p>
        </p:txBody>
      </p:sp>
      <p:sp>
        <p:nvSpPr>
          <p:cNvPr id="20" name="combination-name-0-surface">
            <a:extLst xmlns:a="http://schemas.openxmlformats.org/drawingml/2006/main">
              <a:ext uri="{FF2B5EF4-FFF2-40B4-BE49-F238E27FC236}">
                <a16:creationId xmlns:a16="http://schemas.microsoft.com/office/drawing/2014/main" id="{987A99CF-2F75-464C-B900-471929C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66850"/>
            <a:ext cx="166687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combination-name-0-text">
            <a:extLst xmlns:a="http://schemas.openxmlformats.org/drawingml/2006/main">
              <a:ext uri="{FF2B5EF4-FFF2-40B4-BE49-F238E27FC236}">
                <a16:creationId xmlns:a16="http://schemas.microsoft.com/office/drawing/2014/main" id="{2319CA68-6488-488F-8253-41505F4C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43050"/>
            <a:ext cx="15144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金银花露 + 小儿咽扁颗粒</a:t>
            </a:r>
          </a:p>
        </p:txBody>
      </p:sp>
      <p:sp>
        <p:nvSpPr>
          <p:cNvPr id="22" name="combination-partner-surface-0">
            <a:extLst xmlns:a="http://schemas.openxmlformats.org/drawingml/2006/main">
              <a:ext uri="{FF2B5EF4-FFF2-40B4-BE49-F238E27FC236}">
                <a16:creationId xmlns:a16="http://schemas.microsoft.com/office/drawing/2014/main" id="{F14978EA-8526-4919-AA51-8032CAA3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66850"/>
            <a:ext cx="2190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partner-slot-0-surface">
            <a:extLst xmlns:a="http://schemas.openxmlformats.org/drawingml/2006/main">
              <a:ext uri="{FF2B5EF4-FFF2-40B4-BE49-F238E27FC236}">
                <a16:creationId xmlns:a16="http://schemas.microsoft.com/office/drawing/2014/main" id="{23F60573-A963-4732-9ADF-9FDF4943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00200"/>
            <a:ext cx="1809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4" name="partner-slot-0-label">
            <a:extLst xmlns:a="http://schemas.openxmlformats.org/drawingml/2006/main">
              <a:ext uri="{FF2B5EF4-FFF2-40B4-BE49-F238E27FC236}">
                <a16:creationId xmlns:a16="http://schemas.microsoft.com/office/drawing/2014/main" id="{6D4B2A28-D83D-47B3-96AF-641CAA6A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669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小儿咽扁颗粒（康乐仔）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  <p:sp>
        <p:nvSpPr>
          <p:cNvPr id="25" name="combination-talk-0-surface">
            <a:extLst xmlns:a="http://schemas.openxmlformats.org/drawingml/2006/main">
              <a:ext uri="{FF2B5EF4-FFF2-40B4-BE49-F238E27FC236}">
                <a16:creationId xmlns:a16="http://schemas.microsoft.com/office/drawing/2014/main" id="{13007818-0977-4AE4-BF63-9334C0F4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66850"/>
            <a:ext cx="4429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combination-talk-0-text">
            <a:extLst xmlns:a="http://schemas.openxmlformats.org/drawingml/2006/main">
              <a:ext uri="{FF2B5EF4-FFF2-40B4-BE49-F238E27FC236}">
                <a16:creationId xmlns:a16="http://schemas.microsoft.com/office/drawing/2014/main" id="{E4372ADE-33FC-44D0-ACB3-6B83FF5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543050"/>
            <a:ext cx="4276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小儿咽扁颗粒直击咽喉炎症，消肿止痛；金银花露清解内热，辅助降火。二者联用，内外兼治，加速缓解咽喉肿痛、暑热烦躁。</a:t>
            </a:r>
          </a:p>
        </p:txBody>
      </p:sp>
      <p:sp>
        <p:nvSpPr>
          <p:cNvPr id="27" name="combination-scenario-1-surface">
            <a:extLst xmlns:a="http://schemas.openxmlformats.org/drawingml/2006/main">
              <a:ext uri="{FF2B5EF4-FFF2-40B4-BE49-F238E27FC236}">
                <a16:creationId xmlns:a16="http://schemas.microsoft.com/office/drawing/2014/main" id="{C4EF9334-EF48-4E35-8ED5-7A023EC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43250"/>
            <a:ext cx="1428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combination-scenario-1-text">
            <a:extLst xmlns:a="http://schemas.openxmlformats.org/drawingml/2006/main">
              <a:ext uri="{FF2B5EF4-FFF2-40B4-BE49-F238E27FC236}">
                <a16:creationId xmlns:a16="http://schemas.microsoft.com/office/drawing/2014/main" id="{3BA24BB2-6EE1-41A9-AA6F-BF8FA779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19450"/>
            <a:ext cx="12763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风热感冒引起的发热、鼻塞流涕</a:t>
            </a:r>
          </a:p>
        </p:txBody>
      </p:sp>
      <p:sp>
        <p:nvSpPr>
          <p:cNvPr id="29" name="combination-name-1-surface">
            <a:extLst xmlns:a="http://schemas.openxmlformats.org/drawingml/2006/main">
              <a:ext uri="{FF2B5EF4-FFF2-40B4-BE49-F238E27FC236}">
                <a16:creationId xmlns:a16="http://schemas.microsoft.com/office/drawing/2014/main" id="{320020A1-957E-4C1B-8FDC-A72A7ADC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16668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combination-name-1-text">
            <a:extLst xmlns:a="http://schemas.openxmlformats.org/drawingml/2006/main">
              <a:ext uri="{FF2B5EF4-FFF2-40B4-BE49-F238E27FC236}">
                <a16:creationId xmlns:a16="http://schemas.microsoft.com/office/drawing/2014/main" id="{40E6DB3D-52D6-41A4-BD68-1B7ABDD1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19450"/>
            <a:ext cx="15144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金银花露 + 小儿氨酚黄那敏颗粒</a:t>
            </a:r>
          </a:p>
        </p:txBody>
      </p:sp>
      <p:sp>
        <p:nvSpPr>
          <p:cNvPr id="31" name="combination-partner-surface-1">
            <a:extLst xmlns:a="http://schemas.openxmlformats.org/drawingml/2006/main">
              <a:ext uri="{FF2B5EF4-FFF2-40B4-BE49-F238E27FC236}">
                <a16:creationId xmlns:a16="http://schemas.microsoft.com/office/drawing/2014/main" id="{03F50EB9-1D41-49A1-B6AA-51B578B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43250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partner-slot-1-surface">
            <a:extLst xmlns:a="http://schemas.openxmlformats.org/drawingml/2006/main">
              <a:ext uri="{FF2B5EF4-FFF2-40B4-BE49-F238E27FC236}">
                <a16:creationId xmlns:a16="http://schemas.microsoft.com/office/drawing/2014/main" id="{A94B0D61-20DF-4BF0-939B-E9F72AFD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76600"/>
            <a:ext cx="18097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33" name="partner-slot-1-label">
            <a:extLst xmlns:a="http://schemas.openxmlformats.org/drawingml/2006/main">
              <a:ext uri="{FF2B5EF4-FFF2-40B4-BE49-F238E27FC236}">
                <a16:creationId xmlns:a16="http://schemas.microsoft.com/office/drawing/2014/main" id="{22DD06FD-9E7E-493C-B21D-E8E20DB5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738563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小儿氨酚黄那敏颗粒（康乐仔）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  <p:sp>
        <p:nvSpPr>
          <p:cNvPr id="34" name="combination-talk-1-surface">
            <a:extLst xmlns:a="http://schemas.openxmlformats.org/drawingml/2006/main">
              <a:ext uri="{FF2B5EF4-FFF2-40B4-BE49-F238E27FC236}">
                <a16:creationId xmlns:a16="http://schemas.microsoft.com/office/drawing/2014/main" id="{A5B5237D-8F3C-49DE-B834-CCAEBD02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43250"/>
            <a:ext cx="44291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combination-talk-1-text">
            <a:extLst xmlns:a="http://schemas.openxmlformats.org/drawingml/2006/main">
              <a:ext uri="{FF2B5EF4-FFF2-40B4-BE49-F238E27FC236}">
                <a16:creationId xmlns:a16="http://schemas.microsoft.com/office/drawing/2014/main" id="{3F6149B3-DF30-4229-AD73-1801564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19450"/>
            <a:ext cx="42767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小儿氨酚黄那敏颗粒用于缓解感冒症状，帮助退热、通鼻塞、止咳；金银花露清热解毒、利咽消肿。二者搭配，一个缓解外在症状，一个清解内热，快速缓解不适。</a:t>
            </a:r>
          </a:p>
        </p:txBody>
      </p:sp>
      <p:sp>
        <p:nvSpPr>
          <p:cNvPr id="36" name="combination-scenario-2-surface">
            <a:extLst xmlns:a="http://schemas.openxmlformats.org/drawingml/2006/main">
              <a:ext uri="{FF2B5EF4-FFF2-40B4-BE49-F238E27FC236}">
                <a16:creationId xmlns:a16="http://schemas.microsoft.com/office/drawing/2014/main" id="{11BD32C0-38C4-4B4E-A1F3-B9705365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1428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combination-scenario-2-text">
            <a:extLst xmlns:a="http://schemas.openxmlformats.org/drawingml/2006/main">
              <a:ext uri="{FF2B5EF4-FFF2-40B4-BE49-F238E27FC236}">
                <a16:creationId xmlns:a16="http://schemas.microsoft.com/office/drawing/2014/main" id="{F2BEB556-32CE-470A-B476-0B21DE75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86325"/>
            <a:ext cx="12763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风热/肺热引起的咳嗽</a:t>
            </a:r>
          </a:p>
        </p:txBody>
      </p:sp>
      <p:sp>
        <p:nvSpPr>
          <p:cNvPr id="38" name="combination-name-2-surface">
            <a:extLst xmlns:a="http://schemas.openxmlformats.org/drawingml/2006/main">
              <a:ext uri="{FF2B5EF4-FFF2-40B4-BE49-F238E27FC236}">
                <a16:creationId xmlns:a16="http://schemas.microsoft.com/office/drawing/2014/main" id="{E1E4082A-1D7F-4882-8B37-5BAB2E69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16668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combination-name-2-text">
            <a:extLst xmlns:a="http://schemas.openxmlformats.org/drawingml/2006/main">
              <a:ext uri="{FF2B5EF4-FFF2-40B4-BE49-F238E27FC236}">
                <a16:creationId xmlns:a16="http://schemas.microsoft.com/office/drawing/2014/main" id="{9C56F9CC-3971-4872-96D0-D9E3612A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86325"/>
            <a:ext cx="15144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金银花露 + 氨溴特罗口服溶液</a:t>
            </a:r>
          </a:p>
        </p:txBody>
      </p:sp>
      <p:sp>
        <p:nvSpPr>
          <p:cNvPr id="40" name="combination-partner-surface-2">
            <a:extLst xmlns:a="http://schemas.openxmlformats.org/drawingml/2006/main">
              <a:ext uri="{FF2B5EF4-FFF2-40B4-BE49-F238E27FC236}">
                <a16:creationId xmlns:a16="http://schemas.microsoft.com/office/drawing/2014/main" id="{72A609B9-AB03-432B-920D-89750BBD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partner-slot-2-surface">
            <a:extLst xmlns:a="http://schemas.openxmlformats.org/drawingml/2006/main">
              <a:ext uri="{FF2B5EF4-FFF2-40B4-BE49-F238E27FC236}">
                <a16:creationId xmlns:a16="http://schemas.microsoft.com/office/drawing/2014/main" id="{8F86CCA1-52D1-48AE-B9F7-9F501D1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943475"/>
            <a:ext cx="18097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42" name="partner-slot-2-label">
            <a:extLst xmlns:a="http://schemas.openxmlformats.org/drawingml/2006/main">
              <a:ext uri="{FF2B5EF4-FFF2-40B4-BE49-F238E27FC236}">
                <a16:creationId xmlns:a16="http://schemas.microsoft.com/office/drawing/2014/main" id="{9DFFBB5F-0843-499E-852E-55304777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405438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氨溴特罗口服溶液（康乐仔）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  <p:sp>
        <p:nvSpPr>
          <p:cNvPr id="43" name="combination-talk-2-surface">
            <a:extLst xmlns:a="http://schemas.openxmlformats.org/drawingml/2006/main">
              <a:ext uri="{FF2B5EF4-FFF2-40B4-BE49-F238E27FC236}">
                <a16:creationId xmlns:a16="http://schemas.microsoft.com/office/drawing/2014/main" id="{9A02948E-DC00-4076-B431-FC38798B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810125"/>
            <a:ext cx="44291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combination-talk-2-text">
            <a:extLst xmlns:a="http://schemas.openxmlformats.org/drawingml/2006/main">
              <a:ext uri="{FF2B5EF4-FFF2-40B4-BE49-F238E27FC236}">
                <a16:creationId xmlns:a16="http://schemas.microsoft.com/office/drawing/2014/main" id="{97F75554-9245-40FB-8BBF-C545F67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886325"/>
            <a:ext cx="42767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肺炎光排痰不够，还需清肺热。氨溴特罗化痰止咳，金银花露清肺消炎；两个搭着用，炎症消得快，咳喘好得快。</a:t>
            </a:r>
          </a:p>
        </p:txBody>
      </p:sp>
      <p:sp>
        <p:nvSpPr>
          <p:cNvPr id="45" name="combination-primary-merge-surface">
            <a:extLst xmlns:a="http://schemas.openxmlformats.org/drawingml/2006/main">
              <a:ext uri="{FF2B5EF4-FFF2-40B4-BE49-F238E27FC236}">
                <a16:creationId xmlns:a16="http://schemas.microsoft.com/office/drawing/2014/main" id="{B972EA83-F9FC-4D3A-A952-B743077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66850"/>
            <a:ext cx="19050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B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combination-primary-divider">
            <a:extLst xmlns:a="http://schemas.openxmlformats.org/drawingml/2006/main">
              <a:ext uri="{FF2B5EF4-FFF2-40B4-BE49-F238E27FC236}">
                <a16:creationId xmlns:a16="http://schemas.microsoft.com/office/drawing/2014/main" id="{9459A425-333D-44B0-A929-8559F681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66850"/>
            <a:ext cx="28575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mbination-plus">
            <a:extLst xmlns:a="http://schemas.openxmlformats.org/drawingml/2006/main">
              <a:ext uri="{FF2B5EF4-FFF2-40B4-BE49-F238E27FC236}">
                <a16:creationId xmlns:a16="http://schemas.microsoft.com/office/drawing/2014/main" id="{651AA28D-B211-4558-A1E9-1C44B264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705225"/>
            <a:ext cx="38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60012"/>
                </a:solidFill>
              </a:defRPr>
            </a:pPr>
            <a:r>
              <a:rPr sz="3000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+</a:t>
            </a:r>
          </a:p>
        </p:txBody>
      </p:sp>
      <p:sp>
        <p:nvSpPr>
          <p:cNvPr id="48" name="combination-primary-product-surface">
            <a:extLst xmlns:a="http://schemas.openxmlformats.org/drawingml/2006/main">
              <a:ext uri="{FF2B5EF4-FFF2-40B4-BE49-F238E27FC236}">
                <a16:creationId xmlns:a16="http://schemas.microsoft.com/office/drawing/2014/main" id="{0EF9ED74-EBF0-44D0-9778-62382728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38425"/>
            <a:ext cx="1238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49" name="combination-primary-product-label">
            <a:extLst xmlns:a="http://schemas.openxmlformats.org/drawingml/2006/main">
              <a:ext uri="{FF2B5EF4-FFF2-40B4-BE49-F238E27FC236}">
                <a16:creationId xmlns:a16="http://schemas.microsoft.com/office/drawing/2014/main" id="{018EA3BC-42DE-4131-A967-3A0CBBC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金银花露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包装图待接入</a:t>
            </a:r>
          </a:p>
        </p:txBody>
      </p:sp>
    </p:spTree>
    <p:extLst>
      <p:ext uri="{BB962C8B-B14F-4D97-AF65-F5344CB8AC3E}">
        <p14:creationId xmlns:p14="http://schemas.microsoft.com/office/powerpoint/2010/main" val="259707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20332979-083C-43B3-948B-BEC39A5D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16B3C0D3-041B-4472-8CDF-803B794B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D64FAB19-1D6C-4504-9BCA-9F931F61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9E9EB3-B6F4-4470-9BC2-76A82B0E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5588174D-5A15-4166-9EE6-14A46411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品种对标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56089812-5CE1-443B-9023-3F5F0FF4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276BA87D-0213-4FD4-BF82-E4155171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benchmark-head-0-surface">
            <a:extLst xmlns:a="http://schemas.openxmlformats.org/drawingml/2006/main">
              <a:ext uri="{FF2B5EF4-FFF2-40B4-BE49-F238E27FC236}">
                <a16:creationId xmlns:a16="http://schemas.microsoft.com/office/drawing/2014/main" id="{6FF0AC2C-8063-481B-ACC1-9EE7B37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benchmark-head-0-text">
            <a:extLst xmlns:a="http://schemas.openxmlformats.org/drawingml/2006/main">
              <a:ext uri="{FF2B5EF4-FFF2-40B4-BE49-F238E27FC236}">
                <a16:creationId xmlns:a16="http://schemas.microsoft.com/office/drawing/2014/main" id="{D420D62B-074F-4927-B532-BBA761AF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076325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对比维度</a:t>
            </a:r>
          </a:p>
        </p:txBody>
      </p:sp>
      <p:sp>
        <p:nvSpPr>
          <p:cNvPr id="10" name="benchmark-head-1-surface">
            <a:extLst xmlns:a="http://schemas.openxmlformats.org/drawingml/2006/main">
              <a:ext uri="{FF2B5EF4-FFF2-40B4-BE49-F238E27FC236}">
                <a16:creationId xmlns:a16="http://schemas.microsoft.com/office/drawing/2014/main" id="{80234700-60A2-451E-A438-67B7D49B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00125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benchmark-head-1-text">
            <a:extLst xmlns:a="http://schemas.openxmlformats.org/drawingml/2006/main">
              <a:ext uri="{FF2B5EF4-FFF2-40B4-BE49-F238E27FC236}">
                <a16:creationId xmlns:a16="http://schemas.microsoft.com/office/drawing/2014/main" id="{A63CE258-B3AF-47CC-919E-C114D26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07632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金银花露（可可康）</a:t>
            </a:r>
          </a:p>
        </p:txBody>
      </p:sp>
      <p:sp>
        <p:nvSpPr>
          <p:cNvPr id="12" name="benchmark-head-2-surface">
            <a:extLst xmlns:a="http://schemas.openxmlformats.org/drawingml/2006/main">
              <a:ext uri="{FF2B5EF4-FFF2-40B4-BE49-F238E27FC236}">
                <a16:creationId xmlns:a16="http://schemas.microsoft.com/office/drawing/2014/main" id="{D91134F2-6A04-4C83-B631-7549F5A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000125"/>
            <a:ext cx="466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benchmark-head-2-text">
            <a:extLst xmlns:a="http://schemas.openxmlformats.org/drawingml/2006/main">
              <a:ext uri="{FF2B5EF4-FFF2-40B4-BE49-F238E27FC236}">
                <a16:creationId xmlns:a16="http://schemas.microsoft.com/office/drawing/2014/main" id="{F33C258C-A1A3-40FE-A634-8984DD1A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076325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金银花露（小葵花露-葵花药业）</a:t>
            </a:r>
          </a:p>
        </p:txBody>
      </p:sp>
      <p:sp>
        <p:nvSpPr>
          <p:cNvPr id="14" name="benchmark-label-0-surface">
            <a:extLst xmlns:a="http://schemas.openxmlformats.org/drawingml/2006/main">
              <a:ext uri="{FF2B5EF4-FFF2-40B4-BE49-F238E27FC236}">
                <a16:creationId xmlns:a16="http://schemas.microsoft.com/office/drawing/2014/main" id="{808146D0-A93F-4938-972F-E0EEFB7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0675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benchmark-label-0-text">
            <a:extLst xmlns:a="http://schemas.openxmlformats.org/drawingml/2006/main">
              <a:ext uri="{FF2B5EF4-FFF2-40B4-BE49-F238E27FC236}">
                <a16:creationId xmlns:a16="http://schemas.microsoft.com/office/drawing/2014/main" id="{65A50B08-1CE2-44B3-ADEB-BAC8780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1562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产品展示</a:t>
            </a:r>
          </a:p>
        </p:txBody>
      </p:sp>
      <p:sp>
        <p:nvSpPr>
          <p:cNvPr id="16" name="benchmark-product-left-cell">
            <a:extLst xmlns:a="http://schemas.openxmlformats.org/drawingml/2006/main">
              <a:ext uri="{FF2B5EF4-FFF2-40B4-BE49-F238E27FC236}">
                <a16:creationId xmlns:a16="http://schemas.microsoft.com/office/drawing/2014/main" id="{D73D4219-5B0C-40CF-8D22-8AD9B11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90675"/>
            <a:ext cx="5048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benchmark-product-right-cell">
            <a:extLst xmlns:a="http://schemas.openxmlformats.org/drawingml/2006/main">
              <a:ext uri="{FF2B5EF4-FFF2-40B4-BE49-F238E27FC236}">
                <a16:creationId xmlns:a16="http://schemas.microsoft.com/office/drawing/2014/main" id="{789EC4A0-6A4D-46BD-900A-0A6DB98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90675"/>
            <a:ext cx="4667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benchmark-primary-packshot-surface">
            <a:extLst xmlns:a="http://schemas.openxmlformats.org/drawingml/2006/main">
              <a:ext uri="{FF2B5EF4-FFF2-40B4-BE49-F238E27FC236}">
                <a16:creationId xmlns:a16="http://schemas.microsoft.com/office/drawing/2014/main" id="{8EEB00A9-4B27-4AFB-83F9-BBE9FF0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133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4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19" name="benchmark-primary-packshot-label">
            <a:extLst xmlns:a="http://schemas.openxmlformats.org/drawingml/2006/main">
              <a:ext uri="{FF2B5EF4-FFF2-40B4-BE49-F238E27FC236}">
                <a16:creationId xmlns:a16="http://schemas.microsoft.com/office/drawing/2014/main" id="{B0E2D792-6515-4B31-8105-F94BE16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574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可可康包装图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20" name="benchmark-competitor-packshot-surface">
            <a:extLst xmlns:a="http://schemas.openxmlformats.org/drawingml/2006/main">
              <a:ext uri="{FF2B5EF4-FFF2-40B4-BE49-F238E27FC236}">
                <a16:creationId xmlns:a16="http://schemas.microsoft.com/office/drawing/2014/main" id="{0C17CA9F-3A07-4C93-8778-F881BD48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333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8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1" name="benchmark-competitor-packshot-label">
            <a:extLst xmlns:a="http://schemas.openxmlformats.org/drawingml/2006/main">
              <a:ext uri="{FF2B5EF4-FFF2-40B4-BE49-F238E27FC236}">
                <a16:creationId xmlns:a16="http://schemas.microsoft.com/office/drawing/2014/main" id="{6581F36C-F8D7-4C67-8E6E-CD6EE7E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竞品包装图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待接入</a:t>
            </a:r>
          </a:p>
        </p:txBody>
      </p:sp>
      <p:sp>
        <p:nvSpPr>
          <p:cNvPr id="22" name="benchmark-label-1-surface">
            <a:extLst xmlns:a="http://schemas.openxmlformats.org/drawingml/2006/main">
              <a:ext uri="{FF2B5EF4-FFF2-40B4-BE49-F238E27FC236}">
                <a16:creationId xmlns:a16="http://schemas.microsoft.com/office/drawing/2014/main" id="{02F062C0-71B4-413F-8734-8E8ADA18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004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benchmark-label-1-text">
            <a:extLst xmlns:a="http://schemas.openxmlformats.org/drawingml/2006/main">
              <a:ext uri="{FF2B5EF4-FFF2-40B4-BE49-F238E27FC236}">
                <a16:creationId xmlns:a16="http://schemas.microsoft.com/office/drawing/2014/main" id="{F472A183-0E4C-4C56-A465-D0473BA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766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功效主治</a:t>
            </a:r>
          </a:p>
        </p:txBody>
      </p:sp>
      <p:sp>
        <p:nvSpPr>
          <p:cNvPr id="24" name="benchmark-merged-1-surface">
            <a:extLst xmlns:a="http://schemas.openxmlformats.org/drawingml/2006/main">
              <a:ext uri="{FF2B5EF4-FFF2-40B4-BE49-F238E27FC236}">
                <a16:creationId xmlns:a16="http://schemas.microsoft.com/office/drawing/2014/main" id="{337A8204-E689-49D1-B526-EC221BA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00425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benchmark-merged-1-text">
            <a:extLst xmlns:a="http://schemas.openxmlformats.org/drawingml/2006/main">
              <a:ext uri="{FF2B5EF4-FFF2-40B4-BE49-F238E27FC236}">
                <a16:creationId xmlns:a16="http://schemas.microsoft.com/office/drawing/2014/main" id="{EB340492-BA0A-49D2-9C32-AB727DC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476625"/>
            <a:ext cx="956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清热解毒。用于小儿痱毒，暑热口渴</a:t>
            </a:r>
          </a:p>
        </p:txBody>
      </p:sp>
      <p:sp>
        <p:nvSpPr>
          <p:cNvPr id="26" name="benchmark-label-2-surface">
            <a:extLst xmlns:a="http://schemas.openxmlformats.org/drawingml/2006/main">
              <a:ext uri="{FF2B5EF4-FFF2-40B4-BE49-F238E27FC236}">
                <a16:creationId xmlns:a16="http://schemas.microsoft.com/office/drawing/2014/main" id="{9CDC7696-3F48-4DAE-83E6-1E9AB9C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862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benchmark-label-2-text">
            <a:extLst xmlns:a="http://schemas.openxmlformats.org/drawingml/2006/main">
              <a:ext uri="{FF2B5EF4-FFF2-40B4-BE49-F238E27FC236}">
                <a16:creationId xmlns:a16="http://schemas.microsoft.com/office/drawing/2014/main" id="{5FB896DB-711A-4693-B928-9430302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624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共有优势</a:t>
            </a:r>
          </a:p>
        </p:txBody>
      </p:sp>
      <p:sp>
        <p:nvSpPr>
          <p:cNvPr id="28" name="benchmark-merged-2-surface">
            <a:extLst xmlns:a="http://schemas.openxmlformats.org/drawingml/2006/main">
              <a:ext uri="{FF2B5EF4-FFF2-40B4-BE49-F238E27FC236}">
                <a16:creationId xmlns:a16="http://schemas.microsoft.com/office/drawing/2014/main" id="{204ED4F0-EA82-4D60-B4A7-6FEDAFAD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86225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benchmark-merged-2-text">
            <a:extLst xmlns:a="http://schemas.openxmlformats.org/drawingml/2006/main">
              <a:ext uri="{FF2B5EF4-FFF2-40B4-BE49-F238E27FC236}">
                <a16:creationId xmlns:a16="http://schemas.microsoft.com/office/drawing/2014/main" id="{2D96AB6B-F6ED-4EF0-AA86-0632BDAF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62425"/>
            <a:ext cx="9563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清甜好喝不抗拒，防漏瓶盖不浪费，宝宝自己就能喝</a:t>
            </a:r>
          </a:p>
        </p:txBody>
      </p:sp>
      <p:sp>
        <p:nvSpPr>
          <p:cNvPr id="30" name="benchmark-label-3-surface">
            <a:extLst xmlns:a="http://schemas.openxmlformats.org/drawingml/2006/main">
              <a:ext uri="{FF2B5EF4-FFF2-40B4-BE49-F238E27FC236}">
                <a16:creationId xmlns:a16="http://schemas.microsoft.com/office/drawing/2014/main" id="{C7180D4D-A806-4AF7-95B8-53D2275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772025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benchmark-label-3-text">
            <a:extLst xmlns:a="http://schemas.openxmlformats.org/drawingml/2006/main">
              <a:ext uri="{FF2B5EF4-FFF2-40B4-BE49-F238E27FC236}">
                <a16:creationId xmlns:a16="http://schemas.microsoft.com/office/drawing/2014/main" id="{17F83B02-FA8C-475F-9844-952D6FE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482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零售价</a:t>
            </a:r>
          </a:p>
        </p:txBody>
      </p:sp>
      <p:sp>
        <p:nvSpPr>
          <p:cNvPr id="32" name="benchmark-left-3-surface">
            <a:extLst xmlns:a="http://schemas.openxmlformats.org/drawingml/2006/main">
              <a:ext uri="{FF2B5EF4-FFF2-40B4-BE49-F238E27FC236}">
                <a16:creationId xmlns:a16="http://schemas.microsoft.com/office/drawing/2014/main" id="{28413388-8022-4DB4-A192-F93A99EE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72025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benchmark-left-3-text">
            <a:extLst xmlns:a="http://schemas.openxmlformats.org/drawingml/2006/main">
              <a:ext uri="{FF2B5EF4-FFF2-40B4-BE49-F238E27FC236}">
                <a16:creationId xmlns:a16="http://schemas.microsoft.com/office/drawing/2014/main" id="{E5015D27-6C08-430D-8DCA-81FA85D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48225"/>
            <a:ext cx="4895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9.9元（265ml）</a:t>
            </a:r>
          </a:p>
        </p:txBody>
      </p:sp>
      <p:sp>
        <p:nvSpPr>
          <p:cNvPr id="34" name="benchmark-right-3-surface">
            <a:extLst xmlns:a="http://schemas.openxmlformats.org/drawingml/2006/main">
              <a:ext uri="{FF2B5EF4-FFF2-40B4-BE49-F238E27FC236}">
                <a16:creationId xmlns:a16="http://schemas.microsoft.com/office/drawing/2014/main" id="{C01B922B-2753-43B7-935D-01E303E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72025"/>
            <a:ext cx="466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benchmark-right-3-text">
            <a:extLst xmlns:a="http://schemas.openxmlformats.org/drawingml/2006/main">
              <a:ext uri="{FF2B5EF4-FFF2-40B4-BE49-F238E27FC236}">
                <a16:creationId xmlns:a16="http://schemas.microsoft.com/office/drawing/2014/main" id="{B1A91687-74AB-49ED-AAC8-560C99B1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48225"/>
            <a:ext cx="4514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13.3元（250ml）</a:t>
            </a:r>
          </a:p>
        </p:txBody>
      </p:sp>
      <p:sp>
        <p:nvSpPr>
          <p:cNvPr id="36" name="benchmark-label-4-surface">
            <a:extLst xmlns:a="http://schemas.openxmlformats.org/drawingml/2006/main">
              <a:ext uri="{FF2B5EF4-FFF2-40B4-BE49-F238E27FC236}">
                <a16:creationId xmlns:a16="http://schemas.microsoft.com/office/drawing/2014/main" id="{6BE7AC1B-B9A8-4264-88EC-0737C11A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57825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benchmark-label-4-text">
            <a:extLst xmlns:a="http://schemas.openxmlformats.org/drawingml/2006/main">
              <a:ext uri="{FF2B5EF4-FFF2-40B4-BE49-F238E27FC236}">
                <a16:creationId xmlns:a16="http://schemas.microsoft.com/office/drawing/2014/main" id="{603B2769-86BB-4CE2-8411-3BAF30F4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534025"/>
            <a:ext cx="156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卖点差异</a:t>
            </a:r>
          </a:p>
        </p:txBody>
      </p:sp>
      <p:sp>
        <p:nvSpPr>
          <p:cNvPr id="38" name="benchmark-left-4-surface">
            <a:extLst xmlns:a="http://schemas.openxmlformats.org/drawingml/2006/main">
              <a:ext uri="{FF2B5EF4-FFF2-40B4-BE49-F238E27FC236}">
                <a16:creationId xmlns:a16="http://schemas.microsoft.com/office/drawing/2014/main" id="{A44A2711-345B-4E0A-A665-EE60359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57825"/>
            <a:ext cx="504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benchmark-left-4-text">
            <a:extLst xmlns:a="http://schemas.openxmlformats.org/drawingml/2006/main">
              <a:ext uri="{FF2B5EF4-FFF2-40B4-BE49-F238E27FC236}">
                <a16:creationId xmlns:a16="http://schemas.microsoft.com/office/drawing/2014/main" id="{DFBB67BA-B32F-4D0E-B1C9-12E7EFB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534025"/>
            <a:ext cx="489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0012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性价比高</a:t>
            </a:r>
          </a:p>
          <a:p xmlns:a="http://schemas.openxmlformats.org/drawingml/2006/main">
            <a:pPr algn="ctr">
              <a:defRPr sz="1350" b="1">
                <a:solidFill>
                  <a:srgbClr val="E60012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E60012"/>
                </a:solidFill>
              </a:rPr>
              <a:t>毛利率高</a:t>
            </a:r>
          </a:p>
        </p:txBody>
      </p:sp>
      <p:sp>
        <p:nvSpPr>
          <p:cNvPr id="40" name="benchmark-right-4-surface">
            <a:extLst xmlns:a="http://schemas.openxmlformats.org/drawingml/2006/main">
              <a:ext uri="{FF2B5EF4-FFF2-40B4-BE49-F238E27FC236}">
                <a16:creationId xmlns:a16="http://schemas.microsoft.com/office/drawing/2014/main" id="{597E2720-083B-435D-B57A-84537912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57825"/>
            <a:ext cx="466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1" name="benchmark-right-4-text">
            <a:extLst xmlns:a="http://schemas.openxmlformats.org/drawingml/2006/main">
              <a:ext uri="{FF2B5EF4-FFF2-40B4-BE49-F238E27FC236}">
                <a16:creationId xmlns:a16="http://schemas.microsoft.com/office/drawing/2014/main" id="{6B85CF67-1AEA-43F7-BC04-78B9F9F0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34025"/>
            <a:ext cx="451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262674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header-shadow-line">
            <a:extLst xmlns:a="http://schemas.openxmlformats.org/drawingml/2006/main">
              <a:ext uri="{FF2B5EF4-FFF2-40B4-BE49-F238E27FC236}">
                <a16:creationId xmlns:a16="http://schemas.microsoft.com/office/drawing/2014/main" id="{581EBB15-B978-4347-8FC5-C8F9527F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72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green-line">
            <a:extLst xmlns:a="http://schemas.openxmlformats.org/drawingml/2006/main">
              <a:ext uri="{FF2B5EF4-FFF2-40B4-BE49-F238E27FC236}">
                <a16:creationId xmlns:a16="http://schemas.microsoft.com/office/drawing/2014/main" id="{2E547FDE-3E30-4995-9E67-CD2E2AF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7225"/>
            <a:ext cx="11287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umber-block">
            <a:extLst xmlns:a="http://schemas.openxmlformats.org/drawingml/2006/main">
              <a:ext uri="{FF2B5EF4-FFF2-40B4-BE49-F238E27FC236}">
                <a16:creationId xmlns:a16="http://schemas.microsoft.com/office/drawing/2014/main" id="{2444C457-9E0E-4779-914E-1B5C96C6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0"/>
            <a:ext cx="666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1E1667-21F3-4042-903A-A6CA42D3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09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page-title">
            <a:extLst xmlns:a="http://schemas.openxmlformats.org/drawingml/2006/main">
              <a:ext uri="{FF2B5EF4-FFF2-40B4-BE49-F238E27FC236}">
                <a16:creationId xmlns:a16="http://schemas.microsoft.com/office/drawing/2014/main" id="{930594F5-3DBE-4BF9-9F30-3C11B312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注意事项</a:t>
            </a:r>
          </a:p>
        </p:txBody>
      </p:sp>
      <p:sp>
        <p:nvSpPr>
          <p:cNvPr id="6" name="brand-wordmark">
            <a:extLst xmlns:a="http://schemas.openxmlformats.org/drawingml/2006/main">
              <a:ext uri="{FF2B5EF4-FFF2-40B4-BE49-F238E27FC236}">
                <a16:creationId xmlns:a16="http://schemas.microsoft.com/office/drawing/2014/main" id="{81821918-6E69-4CA4-ABB1-88E6F8AC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145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A817"/>
                </a:solidFill>
              </a:defRPr>
            </a:pPr>
            <a:r>
              <a:rPr sz="1350" b="1">
                <a:latin typeface="Microsoft YaHei"/>
                <a:ea typeface="微软雅黑"/>
                <a:cs typeface="Microsoft YaHei"/>
                <a:solidFill>
                  <a:srgbClr val="45A817"/>
                </a:solidFill>
              </a:rPr>
              <a:t>大参林 dashenlin</a:t>
            </a:r>
          </a:p>
        </p:txBody>
      </p:sp>
      <p:sp>
        <p:nvSpPr>
          <p:cNvPr id="7" name="internal-notice">
            <a:extLst xmlns:a="http://schemas.openxmlformats.org/drawingml/2006/main">
              <a:ext uri="{FF2B5EF4-FFF2-40B4-BE49-F238E27FC236}">
                <a16:creationId xmlns:a16="http://schemas.microsoft.com/office/drawing/2014/main" id="{23A00648-19C6-4CBE-B75F-925DE585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</a:defRPr>
            </a:pPr>
            <a:r>
              <a:rPr sz="105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仅供内部学习</a:t>
            </a:r>
          </a:p>
        </p:txBody>
      </p:sp>
      <p:sp>
        <p:nvSpPr>
          <p:cNvPr id="8" name="precautions-label">
            <a:extLst xmlns:a="http://schemas.openxmlformats.org/drawingml/2006/main">
              <a:ext uri="{FF2B5EF4-FFF2-40B4-BE49-F238E27FC236}">
                <a16:creationId xmlns:a16="http://schemas.microsoft.com/office/drawing/2014/main" id="{D88E44E8-4A63-48A4-9230-C4010432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FFFFFF"/>
                </a:solidFill>
              </a:rPr>
              <a:t>注意事项：</a:t>
            </a:r>
          </a:p>
        </p:txBody>
      </p:sp>
      <p:sp>
        <p:nvSpPr>
          <p:cNvPr id="9" name="precaution-item-0">
            <a:extLst xmlns:a="http://schemas.openxmlformats.org/drawingml/2006/main">
              <a:ext uri="{FF2B5EF4-FFF2-40B4-BE49-F238E27FC236}">
                <a16:creationId xmlns:a16="http://schemas.microsoft.com/office/drawing/2014/main" id="{97709F9E-AFA5-4E38-90BD-30AFA221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1、服药时饮食宜清淡。</a:t>
            </a:r>
          </a:p>
        </p:txBody>
      </p:sp>
      <p:sp>
        <p:nvSpPr>
          <p:cNvPr id="10" name="precaution-item-1">
            <a:extLst xmlns:a="http://schemas.openxmlformats.org/drawingml/2006/main">
              <a:ext uri="{FF2B5EF4-FFF2-40B4-BE49-F238E27FC236}">
                <a16:creationId xmlns:a16="http://schemas.microsoft.com/office/drawing/2014/main" id="{D0FFD48B-58BD-4B6D-9AD5-1AA0F04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2、服用本药时，不宜同时服滋补性中成药。</a:t>
            </a:r>
          </a:p>
        </p:txBody>
      </p:sp>
      <p:sp>
        <p:nvSpPr>
          <p:cNvPr id="11" name="precaution-item-2">
            <a:extLst xmlns:a="http://schemas.openxmlformats.org/drawingml/2006/main">
              <a:ext uri="{FF2B5EF4-FFF2-40B4-BE49-F238E27FC236}">
                <a16:creationId xmlns:a16="http://schemas.microsoft.com/office/drawing/2014/main" id="{B4887807-2A7D-47E9-957E-A72C67B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3、脾虚大便溏者慎服。</a:t>
            </a:r>
          </a:p>
        </p:txBody>
      </p:sp>
      <p:sp>
        <p:nvSpPr>
          <p:cNvPr id="12" name="precaution-item-3">
            <a:extLst xmlns:a="http://schemas.openxmlformats.org/drawingml/2006/main">
              <a:ext uri="{FF2B5EF4-FFF2-40B4-BE49-F238E27FC236}">
                <a16:creationId xmlns:a16="http://schemas.microsoft.com/office/drawing/2014/main" id="{AC536E8D-10DC-4CFA-9081-D0334DB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4、服用3天后，症状无改善，或出现其他严重症状时应停药，并去医院就诊。</a:t>
            </a:r>
          </a:p>
        </p:txBody>
      </p:sp>
      <p:sp>
        <p:nvSpPr>
          <p:cNvPr id="13" name="precaution-item-4">
            <a:extLst xmlns:a="http://schemas.openxmlformats.org/drawingml/2006/main">
              <a:ext uri="{FF2B5EF4-FFF2-40B4-BE49-F238E27FC236}">
                <a16:creationId xmlns:a16="http://schemas.microsoft.com/office/drawing/2014/main" id="{F28917F3-A0E8-4A71-B43C-CA30ABAF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5381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5、对本品过敏者禁用，过敏体质者慎用。本品性状发生改变时禁止使用。</a:t>
            </a:r>
          </a:p>
        </p:txBody>
      </p:sp>
      <p:sp>
        <p:nvSpPr>
          <p:cNvPr id="14" name="precaution-card-0">
            <a:extLst xmlns:a="http://schemas.openxmlformats.org/drawingml/2006/main">
              <a:ext uri="{FF2B5EF4-FFF2-40B4-BE49-F238E27FC236}">
                <a16:creationId xmlns:a16="http://schemas.microsoft.com/office/drawing/2014/main" id="{2E33392B-B4D4-4A8B-9279-77D35C4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00125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15" name="precaution-card-title-0">
            <a:extLst xmlns:a="http://schemas.openxmlformats.org/drawingml/2006/main">
              <a:ext uri="{FF2B5EF4-FFF2-40B4-BE49-F238E27FC236}">
                <a16:creationId xmlns:a16="http://schemas.microsoft.com/office/drawing/2014/main" id="{90DB5F4D-D0F3-4A2E-9A1A-91E3B9E0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9675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饮食宜清淡</a:t>
            </a:r>
          </a:p>
        </p:txBody>
      </p:sp>
      <p:sp>
        <p:nvSpPr>
          <p:cNvPr id="16" name="precaution-asset-0-surface">
            <a:extLst xmlns:a="http://schemas.openxmlformats.org/drawingml/2006/main">
              <a:ext uri="{FF2B5EF4-FFF2-40B4-BE49-F238E27FC236}">
                <a16:creationId xmlns:a16="http://schemas.microsoft.com/office/drawing/2014/main" id="{03CF7F70-3799-4871-96D1-17223B8B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24025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17" name="precaution-asset-0-label">
            <a:extLst xmlns:a="http://schemas.openxmlformats.org/drawingml/2006/main">
              <a:ext uri="{FF2B5EF4-FFF2-40B4-BE49-F238E27FC236}">
                <a16:creationId xmlns:a16="http://schemas.microsoft.com/office/drawing/2014/main" id="{290B864A-EF42-4F96-A046-BF1AAB4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45519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饮食宜清淡</a:t>
            </a:r>
          </a:p>
        </p:txBody>
      </p:sp>
      <p:sp>
        <p:nvSpPr>
          <p:cNvPr id="18" name="precaution-card-1">
            <a:extLst xmlns:a="http://schemas.openxmlformats.org/drawingml/2006/main">
              <a:ext uri="{FF2B5EF4-FFF2-40B4-BE49-F238E27FC236}">
                <a16:creationId xmlns:a16="http://schemas.microsoft.com/office/drawing/2014/main" id="{8D1E3F5E-D4DA-4F74-B752-2BF47560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000125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19" name="precaution-card-title-1">
            <a:extLst xmlns:a="http://schemas.openxmlformats.org/drawingml/2006/main">
              <a:ext uri="{FF2B5EF4-FFF2-40B4-BE49-F238E27FC236}">
                <a16:creationId xmlns:a16="http://schemas.microsoft.com/office/drawing/2014/main" id="{02458787-EBAD-404C-B16F-1B5C5163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209675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滋补性中成药</a:t>
            </a:r>
          </a:p>
        </p:txBody>
      </p:sp>
      <p:sp>
        <p:nvSpPr>
          <p:cNvPr id="20" name="precaution-asset-1-surface">
            <a:extLst xmlns:a="http://schemas.openxmlformats.org/drawingml/2006/main">
              <a:ext uri="{FF2B5EF4-FFF2-40B4-BE49-F238E27FC236}">
                <a16:creationId xmlns:a16="http://schemas.microsoft.com/office/drawing/2014/main" id="{667C2754-15CA-43FD-A11A-F7E67817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24025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1" name="precaution-asset-1-label">
            <a:extLst xmlns:a="http://schemas.openxmlformats.org/drawingml/2006/main">
              <a:ext uri="{FF2B5EF4-FFF2-40B4-BE49-F238E27FC236}">
                <a16:creationId xmlns:a16="http://schemas.microsoft.com/office/drawing/2014/main" id="{C58A801D-3E67-4216-BB5E-0F969310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45519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滋补性中成药</a:t>
            </a:r>
          </a:p>
        </p:txBody>
      </p:sp>
      <p:sp>
        <p:nvSpPr>
          <p:cNvPr id="22" name="precaution-card-2">
            <a:extLst xmlns:a="http://schemas.openxmlformats.org/drawingml/2006/main">
              <a:ext uri="{FF2B5EF4-FFF2-40B4-BE49-F238E27FC236}">
                <a16:creationId xmlns:a16="http://schemas.microsoft.com/office/drawing/2014/main" id="{F1CC7EB1-C889-493C-A82C-E667B75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6638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23" name="precaution-card-title-2">
            <a:extLst xmlns:a="http://schemas.openxmlformats.org/drawingml/2006/main">
              <a:ext uri="{FF2B5EF4-FFF2-40B4-BE49-F238E27FC236}">
                <a16:creationId xmlns:a16="http://schemas.microsoft.com/office/drawing/2014/main" id="{2EE1FCAE-B2E0-4A68-A4A1-6D5437A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6188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及时就诊</a:t>
            </a:r>
          </a:p>
        </p:txBody>
      </p:sp>
      <p:sp>
        <p:nvSpPr>
          <p:cNvPr id="24" name="precaution-asset-2-surface">
            <a:extLst xmlns:a="http://schemas.openxmlformats.org/drawingml/2006/main">
              <a:ext uri="{FF2B5EF4-FFF2-40B4-BE49-F238E27FC236}">
                <a16:creationId xmlns:a16="http://schemas.microsoft.com/office/drawing/2014/main" id="{6EF4C6F0-BD0C-49F9-82F9-5714348D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00538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E9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5" name="precaution-asset-2-label">
            <a:extLst xmlns:a="http://schemas.openxmlformats.org/drawingml/2006/main">
              <a:ext uri="{FF2B5EF4-FFF2-40B4-BE49-F238E27FC236}">
                <a16:creationId xmlns:a16="http://schemas.microsoft.com/office/drawing/2014/main" id="{368C4013-113E-4F6A-B1D0-FBBF2D7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22031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及时就诊</a:t>
            </a:r>
          </a:p>
        </p:txBody>
      </p:sp>
      <p:sp>
        <p:nvSpPr>
          <p:cNvPr id="26" name="precaution-card-3">
            <a:extLst xmlns:a="http://schemas.openxmlformats.org/drawingml/2006/main">
              <a:ext uri="{FF2B5EF4-FFF2-40B4-BE49-F238E27FC236}">
                <a16:creationId xmlns:a16="http://schemas.microsoft.com/office/drawing/2014/main" id="{22738DC6-3DD0-42BF-8114-F4C8FA1B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6638"/>
            <a:ext cx="2543175" cy="2519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EC"/>
          </a:solidFill>
          <a:ln xmlns:a="http://schemas.openxmlformats.org/drawingml/2006/main" w="28575">
            <a:solidFill>
              <a:srgbClr val="009900"/>
            </a:solidFill>
            <a:prstDash val="solid"/>
          </a:ln>
        </p:spPr>
      </p:sp>
      <p:sp>
        <p:nvSpPr>
          <p:cNvPr id="27" name="precaution-card-title-3">
            <a:extLst xmlns:a="http://schemas.openxmlformats.org/drawingml/2006/main">
              <a:ext uri="{FF2B5EF4-FFF2-40B4-BE49-F238E27FC236}">
                <a16:creationId xmlns:a16="http://schemas.microsoft.com/office/drawing/2014/main" id="{7127010C-C4DC-4372-8415-BB9156F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86188"/>
            <a:ext cx="2162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latin typeface="Microsoft YaHei"/>
                <a:ea typeface="微软雅黑"/>
                <a:cs typeface="Microsoft YaHei"/>
                <a:solidFill>
                  <a:srgbClr val="111111"/>
                </a:solidFill>
              </a:rPr>
              <a:t>！ 过敏慎用</a:t>
            </a:r>
          </a:p>
        </p:txBody>
      </p:sp>
      <p:sp>
        <p:nvSpPr>
          <p:cNvPr id="28" name="precaution-asset-3-surface">
            <a:extLst xmlns:a="http://schemas.openxmlformats.org/drawingml/2006/main">
              <a:ext uri="{FF2B5EF4-FFF2-40B4-BE49-F238E27FC236}">
                <a16:creationId xmlns:a16="http://schemas.microsoft.com/office/drawing/2014/main" id="{A39FC716-C9A3-497A-92A1-584D552D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00538"/>
            <a:ext cx="1876425" cy="1519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8ABFC8"/>
            </a:solidFill>
            <a:prstDash val="solid"/>
          </a:ln>
        </p:spPr>
      </p:sp>
      <p:sp>
        <p:nvSpPr>
          <p:cNvPr id="29" name="precaution-asset-3-label">
            <a:extLst xmlns:a="http://schemas.openxmlformats.org/drawingml/2006/main">
              <a:ext uri="{FF2B5EF4-FFF2-40B4-BE49-F238E27FC236}">
                <a16:creationId xmlns:a16="http://schemas.microsoft.com/office/drawing/2014/main" id="{AA0C6C86-4DCC-4CAF-B338-8D099C4F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22031"/>
            <a:ext cx="1685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原创插图槽位</a:t>
            </a:r>
          </a:p>
          <a:p xmlns:a="http://schemas.openxmlformats.org/drawingml/2006/main">
            <a:pPr algn="ctr">
              <a:defRPr sz="1200" b="1">
                <a:solidFill>
                  <a:srgbClr val="315C62"/>
                </a:solidFill>
              </a:defRPr>
            </a:pPr>
            <a:r>
              <a:rPr sz="1200" b="1">
                <a:latin typeface="Microsoft YaHei"/>
                <a:ea typeface="微软雅黑"/>
                <a:cs typeface="Microsoft YaHei"/>
                <a:solidFill>
                  <a:srgbClr val="315C62"/>
                </a:solidFill>
              </a:rPr>
              <a:t>过敏慎用</a:t>
            </a:r>
          </a:p>
        </p:txBody>
      </p:sp>
    </p:spTree>
    <p:extLst>
      <p:ext uri="{BB962C8B-B14F-4D97-AF65-F5344CB8AC3E}">
        <p14:creationId xmlns:p14="http://schemas.microsoft.com/office/powerpoint/2010/main" val="540265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icrosoft YaHei"/>
        <a:ea typeface="微软雅黑"/>
        <a:cs typeface="Microsoft YaHei"/>
      </a:majorFont>
      <a:minorFont>
        <a:latin typeface="Microsoft YaHei"/>
        <a:ea typeface="微软雅黑"/>
        <a:cs typeface="Microsoft YaHe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2026-08-03T09:29:36.7160000Z</dcterms:created>
  <dcterms:modified xsi:type="dcterms:W3CDTF">2026-08-03T09:29:36.7170000Z</dcterms:modified>
</coreProperties>
</file>