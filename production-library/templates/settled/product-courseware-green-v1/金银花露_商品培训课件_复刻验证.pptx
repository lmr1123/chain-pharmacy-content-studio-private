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b9af423d644ffb" /><Relationship Type="http://schemas.openxmlformats.org/officeDocument/2006/relationships/extended-properties" Target="/docProps/app.xml" Id="Rdffe394050a842d9" /><Relationship Type="http://schemas.openxmlformats.org/officeDocument/2006/relationships/officeDocument" Target="/ppt/presentation.xml" Id="R8556c06b7f8942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e46ec39d7244f8"/>
  </p:sldMasterIdLst>
  <p:notesMasterIdLst>
    <p:notesMasterId xmlns:r="http://schemas.openxmlformats.org/officeDocument/2006/relationships" r:id="R6fea4b73fd074792"/>
  </p:notesMasterIdLst>
  <p:sldIdLst>
    <p:sldId xmlns:r="http://schemas.openxmlformats.org/officeDocument/2006/relationships" id="256" r:id="Re3159d3713ed4fb7"/>
    <p:sldId xmlns:r="http://schemas.openxmlformats.org/officeDocument/2006/relationships" id="257" r:id="Rb28db05e376d4d05"/>
    <p:sldId xmlns:r="http://schemas.openxmlformats.org/officeDocument/2006/relationships" id="258" r:id="R40663094ed3c455d"/>
    <p:sldId xmlns:r="http://schemas.openxmlformats.org/officeDocument/2006/relationships" id="259" r:id="R8e885db1df9d4cc2"/>
    <p:sldId xmlns:r="http://schemas.openxmlformats.org/officeDocument/2006/relationships" id="260" r:id="R5ce9db735e0e44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03ff0e3abb4818" /><Relationship Type="http://schemas.openxmlformats.org/officeDocument/2006/relationships/slideMaster" Target="/ppt/slideMasters/slideMaster1.xml" Id="Re1e46ec39d7244f8" /><Relationship Type="http://schemas.openxmlformats.org/officeDocument/2006/relationships/notesMaster" Target="/ppt/notesMasters/notesMaster1.xml" Id="R6fea4b73fd074792" /><Relationship Type="http://schemas.openxmlformats.org/officeDocument/2006/relationships/presProps" Target="/ppt/presProps.xml" Id="R8d5a694ce93f443b" /><Relationship Type="http://schemas.openxmlformats.org/officeDocument/2006/relationships/tableStyles" Target="/ppt/tableStyles.xml" Id="R7fdd88a8fb0c45aa" /><Relationship Type="http://schemas.openxmlformats.org/officeDocument/2006/relationships/slide" Target="/ppt/slides/slide1.xml" Id="Re3159d3713ed4fb7" /><Relationship Type="http://schemas.openxmlformats.org/officeDocument/2006/relationships/slide" Target="/ppt/slides/slide2.xml" Id="Rb28db05e376d4d05" /><Relationship Type="http://schemas.openxmlformats.org/officeDocument/2006/relationships/slide" Target="/ppt/slides/slide3.xml" Id="R40663094ed3c455d" /><Relationship Type="http://schemas.openxmlformats.org/officeDocument/2006/relationships/slide" Target="/ppt/slides/slide4.xml" Id="R8e885db1df9d4cc2" /><Relationship Type="http://schemas.openxmlformats.org/officeDocument/2006/relationships/slide" Target="/ppt/slides/slide5.xml" Id="R5ce9db735e0e44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1ef11f169840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649c1497004f7a" /><Relationship Type="http://schemas.openxmlformats.org/officeDocument/2006/relationships/notesMaster" Target="/ppt/notesMasters/notesMaster1.xml" Id="R2b957cb823d14e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f6604291344fa6" /><Relationship Type="http://schemas.openxmlformats.org/officeDocument/2006/relationships/notesMaster" Target="/ppt/notesMasters/notesMaster1.xml" Id="R154cec36aeaf4c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f414f1979d4488" /><Relationship Type="http://schemas.openxmlformats.org/officeDocument/2006/relationships/notesMaster" Target="/ppt/notesMasters/notesMaster1.xml" Id="R73c1d0cff2944b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0af0b6c0404268" /><Relationship Type="http://schemas.openxmlformats.org/officeDocument/2006/relationships/notesMaster" Target="/ppt/notesMasters/notesMaster1.xml" Id="Rb62933081c8241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7c3d8303704e20" /><Relationship Type="http://schemas.openxmlformats.org/officeDocument/2006/relationships/notesMaster" Target="/ppt/notesMasters/notesMaster1.xml" Id="R537622f26c2143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33CC7A3A-9CB3-4383-9587-7564FD74AFAF.png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171FA13F-202E-4B0D-A440-2614EF985EFF.png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1DBBECEC-9258-48D6-82A6-793D6B539DBE.png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C0D1AC4D-8CD3-497C-98A0-2B8D0DDB6B39.png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reference screenshot: CBD2D8CD-6DC6-442A-A16F-EEFFF500E9EC.png</a:t>
            </a:r>
          </a:p>
          <a:p xmlns:a="http://schemas.openxmlformats.org/drawingml/2006/main">
            <a:r>
              <a:t>- Content status: manual transcription; pharmacist/compliance review required.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06559681f049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ace83bdd384517" /><Relationship Type="http://schemas.openxmlformats.org/officeDocument/2006/relationships/slideLayout" Target="/ppt/slideLayouts/slideLayout1.xml" Id="Rd0b82234590142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b82234590142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e54ad91f54cea" /><Relationship Type="http://schemas.openxmlformats.org/officeDocument/2006/relationships/notesSlide" Target="/ppt/notesSlides/notesSlide1.xml" Id="R2f360017b04c4a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b8873cdfd4e91" /><Relationship Type="http://schemas.openxmlformats.org/officeDocument/2006/relationships/notesSlide" Target="/ppt/notesSlides/notesSlide2.xml" Id="Rf60b3192da9d40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a63cfd1c7438b" /><Relationship Type="http://schemas.openxmlformats.org/officeDocument/2006/relationships/notesSlide" Target="/ppt/notesSlides/notesSlide3.xml" Id="R10af4d3e43834d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a17aefbab454e" /><Relationship Type="http://schemas.openxmlformats.org/officeDocument/2006/relationships/notesSlide" Target="/ppt/notesSlides/notesSlide4.xml" Id="Re702b0a1bda448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e12a43b6a4bda" /><Relationship Type="http://schemas.openxmlformats.org/officeDocument/2006/relationships/notesSlide" Target="/ppt/notesSlides/notesSlide5.xml" Id="R69193b7cbdd94f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over-color-field">
            <a:extLst xmlns:a="http://schemas.openxmlformats.org/drawingml/2006/main">
              <a:ext uri="{FF2B5EF4-FFF2-40B4-BE49-F238E27FC236}">
                <a16:creationId xmlns:a16="http://schemas.microsoft.com/office/drawing/2014/main" id="{831FD66E-4265-48E8-9F42-A56D1B5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blue-field">
            <a:extLst xmlns:a="http://schemas.openxmlformats.org/drawingml/2006/main">
              <a:ext uri="{FF2B5EF4-FFF2-40B4-BE49-F238E27FC236}">
                <a16:creationId xmlns:a16="http://schemas.microsoft.com/office/drawing/2014/main" id="{A1135855-76B9-465A-A60E-D4352ABD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6858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green-overlay">
            <a:extLst xmlns:a="http://schemas.openxmlformats.org/drawingml/2006/main">
              <a:ext uri="{FF2B5EF4-FFF2-40B4-BE49-F238E27FC236}">
                <a16:creationId xmlns:a16="http://schemas.microsoft.com/office/drawing/2014/main" id="{F6C828B6-2F8A-486A-A688-A27FD3F0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building-band-1">
            <a:extLst xmlns:a="http://schemas.openxmlformats.org/drawingml/2006/main">
              <a:ext uri="{FF2B5EF4-FFF2-40B4-BE49-F238E27FC236}">
                <a16:creationId xmlns:a16="http://schemas.microsoft.com/office/drawing/2014/main" id="{FD1B470C-BD06-4AEB-AEB2-0BA4DE7B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387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building-band-2">
            <a:extLst xmlns:a="http://schemas.openxmlformats.org/drawingml/2006/main">
              <a:ext uri="{FF2B5EF4-FFF2-40B4-BE49-F238E27FC236}">
                <a16:creationId xmlns:a16="http://schemas.microsoft.com/office/drawing/2014/main" id="{616EC723-59D7-4341-8399-6C1FE71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9532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building-band-3">
            <a:extLst xmlns:a="http://schemas.openxmlformats.org/drawingml/2006/main">
              <a:ext uri="{FF2B5EF4-FFF2-40B4-BE49-F238E27FC236}">
                <a16:creationId xmlns:a16="http://schemas.microsoft.com/office/drawing/2014/main" id="{566D4842-B308-4274-8ED8-C03F3138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"/>
            <a:ext cx="2476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building-band-4">
            <a:extLst xmlns:a="http://schemas.openxmlformats.org/drawingml/2006/main">
              <a:ext uri="{FF2B5EF4-FFF2-40B4-BE49-F238E27FC236}">
                <a16:creationId xmlns:a16="http://schemas.microsoft.com/office/drawing/2014/main" id="{F7DC4B24-D510-4E75-96FB-2C084D47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3875"/>
            <a:ext cx="2476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building-band-5">
            <a:extLst xmlns:a="http://schemas.openxmlformats.org/drawingml/2006/main">
              <a:ext uri="{FF2B5EF4-FFF2-40B4-BE49-F238E27FC236}">
                <a16:creationId xmlns:a16="http://schemas.microsoft.com/office/drawing/2014/main" id="{FBA4EC20-94DD-42D6-A100-2B66C6EF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9532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building-band-6">
            <a:extLst xmlns:a="http://schemas.openxmlformats.org/drawingml/2006/main">
              <a:ext uri="{FF2B5EF4-FFF2-40B4-BE49-F238E27FC236}">
                <a16:creationId xmlns:a16="http://schemas.microsoft.com/office/drawing/2014/main" id="{DF32B4DF-E25C-49F7-9818-E72C39E6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6677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building-band-7">
            <a:extLst xmlns:a="http://schemas.openxmlformats.org/drawingml/2006/main">
              <a:ext uri="{FF2B5EF4-FFF2-40B4-BE49-F238E27FC236}">
                <a16:creationId xmlns:a16="http://schemas.microsoft.com/office/drawing/2014/main" id="{22287ABF-1B12-4BA8-8356-15DFDD0A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3875"/>
            <a:ext cx="2476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ver-building-band-8">
            <a:extLst xmlns:a="http://schemas.openxmlformats.org/drawingml/2006/main">
              <a:ext uri="{FF2B5EF4-FFF2-40B4-BE49-F238E27FC236}">
                <a16:creationId xmlns:a16="http://schemas.microsoft.com/office/drawing/2014/main" id="{2DC6CD7F-4939-4777-BBFB-B96B191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95325"/>
            <a:ext cx="2476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ver-building-band-9">
            <a:extLst xmlns:a="http://schemas.openxmlformats.org/drawingml/2006/main">
              <a:ext uri="{FF2B5EF4-FFF2-40B4-BE49-F238E27FC236}">
                <a16:creationId xmlns:a16="http://schemas.microsoft.com/office/drawing/2014/main" id="{CF5A3362-D990-48A9-8261-034C0814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866775"/>
            <a:ext cx="2476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98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ver-building-band-10">
            <a:extLst xmlns:a="http://schemas.openxmlformats.org/drawingml/2006/main">
              <a:ext uri="{FF2B5EF4-FFF2-40B4-BE49-F238E27FC236}">
                <a16:creationId xmlns:a16="http://schemas.microsoft.com/office/drawing/2014/main" id="{2B89EA86-E299-476A-A84D-C2AA93EB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3875"/>
            <a:ext cx="2476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8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ver-white-bottom">
            <a:extLst xmlns:a="http://schemas.openxmlformats.org/drawingml/2006/main">
              <a:ext uri="{FF2B5EF4-FFF2-40B4-BE49-F238E27FC236}">
                <a16:creationId xmlns:a16="http://schemas.microsoft.com/office/drawing/2014/main" id="{11D1AC9D-5E7B-451E-9079-2E36DCA3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ver-white-curve">
            <a:extLst xmlns:a="http://schemas.openxmlformats.org/drawingml/2006/main">
              <a:ext uri="{FF2B5EF4-FFF2-40B4-BE49-F238E27FC236}">
                <a16:creationId xmlns:a16="http://schemas.microsoft.com/office/drawing/2014/main" id="{69EB684F-4D6F-4D34-B248-62661E3A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43250"/>
            <a:ext cx="121920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ver-frame-top">
            <a:extLst xmlns:a="http://schemas.openxmlformats.org/drawingml/2006/main">
              <a:ext uri="{FF2B5EF4-FFF2-40B4-BE49-F238E27FC236}">
                <a16:creationId xmlns:a16="http://schemas.microsoft.com/office/drawing/2014/main" id="{5C942A8F-5CD3-40A4-9224-B3481A78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143000"/>
            <a:ext cx="838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D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ver-frame-left">
            <a:extLst xmlns:a="http://schemas.openxmlformats.org/drawingml/2006/main">
              <a:ext uri="{FF2B5EF4-FFF2-40B4-BE49-F238E27FC236}">
                <a16:creationId xmlns:a16="http://schemas.microsoft.com/office/drawing/2014/main" id="{4C03EA1F-5C14-4011-957C-341AC1EC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143000"/>
            <a:ext cx="381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2D4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ver-frame-right">
            <a:extLst xmlns:a="http://schemas.openxmlformats.org/drawingml/2006/main">
              <a:ext uri="{FF2B5EF4-FFF2-40B4-BE49-F238E27FC236}">
                <a16:creationId xmlns:a16="http://schemas.microsoft.com/office/drawing/2014/main" id="{8BC81ED8-503A-445B-ACA3-D0E6B91C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143000"/>
            <a:ext cx="381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ver-frame-bottom">
            <a:extLst xmlns:a="http://schemas.openxmlformats.org/drawingml/2006/main">
              <a:ext uri="{FF2B5EF4-FFF2-40B4-BE49-F238E27FC236}">
                <a16:creationId xmlns:a16="http://schemas.microsoft.com/office/drawing/2014/main" id="{A48BAB45-33F4-4B21-9993-3D57853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838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ver-brand">
            <a:extLst xmlns:a="http://schemas.openxmlformats.org/drawingml/2006/main">
              <a:ext uri="{FF2B5EF4-FFF2-40B4-BE49-F238E27FC236}">
                <a16:creationId xmlns:a16="http://schemas.microsoft.com/office/drawing/2014/main" id="{537154CE-3585-44B1-B462-F4C0AC66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295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大参林 dashenlin</a:t>
            </a:r>
          </a:p>
        </p:txBody>
      </p:sp>
      <p:sp>
        <p:nvSpPr>
          <p:cNvPr id="21" name="cover-organization">
            <a:extLst xmlns:a="http://schemas.openxmlformats.org/drawingml/2006/main">
              <a:ext uri="{FF2B5EF4-FFF2-40B4-BE49-F238E27FC236}">
                <a16:creationId xmlns:a16="http://schemas.microsoft.com/office/drawing/2014/main" id="{AA8D7567-B8D7-4D24-A818-FE4AF63C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5737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大参林医药集团</a:t>
            </a:r>
          </a:p>
        </p:txBody>
      </p:sp>
      <p:sp>
        <p:nvSpPr>
          <p:cNvPr id="22" name="cover-rule-left">
            <a:extLst xmlns:a="http://schemas.openxmlformats.org/drawingml/2006/main">
              <a:ext uri="{FF2B5EF4-FFF2-40B4-BE49-F238E27FC236}">
                <a16:creationId xmlns:a16="http://schemas.microsoft.com/office/drawing/2014/main" id="{41570D30-3790-4483-A7D0-8548D6C0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4787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ver-rule-right">
            <a:extLst xmlns:a="http://schemas.openxmlformats.org/drawingml/2006/main">
              <a:ext uri="{FF2B5EF4-FFF2-40B4-BE49-F238E27FC236}">
                <a16:creationId xmlns:a16="http://schemas.microsoft.com/office/drawing/2014/main" id="{8462F875-34F5-42CB-A0B2-14A01335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47875"/>
            <a:ext cx="1666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B850EFF-F99D-4AE4-B74F-9C2D15F9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4572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</a:t>
            </a:r>
          </a:p>
        </p:txBody>
      </p:sp>
      <p:sp>
        <p:nvSpPr>
          <p:cNvPr id="25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0DDEA769-03D6-42F3-B96C-8FB9BF8B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1625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5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【专业力】</a:t>
            </a:r>
          </a:p>
        </p:txBody>
      </p:sp>
      <p:sp>
        <p:nvSpPr>
          <p:cNvPr id="26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90F8CF9E-2BE3-4AAE-8B18-46420A66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仅供内部学习</a:t>
            </a:r>
          </a:p>
        </p:txBody>
      </p:sp>
    </p:spTree>
    <p:extLst>
      <p:ext uri="{BB962C8B-B14F-4D97-AF65-F5344CB8AC3E}">
        <p14:creationId xmlns:p14="http://schemas.microsoft.com/office/powerpoint/2010/main" val="2026683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header-shadow-line">
            <a:extLst xmlns:a="http://schemas.openxmlformats.org/drawingml/2006/main">
              <a:ext uri="{FF2B5EF4-FFF2-40B4-BE49-F238E27FC236}">
                <a16:creationId xmlns:a16="http://schemas.microsoft.com/office/drawing/2014/main" id="{761C54A5-85BC-40BE-B551-C7327BB4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green-line">
            <a:extLst xmlns:a="http://schemas.openxmlformats.org/drawingml/2006/main">
              <a:ext uri="{FF2B5EF4-FFF2-40B4-BE49-F238E27FC236}">
                <a16:creationId xmlns:a16="http://schemas.microsoft.com/office/drawing/2014/main" id="{1F059C5C-778E-4064-9D5A-D3815D4B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57225"/>
            <a:ext cx="11287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58928FF0-2BBE-4D06-AB37-5068B358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6667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A639D7-BB64-4028-A08F-CFBE8F37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80975"/>
            <a:ext cx="81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FFFFFF"/>
                </a:solidFill>
              </a:defRPr>
            </a:pPr>
            <a:r>
              <a:rPr sz="2100" b="0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" name="page-title">
            <a:extLst xmlns:a="http://schemas.openxmlformats.org/drawingml/2006/main">
              <a:ext uri="{FF2B5EF4-FFF2-40B4-BE49-F238E27FC236}">
                <a16:creationId xmlns:a16="http://schemas.microsoft.com/office/drawing/2014/main" id="{CD545A7C-0A0B-4354-BE7C-5DB12AEC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商品介绍、核心卖点、适宜人群</a:t>
            </a:r>
          </a:p>
        </p:txBody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B4B93589-0028-499C-9E3A-2439B60C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5A817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7A2A7F43-BC07-4ABD-9DBF-956F1394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仅供内部学习</a:t>
            </a:r>
          </a:p>
        </p:txBody>
      </p:sp>
      <p:sp>
        <p:nvSpPr>
          <p:cNvPr id="8" name="primary-packshot-surface">
            <a:extLst xmlns:a="http://schemas.openxmlformats.org/drawingml/2006/main">
              <a:ext uri="{FF2B5EF4-FFF2-40B4-BE49-F238E27FC236}">
                <a16:creationId xmlns:a16="http://schemas.microsoft.com/office/drawing/2014/main" id="{6186B01A-574A-477F-90B7-C149C37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781050"/>
            <a:ext cx="1952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9" name="primary-packshot-label">
            <a:extLst xmlns:a="http://schemas.openxmlformats.org/drawingml/2006/main">
              <a:ext uri="{FF2B5EF4-FFF2-40B4-BE49-F238E27FC236}">
                <a16:creationId xmlns:a16="http://schemas.microsoft.com/office/drawing/2014/main" id="{A533743D-DF9D-4112-97FE-87E76412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828800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商品包装高清图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待接入</a:t>
            </a:r>
          </a:p>
        </p:txBody>
      </p:sp>
      <p:sp>
        <p:nvSpPr>
          <p:cNvPr id="10" name="product-name">
            <a:extLst xmlns:a="http://schemas.openxmlformats.org/drawingml/2006/main">
              <a:ext uri="{FF2B5EF4-FFF2-40B4-BE49-F238E27FC236}">
                <a16:creationId xmlns:a16="http://schemas.microsoft.com/office/drawing/2014/main" id="{A37138E6-035F-493B-8A4F-DACEE46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7662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60012"/>
                </a:solidFill>
              </a:defRPr>
            </a:pPr>
            <a:r>
              <a:rPr sz="1725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金银花露（可可康）</a:t>
            </a:r>
          </a:p>
        </p:txBody>
      </p:sp>
      <p:sp>
        <p:nvSpPr>
          <p:cNvPr id="11" name="product-table-head-0-surface">
            <a:extLst xmlns:a="http://schemas.openxmlformats.org/drawingml/2006/main">
              <a:ext uri="{FF2B5EF4-FFF2-40B4-BE49-F238E27FC236}">
                <a16:creationId xmlns:a16="http://schemas.microsoft.com/office/drawing/2014/main" id="{04023CFF-6912-4222-A53E-DE5FC6AA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005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2" name="product-table-head-0-text">
            <a:extLst xmlns:a="http://schemas.openxmlformats.org/drawingml/2006/main">
              <a:ext uri="{FF2B5EF4-FFF2-40B4-BE49-F238E27FC236}">
                <a16:creationId xmlns:a16="http://schemas.microsoft.com/office/drawing/2014/main" id="{51C1779C-11B5-4506-86C0-0CB1937C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76700"/>
            <a:ext cx="990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编码</a:t>
            </a:r>
          </a:p>
        </p:txBody>
      </p:sp>
      <p:sp>
        <p:nvSpPr>
          <p:cNvPr id="13" name="product-table-head-1-surface">
            <a:extLst xmlns:a="http://schemas.openxmlformats.org/drawingml/2006/main">
              <a:ext uri="{FF2B5EF4-FFF2-40B4-BE49-F238E27FC236}">
                <a16:creationId xmlns:a16="http://schemas.microsoft.com/office/drawing/2014/main" id="{E984DEFF-1197-4563-8896-A1C8917B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00500"/>
            <a:ext cx="781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4" name="product-table-head-1-text">
            <a:extLst xmlns:a="http://schemas.openxmlformats.org/drawingml/2006/main">
              <a:ext uri="{FF2B5EF4-FFF2-40B4-BE49-F238E27FC236}">
                <a16:creationId xmlns:a16="http://schemas.microsoft.com/office/drawing/2014/main" id="{26C92935-860F-4F28-AE2C-B60D5623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76700"/>
            <a:ext cx="628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主推</a:t>
            </a:r>
          </a:p>
        </p:txBody>
      </p:sp>
      <p:sp>
        <p:nvSpPr>
          <p:cNvPr id="15" name="product-table-head-2-surface">
            <a:extLst xmlns:a="http://schemas.openxmlformats.org/drawingml/2006/main">
              <a:ext uri="{FF2B5EF4-FFF2-40B4-BE49-F238E27FC236}">
                <a16:creationId xmlns:a16="http://schemas.microsoft.com/office/drawing/2014/main" id="{3DC8528C-18A0-469E-970E-2558130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00500"/>
            <a:ext cx="14573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6" name="product-table-head-2-text">
            <a:extLst xmlns:a="http://schemas.openxmlformats.org/drawingml/2006/main">
              <a:ext uri="{FF2B5EF4-FFF2-40B4-BE49-F238E27FC236}">
                <a16:creationId xmlns:a16="http://schemas.microsoft.com/office/drawing/2014/main" id="{5D598DD7-6493-444C-8665-D13244F5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76700"/>
            <a:ext cx="1304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规格</a:t>
            </a:r>
          </a:p>
        </p:txBody>
      </p:sp>
      <p:sp>
        <p:nvSpPr>
          <p:cNvPr id="17" name="product-table-head-3-surface">
            <a:extLst xmlns:a="http://schemas.openxmlformats.org/drawingml/2006/main">
              <a:ext uri="{FF2B5EF4-FFF2-40B4-BE49-F238E27FC236}">
                <a16:creationId xmlns:a16="http://schemas.microsoft.com/office/drawing/2014/main" id="{32E623CC-5478-44E0-A570-681E1982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000500"/>
            <a:ext cx="1066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8" name="product-table-head-3-text">
            <a:extLst xmlns:a="http://schemas.openxmlformats.org/drawingml/2006/main">
              <a:ext uri="{FF2B5EF4-FFF2-40B4-BE49-F238E27FC236}">
                <a16:creationId xmlns:a16="http://schemas.microsoft.com/office/drawing/2014/main" id="{15D439F4-7EED-479D-8885-09103F5F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7670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零售价</a:t>
            </a:r>
          </a:p>
        </p:txBody>
      </p:sp>
      <p:sp>
        <p:nvSpPr>
          <p:cNvPr id="19" name="product-table-value-0-surface">
            <a:extLst xmlns:a="http://schemas.openxmlformats.org/drawingml/2006/main">
              <a:ext uri="{FF2B5EF4-FFF2-40B4-BE49-F238E27FC236}">
                <a16:creationId xmlns:a16="http://schemas.microsoft.com/office/drawing/2014/main" id="{E07BB0B7-5A95-4E29-B6BC-75E93F18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57700"/>
            <a:ext cx="114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0" name="product-table-value-0-text">
            <a:extLst xmlns:a="http://schemas.openxmlformats.org/drawingml/2006/main">
              <a:ext uri="{FF2B5EF4-FFF2-40B4-BE49-F238E27FC236}">
                <a16:creationId xmlns:a16="http://schemas.microsoft.com/office/drawing/2014/main" id="{48E2FF3F-6493-45E3-9C69-4419114F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33900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2429715</a:t>
            </a:r>
          </a:p>
        </p:txBody>
      </p:sp>
      <p:sp>
        <p:nvSpPr>
          <p:cNvPr id="21" name="product-table-value-1-surface">
            <a:extLst xmlns:a="http://schemas.openxmlformats.org/drawingml/2006/main">
              <a:ext uri="{FF2B5EF4-FFF2-40B4-BE49-F238E27FC236}">
                <a16:creationId xmlns:a16="http://schemas.microsoft.com/office/drawing/2014/main" id="{A7CDD28B-92F6-488E-8B39-AB1DC0A8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57700"/>
            <a:ext cx="781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2" name="product-table-value-1-text">
            <a:extLst xmlns:a="http://schemas.openxmlformats.org/drawingml/2006/main">
              <a:ext uri="{FF2B5EF4-FFF2-40B4-BE49-F238E27FC236}">
                <a16:creationId xmlns:a16="http://schemas.microsoft.com/office/drawing/2014/main" id="{AB8BEE93-08BB-4255-8AE0-76B04430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33900"/>
            <a:ext cx="62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A</a:t>
            </a:r>
          </a:p>
        </p:txBody>
      </p:sp>
      <p:sp>
        <p:nvSpPr>
          <p:cNvPr id="23" name="product-table-value-2-surface">
            <a:extLst xmlns:a="http://schemas.openxmlformats.org/drawingml/2006/main">
              <a:ext uri="{FF2B5EF4-FFF2-40B4-BE49-F238E27FC236}">
                <a16:creationId xmlns:a16="http://schemas.microsoft.com/office/drawing/2014/main" id="{47898786-9441-4532-A5D6-A1B64FD6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57700"/>
            <a:ext cx="14573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4" name="product-table-value-2-text">
            <a:extLst xmlns:a="http://schemas.openxmlformats.org/drawingml/2006/main">
              <a:ext uri="{FF2B5EF4-FFF2-40B4-BE49-F238E27FC236}">
                <a16:creationId xmlns:a16="http://schemas.microsoft.com/office/drawing/2014/main" id="{A644D3A2-5B08-4675-A3D1-79843598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533900"/>
            <a:ext cx="1304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265ml</a:t>
            </a:r>
          </a:p>
        </p:txBody>
      </p:sp>
      <p:sp>
        <p:nvSpPr>
          <p:cNvPr id="25" name="product-table-value-3-surface">
            <a:extLst xmlns:a="http://schemas.openxmlformats.org/drawingml/2006/main">
              <a:ext uri="{FF2B5EF4-FFF2-40B4-BE49-F238E27FC236}">
                <a16:creationId xmlns:a16="http://schemas.microsoft.com/office/drawing/2014/main" id="{0F35C511-A708-4082-9AEF-4C866477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457700"/>
            <a:ext cx="1066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6" name="product-table-value-3-text">
            <a:extLst xmlns:a="http://schemas.openxmlformats.org/drawingml/2006/main">
              <a:ext uri="{FF2B5EF4-FFF2-40B4-BE49-F238E27FC236}">
                <a16:creationId xmlns:a16="http://schemas.microsoft.com/office/drawing/2014/main" id="{16DF90C8-7928-4387-8F19-03357013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533900"/>
            <a:ext cx="91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9.9元</a:t>
            </a:r>
          </a:p>
        </p:txBody>
      </p:sp>
      <p:sp>
        <p:nvSpPr>
          <p:cNvPr id="27" name="selling-point-highlight">
            <a:extLst xmlns:a="http://schemas.openxmlformats.org/drawingml/2006/main">
              <a:ext uri="{FF2B5EF4-FFF2-40B4-BE49-F238E27FC236}">
                <a16:creationId xmlns:a16="http://schemas.microsoft.com/office/drawing/2014/main" id="{09CB82D2-9D6E-4420-B9D6-1FA65EE5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5181600"/>
            <a:ext cx="44481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elling-point">
            <a:extLst xmlns:a="http://schemas.openxmlformats.org/drawingml/2006/main">
              <a:ext uri="{FF2B5EF4-FFF2-40B4-BE49-F238E27FC236}">
                <a16:creationId xmlns:a16="http://schemas.microsoft.com/office/drawing/2014/main" id="{0D25C0EB-1F5C-4EE3-8C87-C491AB2A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57825"/>
            <a:ext cx="4238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一句话卖点：宝宝去火，温和安全，甘甜又好喝</a:t>
            </a:r>
          </a:p>
        </p:txBody>
      </p:sp>
      <p:sp>
        <p:nvSpPr>
          <p:cNvPr id="29" name="section-title-0">
            <a:extLst xmlns:a="http://schemas.openxmlformats.org/drawingml/2006/main">
              <a:ext uri="{FF2B5EF4-FFF2-40B4-BE49-F238E27FC236}">
                <a16:creationId xmlns:a16="http://schemas.microsoft.com/office/drawing/2014/main" id="{1D5F43E7-5C24-4F4B-A468-DB45A0D3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9715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一、商品介绍：</a:t>
            </a:r>
          </a:p>
        </p:txBody>
      </p:sp>
      <p:sp>
        <p:nvSpPr>
          <p:cNvPr id="30" name="section-0-item-0">
            <a:extLst xmlns:a="http://schemas.openxmlformats.org/drawingml/2006/main">
              <a:ext uri="{FF2B5EF4-FFF2-40B4-BE49-F238E27FC236}">
                <a16:creationId xmlns:a16="http://schemas.microsoft.com/office/drawing/2014/main" id="{D86FCB80-3606-4DAF-AC5A-BBA0CF50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430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1、主要成分：金银花</a:t>
            </a:r>
          </a:p>
        </p:txBody>
      </p:sp>
      <p:sp>
        <p:nvSpPr>
          <p:cNvPr id="31" name="section-0-item-1">
            <a:extLst xmlns:a="http://schemas.openxmlformats.org/drawingml/2006/main">
              <a:ext uri="{FF2B5EF4-FFF2-40B4-BE49-F238E27FC236}">
                <a16:creationId xmlns:a16="http://schemas.microsoft.com/office/drawing/2014/main" id="{AD86478C-1975-4CEA-AA92-9E2DEE8F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6859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2、功能主治：清热解毒。用于小儿痱毒，暑热口渴</a:t>
            </a:r>
          </a:p>
        </p:txBody>
      </p:sp>
      <p:sp>
        <p:nvSpPr>
          <p:cNvPr id="32" name="section-0-item-2">
            <a:extLst xmlns:a="http://schemas.openxmlformats.org/drawingml/2006/main">
              <a:ext uri="{FF2B5EF4-FFF2-40B4-BE49-F238E27FC236}">
                <a16:creationId xmlns:a16="http://schemas.microsoft.com/office/drawing/2014/main" id="{7081E902-E760-463B-8778-0CC2D29B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02882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3、用法用量：口服。一次60～120毫升，一日2～3次。</a:t>
            </a:r>
          </a:p>
        </p:txBody>
      </p:sp>
      <p:sp>
        <p:nvSpPr>
          <p:cNvPr id="33" name="section-title-1">
            <a:extLst xmlns:a="http://schemas.openxmlformats.org/drawingml/2006/main">
              <a:ext uri="{FF2B5EF4-FFF2-40B4-BE49-F238E27FC236}">
                <a16:creationId xmlns:a16="http://schemas.microsoft.com/office/drawing/2014/main" id="{C5570F48-4417-4814-9E7F-C64131C0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669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二、核心卖点：</a:t>
            </a:r>
          </a:p>
        </p:txBody>
      </p:sp>
      <p:sp>
        <p:nvSpPr>
          <p:cNvPr id="34" name="section-1-item-0">
            <a:extLst xmlns:a="http://schemas.openxmlformats.org/drawingml/2006/main">
              <a:ext uri="{FF2B5EF4-FFF2-40B4-BE49-F238E27FC236}">
                <a16:creationId xmlns:a16="http://schemas.microsoft.com/office/drawing/2014/main" id="{23C3E8CF-ED86-493C-9C52-E5C6A20F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638425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1、专为小儿体质设计，温和不伤胃：单方金银花制剂，药性平和，清热去火不损伤婴幼儿娇嫩肠胃。</a:t>
            </a:r>
          </a:p>
        </p:txBody>
      </p:sp>
      <p:sp>
        <p:nvSpPr>
          <p:cNvPr id="35" name="section-1-item-1">
            <a:extLst xmlns:a="http://schemas.openxmlformats.org/drawingml/2006/main">
              <a:ext uri="{FF2B5EF4-FFF2-40B4-BE49-F238E27FC236}">
                <a16:creationId xmlns:a16="http://schemas.microsoft.com/office/drawing/2014/main" id="{68ADBEAD-3DD5-4AB6-BDF0-76AAF42B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19450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2、药食同源，安全无添加：无添加色素，药食同源。</a:t>
            </a:r>
          </a:p>
        </p:txBody>
      </p:sp>
      <p:sp>
        <p:nvSpPr>
          <p:cNvPr id="36" name="section-1-item-2">
            <a:extLst xmlns:a="http://schemas.openxmlformats.org/drawingml/2006/main">
              <a:ext uri="{FF2B5EF4-FFF2-40B4-BE49-F238E27FC236}">
                <a16:creationId xmlns:a16="http://schemas.microsoft.com/office/drawing/2014/main" id="{F108EE80-6D8F-4F58-955A-74E41A46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00475"/>
            <a:ext cx="676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3、靶向解决小儿夏季常见问题：精准应对痱毒、暑热口渴、小便黄、咽喉不适等夏季上火症状，一瓶多效。</a:t>
            </a:r>
          </a:p>
        </p:txBody>
      </p:sp>
      <p:sp>
        <p:nvSpPr>
          <p:cNvPr id="37" name="section-title-2">
            <a:extLst xmlns:a="http://schemas.openxmlformats.org/drawingml/2006/main">
              <a:ext uri="{FF2B5EF4-FFF2-40B4-BE49-F238E27FC236}">
                <a16:creationId xmlns:a16="http://schemas.microsoft.com/office/drawing/2014/main" id="{9A756446-8F7B-454A-A5DA-93B072DC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482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三、适宜人群：</a:t>
            </a:r>
          </a:p>
        </p:txBody>
      </p:sp>
      <p:sp>
        <p:nvSpPr>
          <p:cNvPr id="38" name="section-2-item-0">
            <a:extLst xmlns:a="http://schemas.openxmlformats.org/drawingml/2006/main">
              <a:ext uri="{FF2B5EF4-FFF2-40B4-BE49-F238E27FC236}">
                <a16:creationId xmlns:a16="http://schemas.microsoft.com/office/drawing/2014/main" id="{88486483-BF46-4FA7-9117-9351B576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0196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1、夏季易生痱子的幼儿；</a:t>
            </a:r>
          </a:p>
        </p:txBody>
      </p:sp>
      <p:sp>
        <p:nvSpPr>
          <p:cNvPr id="39" name="section-2-item-1">
            <a:extLst xmlns:a="http://schemas.openxmlformats.org/drawingml/2006/main">
              <a:ext uri="{FF2B5EF4-FFF2-40B4-BE49-F238E27FC236}">
                <a16:creationId xmlns:a16="http://schemas.microsoft.com/office/drawing/2014/main" id="{3CDC0715-D21C-4BD9-9318-8CF4656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625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2、上火症状明显的儿童；</a:t>
            </a:r>
          </a:p>
        </p:txBody>
      </p:sp>
      <p:sp>
        <p:nvSpPr>
          <p:cNvPr id="40" name="section-2-item-2">
            <a:extLst xmlns:a="http://schemas.openxmlformats.org/drawingml/2006/main">
              <a:ext uri="{FF2B5EF4-FFF2-40B4-BE49-F238E27FC236}">
                <a16:creationId xmlns:a16="http://schemas.microsoft.com/office/drawing/2014/main" id="{81296B87-7B22-4FE2-86F6-012AE80C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7054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3、暑热烦渴、食欲不振的儿童。</a:t>
            </a:r>
          </a:p>
        </p:txBody>
      </p:sp>
    </p:spTree>
    <p:extLst>
      <p:ext uri="{BB962C8B-B14F-4D97-AF65-F5344CB8AC3E}">
        <p14:creationId xmlns:p14="http://schemas.microsoft.com/office/powerpoint/2010/main" val="2249962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header-shadow-line">
            <a:extLst xmlns:a="http://schemas.openxmlformats.org/drawingml/2006/main">
              <a:ext uri="{FF2B5EF4-FFF2-40B4-BE49-F238E27FC236}">
                <a16:creationId xmlns:a16="http://schemas.microsoft.com/office/drawing/2014/main" id="{AE3A4CEE-39F9-4423-B5AE-9BFA23C6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green-line">
            <a:extLst xmlns:a="http://schemas.openxmlformats.org/drawingml/2006/main">
              <a:ext uri="{FF2B5EF4-FFF2-40B4-BE49-F238E27FC236}">
                <a16:creationId xmlns:a16="http://schemas.microsoft.com/office/drawing/2014/main" id="{DC81A3B1-770F-4C71-9539-0917BE5E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57225"/>
            <a:ext cx="11287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BAE93B90-07E7-4E50-8843-67214789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6667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429E8C-B883-4A1F-BE92-D66DCDD2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80975"/>
            <a:ext cx="81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FFFFFF"/>
                </a:solidFill>
              </a:defRPr>
            </a:pPr>
            <a:r>
              <a:rPr sz="2100" b="0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5" name="page-title">
            <a:extLst xmlns:a="http://schemas.openxmlformats.org/drawingml/2006/main">
              <a:ext uri="{FF2B5EF4-FFF2-40B4-BE49-F238E27FC236}">
                <a16:creationId xmlns:a16="http://schemas.microsoft.com/office/drawing/2014/main" id="{2B3EA4D4-D153-4815-A375-6EA31CD4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联合用药话术</a:t>
            </a:r>
          </a:p>
        </p:txBody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52469A3F-89ED-441D-8CC1-B5AED850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5A817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74DF481B-9CD2-4781-A12A-632030F2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仅供内部学习</a:t>
            </a:r>
          </a:p>
        </p:txBody>
      </p:sp>
      <p:sp>
        <p:nvSpPr>
          <p:cNvPr id="8" name="combination-head-0-surface">
            <a:extLst xmlns:a="http://schemas.openxmlformats.org/drawingml/2006/main">
              <a:ext uri="{FF2B5EF4-FFF2-40B4-BE49-F238E27FC236}">
                <a16:creationId xmlns:a16="http://schemas.microsoft.com/office/drawing/2014/main" id="{EB57DE1F-DFFC-4125-B3E4-FC4D86D8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1440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combination-head-0-text">
            <a:extLst xmlns:a="http://schemas.openxmlformats.org/drawingml/2006/main">
              <a:ext uri="{FF2B5EF4-FFF2-40B4-BE49-F238E27FC236}">
                <a16:creationId xmlns:a16="http://schemas.microsoft.com/office/drawing/2014/main" id="{1F948C75-160D-447B-AE83-E53901C4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9060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应用场景（适宜人群）</a:t>
            </a:r>
          </a:p>
        </p:txBody>
      </p:sp>
      <p:sp>
        <p:nvSpPr>
          <p:cNvPr id="10" name="combination-head-1-surface">
            <a:extLst xmlns:a="http://schemas.openxmlformats.org/drawingml/2006/main">
              <a:ext uri="{FF2B5EF4-FFF2-40B4-BE49-F238E27FC236}">
                <a16:creationId xmlns:a16="http://schemas.microsoft.com/office/drawing/2014/main" id="{EFC808C9-920C-45E4-B079-046AD09F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1666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combination-head-1-text">
            <a:extLst xmlns:a="http://schemas.openxmlformats.org/drawingml/2006/main">
              <a:ext uri="{FF2B5EF4-FFF2-40B4-BE49-F238E27FC236}">
                <a16:creationId xmlns:a16="http://schemas.microsoft.com/office/drawing/2014/main" id="{9BCFE6BF-70C1-4FBF-8B41-EDDD645B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990600"/>
            <a:ext cx="1514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联合用药</a:t>
            </a:r>
          </a:p>
        </p:txBody>
      </p:sp>
      <p:sp>
        <p:nvSpPr>
          <p:cNvPr id="12" name="combination-head-2-surface">
            <a:extLst xmlns:a="http://schemas.openxmlformats.org/drawingml/2006/main">
              <a:ext uri="{FF2B5EF4-FFF2-40B4-BE49-F238E27FC236}">
                <a16:creationId xmlns:a16="http://schemas.microsoft.com/office/drawing/2014/main" id="{541F4BED-CD05-4D98-879B-641C505D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914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combination-head-2-text">
            <a:extLst xmlns:a="http://schemas.openxmlformats.org/drawingml/2006/main">
              <a:ext uri="{FF2B5EF4-FFF2-40B4-BE49-F238E27FC236}">
                <a16:creationId xmlns:a16="http://schemas.microsoft.com/office/drawing/2014/main" id="{485C4BAE-0517-499F-8B3B-CBC8BE25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9906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联合商品图</a:t>
            </a:r>
          </a:p>
        </p:txBody>
      </p:sp>
      <p:sp>
        <p:nvSpPr>
          <p:cNvPr id="14" name="combination-head-3-surface">
            <a:extLst xmlns:a="http://schemas.openxmlformats.org/drawingml/2006/main">
              <a:ext uri="{FF2B5EF4-FFF2-40B4-BE49-F238E27FC236}">
                <a16:creationId xmlns:a16="http://schemas.microsoft.com/office/drawing/2014/main" id="{AFD9F094-5EAD-4AF4-96B4-DAD76D4C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914400"/>
            <a:ext cx="190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combination-head-3-text">
            <a:extLst xmlns:a="http://schemas.openxmlformats.org/drawingml/2006/main">
              <a:ext uri="{FF2B5EF4-FFF2-40B4-BE49-F238E27FC236}">
                <a16:creationId xmlns:a16="http://schemas.microsoft.com/office/drawing/2014/main" id="{26082DFA-4736-4CEA-A203-85F18C20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9906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本品图</a:t>
            </a:r>
          </a:p>
        </p:txBody>
      </p:sp>
      <p:sp>
        <p:nvSpPr>
          <p:cNvPr id="16" name="combination-head-4-surface">
            <a:extLst xmlns:a="http://schemas.openxmlformats.org/drawingml/2006/main">
              <a:ext uri="{FF2B5EF4-FFF2-40B4-BE49-F238E27FC236}">
                <a16:creationId xmlns:a16="http://schemas.microsoft.com/office/drawing/2014/main" id="{422EE94B-BE7B-4460-85BC-30BA7414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914400"/>
            <a:ext cx="4429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combination-head-4-text">
            <a:extLst xmlns:a="http://schemas.openxmlformats.org/drawingml/2006/main">
              <a:ext uri="{FF2B5EF4-FFF2-40B4-BE49-F238E27FC236}">
                <a16:creationId xmlns:a16="http://schemas.microsoft.com/office/drawing/2014/main" id="{5A69FAEB-58B6-4161-AC9C-E1A62F4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990600"/>
            <a:ext cx="4276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销售话术</a:t>
            </a:r>
          </a:p>
        </p:txBody>
      </p:sp>
      <p:sp>
        <p:nvSpPr>
          <p:cNvPr id="18" name="combination-scenario-0-surface">
            <a:extLst xmlns:a="http://schemas.openxmlformats.org/drawingml/2006/main">
              <a:ext uri="{FF2B5EF4-FFF2-40B4-BE49-F238E27FC236}">
                <a16:creationId xmlns:a16="http://schemas.microsoft.com/office/drawing/2014/main" id="{6C204B76-7AC7-4757-AF8F-A5543728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466850"/>
            <a:ext cx="1428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combination-scenario-0-text">
            <a:extLst xmlns:a="http://schemas.openxmlformats.org/drawingml/2006/main">
              <a:ext uri="{FF2B5EF4-FFF2-40B4-BE49-F238E27FC236}">
                <a16:creationId xmlns:a16="http://schemas.microsoft.com/office/drawing/2014/main" id="{2AEF1B93-01D7-438D-8D58-227C09B1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543050"/>
            <a:ext cx="1276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风热感冒引起的咽喉肿痛</a:t>
            </a:r>
          </a:p>
        </p:txBody>
      </p:sp>
      <p:sp>
        <p:nvSpPr>
          <p:cNvPr id="20" name="combination-name-0-surface">
            <a:extLst xmlns:a="http://schemas.openxmlformats.org/drawingml/2006/main">
              <a:ext uri="{FF2B5EF4-FFF2-40B4-BE49-F238E27FC236}">
                <a16:creationId xmlns:a16="http://schemas.microsoft.com/office/drawing/2014/main" id="{4A29D59A-30F1-4E2E-925D-41B3E948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466850"/>
            <a:ext cx="166687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combination-name-0-text">
            <a:extLst xmlns:a="http://schemas.openxmlformats.org/drawingml/2006/main">
              <a:ext uri="{FF2B5EF4-FFF2-40B4-BE49-F238E27FC236}">
                <a16:creationId xmlns:a16="http://schemas.microsoft.com/office/drawing/2014/main" id="{7B967269-E0C5-4306-9D20-ECC72622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15144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金银花露 + 小儿咽扁颗粒</a:t>
            </a:r>
          </a:p>
        </p:txBody>
      </p:sp>
      <p:sp>
        <p:nvSpPr>
          <p:cNvPr id="22" name="combination-partner-surface-0">
            <a:extLst xmlns:a="http://schemas.openxmlformats.org/drawingml/2006/main">
              <a:ext uri="{FF2B5EF4-FFF2-40B4-BE49-F238E27FC236}">
                <a16:creationId xmlns:a16="http://schemas.microsoft.com/office/drawing/2014/main" id="{2F56E9FC-690E-408A-A13E-8DA68B73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66850"/>
            <a:ext cx="21907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partner-slot-0-surface">
            <a:extLst xmlns:a="http://schemas.openxmlformats.org/drawingml/2006/main">
              <a:ext uri="{FF2B5EF4-FFF2-40B4-BE49-F238E27FC236}">
                <a16:creationId xmlns:a16="http://schemas.microsoft.com/office/drawing/2014/main" id="{0E07151B-72B0-4A2B-B6B4-102F70BE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00200"/>
            <a:ext cx="1809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24" name="partner-slot-0-label">
            <a:extLst xmlns:a="http://schemas.openxmlformats.org/drawingml/2006/main">
              <a:ext uri="{FF2B5EF4-FFF2-40B4-BE49-F238E27FC236}">
                <a16:creationId xmlns:a16="http://schemas.microsoft.com/office/drawing/2014/main" id="{9F8BF22E-1E3B-4DAC-82F4-E831D63D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0669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小儿咽扁颗粒（康乐仔）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包装图待接入</a:t>
            </a:r>
          </a:p>
        </p:txBody>
      </p:sp>
      <p:sp>
        <p:nvSpPr>
          <p:cNvPr id="25" name="combination-talk-0-surface">
            <a:extLst xmlns:a="http://schemas.openxmlformats.org/drawingml/2006/main">
              <a:ext uri="{FF2B5EF4-FFF2-40B4-BE49-F238E27FC236}">
                <a16:creationId xmlns:a16="http://schemas.microsoft.com/office/drawing/2014/main" id="{9930D964-065D-40CC-8D80-469F47CE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466850"/>
            <a:ext cx="4429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combination-talk-0-text">
            <a:extLst xmlns:a="http://schemas.openxmlformats.org/drawingml/2006/main">
              <a:ext uri="{FF2B5EF4-FFF2-40B4-BE49-F238E27FC236}">
                <a16:creationId xmlns:a16="http://schemas.microsoft.com/office/drawing/2014/main" id="{BE94919D-C4A3-452E-9F55-E7718207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43050"/>
            <a:ext cx="42767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小儿咽扁颗粒直击咽喉炎症，消肿止痛；金银花露清解内热，辅助降火。二者联用，内外兼治，加速缓解咽喉肿痛、暑热烦躁。</a:t>
            </a:r>
          </a:p>
        </p:txBody>
      </p:sp>
      <p:sp>
        <p:nvSpPr>
          <p:cNvPr id="27" name="combination-scenario-1-surface">
            <a:extLst xmlns:a="http://schemas.openxmlformats.org/drawingml/2006/main">
              <a:ext uri="{FF2B5EF4-FFF2-40B4-BE49-F238E27FC236}">
                <a16:creationId xmlns:a16="http://schemas.microsoft.com/office/drawing/2014/main" id="{28386CB9-98D3-4B7B-93A9-70F046E2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143250"/>
            <a:ext cx="1428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7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combination-scenario-1-text">
            <a:extLst xmlns:a="http://schemas.openxmlformats.org/drawingml/2006/main">
              <a:ext uri="{FF2B5EF4-FFF2-40B4-BE49-F238E27FC236}">
                <a16:creationId xmlns:a16="http://schemas.microsoft.com/office/drawing/2014/main" id="{29F4E923-CC03-4CDE-A52F-F6AADDA8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19450"/>
            <a:ext cx="12763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风热感冒引起的发热、鼻塞流涕</a:t>
            </a:r>
          </a:p>
        </p:txBody>
      </p:sp>
      <p:sp>
        <p:nvSpPr>
          <p:cNvPr id="29" name="combination-name-1-surface">
            <a:extLst xmlns:a="http://schemas.openxmlformats.org/drawingml/2006/main">
              <a:ext uri="{FF2B5EF4-FFF2-40B4-BE49-F238E27FC236}">
                <a16:creationId xmlns:a16="http://schemas.microsoft.com/office/drawing/2014/main" id="{7532D44F-241F-4D78-A834-C86F7A5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143250"/>
            <a:ext cx="16668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7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combination-name-1-text">
            <a:extLst xmlns:a="http://schemas.openxmlformats.org/drawingml/2006/main">
              <a:ext uri="{FF2B5EF4-FFF2-40B4-BE49-F238E27FC236}">
                <a16:creationId xmlns:a16="http://schemas.microsoft.com/office/drawing/2014/main" id="{2AC3C892-DC4C-435E-83D1-F362DEA1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219450"/>
            <a:ext cx="151447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金银花露 + 小儿氨酚黄那敏颗粒</a:t>
            </a:r>
          </a:p>
        </p:txBody>
      </p:sp>
      <p:sp>
        <p:nvSpPr>
          <p:cNvPr id="31" name="combination-partner-surface-1">
            <a:extLst xmlns:a="http://schemas.openxmlformats.org/drawingml/2006/main">
              <a:ext uri="{FF2B5EF4-FFF2-40B4-BE49-F238E27FC236}">
                <a16:creationId xmlns:a16="http://schemas.microsoft.com/office/drawing/2014/main" id="{23D38D02-7E22-4893-9CAA-831D97BE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143250"/>
            <a:ext cx="2190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7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partner-slot-1-surface">
            <a:extLst xmlns:a="http://schemas.openxmlformats.org/drawingml/2006/main">
              <a:ext uri="{FF2B5EF4-FFF2-40B4-BE49-F238E27FC236}">
                <a16:creationId xmlns:a16="http://schemas.microsoft.com/office/drawing/2014/main" id="{010E2CCA-018F-4CFF-8A2C-B2480BAF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276600"/>
            <a:ext cx="1809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33" name="partner-slot-1-label">
            <a:extLst xmlns:a="http://schemas.openxmlformats.org/drawingml/2006/main">
              <a:ext uri="{FF2B5EF4-FFF2-40B4-BE49-F238E27FC236}">
                <a16:creationId xmlns:a16="http://schemas.microsoft.com/office/drawing/2014/main" id="{13E80BEA-1106-4639-8133-372BA70C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38563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小儿氨酚黄那敏颗粒（康乐仔）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包装图待接入</a:t>
            </a:r>
          </a:p>
        </p:txBody>
      </p:sp>
      <p:sp>
        <p:nvSpPr>
          <p:cNvPr id="34" name="combination-talk-1-surface">
            <a:extLst xmlns:a="http://schemas.openxmlformats.org/drawingml/2006/main">
              <a:ext uri="{FF2B5EF4-FFF2-40B4-BE49-F238E27FC236}">
                <a16:creationId xmlns:a16="http://schemas.microsoft.com/office/drawing/2014/main" id="{A94E041B-A8E2-4354-B9DF-1A9B9169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143250"/>
            <a:ext cx="4429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7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combination-talk-1-text">
            <a:extLst xmlns:a="http://schemas.openxmlformats.org/drawingml/2006/main">
              <a:ext uri="{FF2B5EF4-FFF2-40B4-BE49-F238E27FC236}">
                <a16:creationId xmlns:a16="http://schemas.microsoft.com/office/drawing/2014/main" id="{833D3EE8-7825-4485-8058-7600EA76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219450"/>
            <a:ext cx="427672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小儿氨酚黄那敏颗粒用于缓解感冒症状，帮助退热、通鼻塞、止咳；金银花露清热解毒、利咽消肿。二者搭配，一个缓解外在症状，一个清解内热，快速缓解不适。</a:t>
            </a:r>
          </a:p>
        </p:txBody>
      </p:sp>
      <p:sp>
        <p:nvSpPr>
          <p:cNvPr id="36" name="combination-scenario-2-surface">
            <a:extLst xmlns:a="http://schemas.openxmlformats.org/drawingml/2006/main">
              <a:ext uri="{FF2B5EF4-FFF2-40B4-BE49-F238E27FC236}">
                <a16:creationId xmlns:a16="http://schemas.microsoft.com/office/drawing/2014/main" id="{C7D79AD2-1BC3-46C4-95DF-E6DB9155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10125"/>
            <a:ext cx="1428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combination-scenario-2-text">
            <a:extLst xmlns:a="http://schemas.openxmlformats.org/drawingml/2006/main">
              <a:ext uri="{FF2B5EF4-FFF2-40B4-BE49-F238E27FC236}">
                <a16:creationId xmlns:a16="http://schemas.microsoft.com/office/drawing/2014/main" id="{AFE2E3E3-C309-40A4-87CB-E8DF141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86325"/>
            <a:ext cx="12763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风热/肺热引起的咳嗽</a:t>
            </a:r>
          </a:p>
        </p:txBody>
      </p:sp>
      <p:sp>
        <p:nvSpPr>
          <p:cNvPr id="38" name="combination-name-2-surface">
            <a:extLst xmlns:a="http://schemas.openxmlformats.org/drawingml/2006/main">
              <a:ext uri="{FF2B5EF4-FFF2-40B4-BE49-F238E27FC236}">
                <a16:creationId xmlns:a16="http://schemas.microsoft.com/office/drawing/2014/main" id="{F477D51A-AF59-4A23-8624-3AF1BFCB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10125"/>
            <a:ext cx="16668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combination-name-2-text">
            <a:extLst xmlns:a="http://schemas.openxmlformats.org/drawingml/2006/main">
              <a:ext uri="{FF2B5EF4-FFF2-40B4-BE49-F238E27FC236}">
                <a16:creationId xmlns:a16="http://schemas.microsoft.com/office/drawing/2014/main" id="{06633851-75B5-49D3-8264-DB85DA9A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86325"/>
            <a:ext cx="151447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</a:defRPr>
            </a:pPr>
            <a:r>
              <a:rPr sz="1125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金银花露 + 氨溴特罗口服溶液</a:t>
            </a:r>
          </a:p>
        </p:txBody>
      </p:sp>
      <p:sp>
        <p:nvSpPr>
          <p:cNvPr id="40" name="combination-partner-surface-2">
            <a:extLst xmlns:a="http://schemas.openxmlformats.org/drawingml/2006/main">
              <a:ext uri="{FF2B5EF4-FFF2-40B4-BE49-F238E27FC236}">
                <a16:creationId xmlns:a16="http://schemas.microsoft.com/office/drawing/2014/main" id="{57488CDF-E23F-4A10-960C-0A2CEF9A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810125"/>
            <a:ext cx="21907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partner-slot-2-surface">
            <a:extLst xmlns:a="http://schemas.openxmlformats.org/drawingml/2006/main">
              <a:ext uri="{FF2B5EF4-FFF2-40B4-BE49-F238E27FC236}">
                <a16:creationId xmlns:a16="http://schemas.microsoft.com/office/drawing/2014/main" id="{D8777EF8-45E3-4D81-93BB-ABB332C8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943475"/>
            <a:ext cx="1809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42" name="partner-slot-2-label">
            <a:extLst xmlns:a="http://schemas.openxmlformats.org/drawingml/2006/main">
              <a:ext uri="{FF2B5EF4-FFF2-40B4-BE49-F238E27FC236}">
                <a16:creationId xmlns:a16="http://schemas.microsoft.com/office/drawing/2014/main" id="{A9B8E702-A930-4F93-A727-D9E6834E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405438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氨溴特罗口服溶液（康乐仔）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包装图待接入</a:t>
            </a:r>
          </a:p>
        </p:txBody>
      </p:sp>
      <p:sp>
        <p:nvSpPr>
          <p:cNvPr id="43" name="combination-talk-2-surface">
            <a:extLst xmlns:a="http://schemas.openxmlformats.org/drawingml/2006/main">
              <a:ext uri="{FF2B5EF4-FFF2-40B4-BE49-F238E27FC236}">
                <a16:creationId xmlns:a16="http://schemas.microsoft.com/office/drawing/2014/main" id="{A1B3AE75-A846-4066-AE22-4F2C7CF0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810125"/>
            <a:ext cx="4429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combination-talk-2-text">
            <a:extLst xmlns:a="http://schemas.openxmlformats.org/drawingml/2006/main">
              <a:ext uri="{FF2B5EF4-FFF2-40B4-BE49-F238E27FC236}">
                <a16:creationId xmlns:a16="http://schemas.microsoft.com/office/drawing/2014/main" id="{14584591-CAE1-4EC9-92F0-0E8FBA4B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886325"/>
            <a:ext cx="427672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肺炎光排痰不够，还需清肺热。氨溴特罗化痰止咳，金银花露清肺消炎；两个搭着用，炎症消得快，咳喘好得快。</a:t>
            </a:r>
          </a:p>
        </p:txBody>
      </p:sp>
      <p:sp>
        <p:nvSpPr>
          <p:cNvPr id="45" name="combination-primary-merge-surface">
            <a:extLst xmlns:a="http://schemas.openxmlformats.org/drawingml/2006/main">
              <a:ext uri="{FF2B5EF4-FFF2-40B4-BE49-F238E27FC236}">
                <a16:creationId xmlns:a16="http://schemas.microsoft.com/office/drawing/2014/main" id="{792E75C5-F2ED-4C0C-84F8-8209DF34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1466850"/>
            <a:ext cx="1905000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7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combination-primary-divider">
            <a:extLst xmlns:a="http://schemas.openxmlformats.org/drawingml/2006/main">
              <a:ext uri="{FF2B5EF4-FFF2-40B4-BE49-F238E27FC236}">
                <a16:creationId xmlns:a16="http://schemas.microsoft.com/office/drawing/2014/main" id="{ED303674-8D54-4F6F-8442-736D4481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1466850"/>
            <a:ext cx="28575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bination-plus">
            <a:extLst xmlns:a="http://schemas.openxmlformats.org/drawingml/2006/main">
              <a:ext uri="{FF2B5EF4-FFF2-40B4-BE49-F238E27FC236}">
                <a16:creationId xmlns:a16="http://schemas.microsoft.com/office/drawing/2014/main" id="{C42B370A-504F-4E02-BC0F-688AE397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705225"/>
            <a:ext cx="38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E60012"/>
                </a:solidFill>
              </a:defRPr>
            </a:pPr>
            <a:r>
              <a:rPr sz="3000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+</a:t>
            </a:r>
          </a:p>
        </p:txBody>
      </p:sp>
      <p:sp>
        <p:nvSpPr>
          <p:cNvPr id="48" name="combination-primary-product-surface">
            <a:extLst xmlns:a="http://schemas.openxmlformats.org/drawingml/2006/main">
              <a:ext uri="{FF2B5EF4-FFF2-40B4-BE49-F238E27FC236}">
                <a16:creationId xmlns:a16="http://schemas.microsoft.com/office/drawing/2014/main" id="{6995CE37-11CB-4C56-8382-0D09ABD6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38425"/>
            <a:ext cx="1238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49" name="combination-primary-product-label">
            <a:extLst xmlns:a="http://schemas.openxmlformats.org/drawingml/2006/main">
              <a:ext uri="{FF2B5EF4-FFF2-40B4-BE49-F238E27FC236}">
                <a16:creationId xmlns:a16="http://schemas.microsoft.com/office/drawing/2014/main" id="{0AC73A51-F5B7-4227-AB87-518A7AA5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338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金银花露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包装图待接入</a:t>
            </a:r>
          </a:p>
        </p:txBody>
      </p:sp>
    </p:spTree>
    <p:extLst>
      <p:ext uri="{BB962C8B-B14F-4D97-AF65-F5344CB8AC3E}">
        <p14:creationId xmlns:p14="http://schemas.microsoft.com/office/powerpoint/2010/main" val="700284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header-shadow-line">
            <a:extLst xmlns:a="http://schemas.openxmlformats.org/drawingml/2006/main">
              <a:ext uri="{FF2B5EF4-FFF2-40B4-BE49-F238E27FC236}">
                <a16:creationId xmlns:a16="http://schemas.microsoft.com/office/drawing/2014/main" id="{DC3F69CE-0280-4DB0-B72F-39AE57DC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green-line">
            <a:extLst xmlns:a="http://schemas.openxmlformats.org/drawingml/2006/main">
              <a:ext uri="{FF2B5EF4-FFF2-40B4-BE49-F238E27FC236}">
                <a16:creationId xmlns:a16="http://schemas.microsoft.com/office/drawing/2014/main" id="{22D9E253-35CD-4F79-BA0C-57DB3F7B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57225"/>
            <a:ext cx="11287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0F890E6C-B98E-476D-A282-A1436AAA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6667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181753-DBF7-4AD4-8AE7-653A80A6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80975"/>
            <a:ext cx="81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FFFFFF"/>
                </a:solidFill>
              </a:defRPr>
            </a:pPr>
            <a:r>
              <a:rPr sz="2100" b="0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5" name="page-title">
            <a:extLst xmlns:a="http://schemas.openxmlformats.org/drawingml/2006/main">
              <a:ext uri="{FF2B5EF4-FFF2-40B4-BE49-F238E27FC236}">
                <a16:creationId xmlns:a16="http://schemas.microsoft.com/office/drawing/2014/main" id="{7DB7262B-35DE-4DAF-942B-5CC2205B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品种对标</a:t>
            </a:r>
          </a:p>
        </p:txBody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D8F9C872-58DD-4C00-BB82-50CA23AC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5A817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AB89C3D0-E564-47D4-AB61-458C8E2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仅供内部学习</a:t>
            </a:r>
          </a:p>
        </p:txBody>
      </p:sp>
      <p:sp>
        <p:nvSpPr>
          <p:cNvPr id="8" name="benchmark-head-0-surface">
            <a:extLst xmlns:a="http://schemas.openxmlformats.org/drawingml/2006/main">
              <a:ext uri="{FF2B5EF4-FFF2-40B4-BE49-F238E27FC236}">
                <a16:creationId xmlns:a16="http://schemas.microsoft.com/office/drawing/2014/main" id="{EB0FEA3C-9161-4351-9930-C2152634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000125"/>
            <a:ext cx="171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9" name="benchmark-head-0-text">
            <a:extLst xmlns:a="http://schemas.openxmlformats.org/drawingml/2006/main">
              <a:ext uri="{FF2B5EF4-FFF2-40B4-BE49-F238E27FC236}">
                <a16:creationId xmlns:a16="http://schemas.microsoft.com/office/drawing/2014/main" id="{12432136-2364-457B-9E3A-6EEECDE0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076325"/>
            <a:ext cx="1562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对比维度</a:t>
            </a:r>
          </a:p>
        </p:txBody>
      </p:sp>
      <p:sp>
        <p:nvSpPr>
          <p:cNvPr id="10" name="benchmark-head-1-surface">
            <a:extLst xmlns:a="http://schemas.openxmlformats.org/drawingml/2006/main">
              <a:ext uri="{FF2B5EF4-FFF2-40B4-BE49-F238E27FC236}">
                <a16:creationId xmlns:a16="http://schemas.microsoft.com/office/drawing/2014/main" id="{935D851E-7AC7-4B36-8A1C-265884D4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000125"/>
            <a:ext cx="504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benchmark-head-1-text">
            <a:extLst xmlns:a="http://schemas.openxmlformats.org/drawingml/2006/main">
              <a:ext uri="{FF2B5EF4-FFF2-40B4-BE49-F238E27FC236}">
                <a16:creationId xmlns:a16="http://schemas.microsoft.com/office/drawing/2014/main" id="{42DA3EB0-EC47-4D0A-A949-F6A937C9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076325"/>
            <a:ext cx="489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金银花露（可可康）</a:t>
            </a:r>
          </a:p>
        </p:txBody>
      </p:sp>
      <p:sp>
        <p:nvSpPr>
          <p:cNvPr id="12" name="benchmark-head-2-surface">
            <a:extLst xmlns:a="http://schemas.openxmlformats.org/drawingml/2006/main">
              <a:ext uri="{FF2B5EF4-FFF2-40B4-BE49-F238E27FC236}">
                <a16:creationId xmlns:a16="http://schemas.microsoft.com/office/drawing/2014/main" id="{EEE051CA-73C3-4E0C-8220-B0663D32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000125"/>
            <a:ext cx="4667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3" name="benchmark-head-2-text">
            <a:extLst xmlns:a="http://schemas.openxmlformats.org/drawingml/2006/main">
              <a:ext uri="{FF2B5EF4-FFF2-40B4-BE49-F238E27FC236}">
                <a16:creationId xmlns:a16="http://schemas.microsoft.com/office/drawing/2014/main" id="{1ABAB97B-71F4-4AC7-BBB3-BC95A0BD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076325"/>
            <a:ext cx="451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金银花露（小葵花露-葵花药业）</a:t>
            </a:r>
          </a:p>
        </p:txBody>
      </p:sp>
      <p:sp>
        <p:nvSpPr>
          <p:cNvPr id="14" name="benchmark-label-0-surface">
            <a:extLst xmlns:a="http://schemas.openxmlformats.org/drawingml/2006/main">
              <a:ext uri="{FF2B5EF4-FFF2-40B4-BE49-F238E27FC236}">
                <a16:creationId xmlns:a16="http://schemas.microsoft.com/office/drawing/2014/main" id="{127286C2-DCBD-4A3D-8F92-427B7090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9067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benchmark-label-0-text">
            <a:extLst xmlns:a="http://schemas.openxmlformats.org/drawingml/2006/main">
              <a:ext uri="{FF2B5EF4-FFF2-40B4-BE49-F238E27FC236}">
                <a16:creationId xmlns:a16="http://schemas.microsoft.com/office/drawing/2014/main" id="{5C364A86-1C11-446B-88D0-C43D7CED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66875"/>
            <a:ext cx="15621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产品展示</a:t>
            </a:r>
          </a:p>
        </p:txBody>
      </p:sp>
      <p:sp>
        <p:nvSpPr>
          <p:cNvPr id="16" name="benchmark-product-left-cell">
            <a:extLst xmlns:a="http://schemas.openxmlformats.org/drawingml/2006/main">
              <a:ext uri="{FF2B5EF4-FFF2-40B4-BE49-F238E27FC236}">
                <a16:creationId xmlns:a16="http://schemas.microsoft.com/office/drawing/2014/main" id="{D5E12809-6DFF-41D7-87B1-C660705F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590675"/>
            <a:ext cx="5048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7" name="benchmark-product-right-cell">
            <a:extLst xmlns:a="http://schemas.openxmlformats.org/drawingml/2006/main">
              <a:ext uri="{FF2B5EF4-FFF2-40B4-BE49-F238E27FC236}">
                <a16:creationId xmlns:a16="http://schemas.microsoft.com/office/drawing/2014/main" id="{A676687F-4FDB-46C4-9B38-F77748EF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90675"/>
            <a:ext cx="4667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8" name="benchmark-primary-packshot-surface">
            <a:extLst xmlns:a="http://schemas.openxmlformats.org/drawingml/2006/main">
              <a:ext uri="{FF2B5EF4-FFF2-40B4-BE49-F238E27FC236}">
                <a16:creationId xmlns:a16="http://schemas.microsoft.com/office/drawing/2014/main" id="{9C823811-F25B-4B80-B2B0-FF12A303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62125"/>
            <a:ext cx="1333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4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19" name="benchmark-primary-packshot-label">
            <a:extLst xmlns:a="http://schemas.openxmlformats.org/drawingml/2006/main">
              <a:ext uri="{FF2B5EF4-FFF2-40B4-BE49-F238E27FC236}">
                <a16:creationId xmlns:a16="http://schemas.microsoft.com/office/drawing/2014/main" id="{14C59D85-5361-4DE2-916E-FE619A75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57425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可可康包装图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待接入</a:t>
            </a:r>
          </a:p>
        </p:txBody>
      </p:sp>
      <p:sp>
        <p:nvSpPr>
          <p:cNvPr id="20" name="benchmark-competitor-packshot-surface">
            <a:extLst xmlns:a="http://schemas.openxmlformats.org/drawingml/2006/main">
              <a:ext uri="{FF2B5EF4-FFF2-40B4-BE49-F238E27FC236}">
                <a16:creationId xmlns:a16="http://schemas.microsoft.com/office/drawing/2014/main" id="{1A1500C2-E7BB-4F19-8289-92BDC0E7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62125"/>
            <a:ext cx="1333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E8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21" name="benchmark-competitor-packshot-label">
            <a:extLst xmlns:a="http://schemas.openxmlformats.org/drawingml/2006/main">
              <a:ext uri="{FF2B5EF4-FFF2-40B4-BE49-F238E27FC236}">
                <a16:creationId xmlns:a16="http://schemas.microsoft.com/office/drawing/2014/main" id="{4F80370F-AD26-4959-83D3-21DC15F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57425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竞品包装图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待接入</a:t>
            </a:r>
          </a:p>
        </p:txBody>
      </p:sp>
      <p:sp>
        <p:nvSpPr>
          <p:cNvPr id="22" name="benchmark-label-1-surface">
            <a:extLst xmlns:a="http://schemas.openxmlformats.org/drawingml/2006/main">
              <a:ext uri="{FF2B5EF4-FFF2-40B4-BE49-F238E27FC236}">
                <a16:creationId xmlns:a16="http://schemas.microsoft.com/office/drawing/2014/main" id="{A2577484-5230-409F-A079-27F13C12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4004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3" name="benchmark-label-1-text">
            <a:extLst xmlns:a="http://schemas.openxmlformats.org/drawingml/2006/main">
              <a:ext uri="{FF2B5EF4-FFF2-40B4-BE49-F238E27FC236}">
                <a16:creationId xmlns:a16="http://schemas.microsoft.com/office/drawing/2014/main" id="{87EB4463-9429-41DE-9A49-42588C50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76625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功效主治</a:t>
            </a:r>
          </a:p>
        </p:txBody>
      </p:sp>
      <p:sp>
        <p:nvSpPr>
          <p:cNvPr id="24" name="benchmark-merged-1-surface">
            <a:extLst xmlns:a="http://schemas.openxmlformats.org/drawingml/2006/main">
              <a:ext uri="{FF2B5EF4-FFF2-40B4-BE49-F238E27FC236}">
                <a16:creationId xmlns:a16="http://schemas.microsoft.com/office/drawing/2014/main" id="{296766B9-3B12-4EC2-97EE-2C7C1BCF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0425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5" name="benchmark-merged-1-text">
            <a:extLst xmlns:a="http://schemas.openxmlformats.org/drawingml/2006/main">
              <a:ext uri="{FF2B5EF4-FFF2-40B4-BE49-F238E27FC236}">
                <a16:creationId xmlns:a16="http://schemas.microsoft.com/office/drawing/2014/main" id="{D7A4CE03-C02D-4FAD-83DE-D119A7DB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476625"/>
            <a:ext cx="956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清热解毒。用于小儿痱毒，暑热口渴</a:t>
            </a:r>
          </a:p>
        </p:txBody>
      </p:sp>
      <p:sp>
        <p:nvSpPr>
          <p:cNvPr id="26" name="benchmark-label-2-surface">
            <a:extLst xmlns:a="http://schemas.openxmlformats.org/drawingml/2006/main">
              <a:ext uri="{FF2B5EF4-FFF2-40B4-BE49-F238E27FC236}">
                <a16:creationId xmlns:a16="http://schemas.microsoft.com/office/drawing/2014/main" id="{EA6ED26D-BCEA-420D-8083-A179712D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862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7" name="benchmark-label-2-text">
            <a:extLst xmlns:a="http://schemas.openxmlformats.org/drawingml/2006/main">
              <a:ext uri="{FF2B5EF4-FFF2-40B4-BE49-F238E27FC236}">
                <a16:creationId xmlns:a16="http://schemas.microsoft.com/office/drawing/2014/main" id="{0E27BD7C-2C81-4D10-9BC6-C97C18F9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62425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共有优势</a:t>
            </a:r>
          </a:p>
        </p:txBody>
      </p:sp>
      <p:sp>
        <p:nvSpPr>
          <p:cNvPr id="28" name="benchmark-merged-2-surface">
            <a:extLst xmlns:a="http://schemas.openxmlformats.org/drawingml/2006/main">
              <a:ext uri="{FF2B5EF4-FFF2-40B4-BE49-F238E27FC236}">
                <a16:creationId xmlns:a16="http://schemas.microsoft.com/office/drawing/2014/main" id="{0A0ED828-0898-4E3E-B23B-F12A0096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86225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9" name="benchmark-merged-2-text">
            <a:extLst xmlns:a="http://schemas.openxmlformats.org/drawingml/2006/main">
              <a:ext uri="{FF2B5EF4-FFF2-40B4-BE49-F238E27FC236}">
                <a16:creationId xmlns:a16="http://schemas.microsoft.com/office/drawing/2014/main" id="{539B4A99-1C6D-4F56-80F0-256CE998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62425"/>
            <a:ext cx="956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清甜好喝不抗拒，防漏瓶盖不浪费，宝宝自己就能喝</a:t>
            </a:r>
          </a:p>
        </p:txBody>
      </p:sp>
      <p:sp>
        <p:nvSpPr>
          <p:cNvPr id="30" name="benchmark-label-3-surface">
            <a:extLst xmlns:a="http://schemas.openxmlformats.org/drawingml/2006/main">
              <a:ext uri="{FF2B5EF4-FFF2-40B4-BE49-F238E27FC236}">
                <a16:creationId xmlns:a16="http://schemas.microsoft.com/office/drawing/2014/main" id="{1ABF3FBC-46F2-44EE-987E-16393A5B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7720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1" name="benchmark-label-3-text">
            <a:extLst xmlns:a="http://schemas.openxmlformats.org/drawingml/2006/main">
              <a:ext uri="{FF2B5EF4-FFF2-40B4-BE49-F238E27FC236}">
                <a16:creationId xmlns:a16="http://schemas.microsoft.com/office/drawing/2014/main" id="{88C2F739-E9CB-45C5-8274-5388AF9B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48225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零售价</a:t>
            </a:r>
          </a:p>
        </p:txBody>
      </p:sp>
      <p:sp>
        <p:nvSpPr>
          <p:cNvPr id="32" name="benchmark-left-3-surface">
            <a:extLst xmlns:a="http://schemas.openxmlformats.org/drawingml/2006/main">
              <a:ext uri="{FF2B5EF4-FFF2-40B4-BE49-F238E27FC236}">
                <a16:creationId xmlns:a16="http://schemas.microsoft.com/office/drawing/2014/main" id="{5F483188-A48C-4125-BC12-0F5E27ED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72025"/>
            <a:ext cx="5048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3" name="benchmark-left-3-text">
            <a:extLst xmlns:a="http://schemas.openxmlformats.org/drawingml/2006/main">
              <a:ext uri="{FF2B5EF4-FFF2-40B4-BE49-F238E27FC236}">
                <a16:creationId xmlns:a16="http://schemas.microsoft.com/office/drawing/2014/main" id="{351B0458-487F-4F08-AB6B-23036B4D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848225"/>
            <a:ext cx="4895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9.9元（265ml）</a:t>
            </a:r>
          </a:p>
        </p:txBody>
      </p:sp>
      <p:sp>
        <p:nvSpPr>
          <p:cNvPr id="34" name="benchmark-right-3-surface">
            <a:extLst xmlns:a="http://schemas.openxmlformats.org/drawingml/2006/main">
              <a:ext uri="{FF2B5EF4-FFF2-40B4-BE49-F238E27FC236}">
                <a16:creationId xmlns:a16="http://schemas.microsoft.com/office/drawing/2014/main" id="{7B1C647F-EEBF-4D4F-8263-1CC2B35D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772025"/>
            <a:ext cx="4667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5" name="benchmark-right-3-text">
            <a:extLst xmlns:a="http://schemas.openxmlformats.org/drawingml/2006/main">
              <a:ext uri="{FF2B5EF4-FFF2-40B4-BE49-F238E27FC236}">
                <a16:creationId xmlns:a16="http://schemas.microsoft.com/office/drawing/2014/main" id="{2616EEB3-DBE3-403D-9A88-DCA34ABD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848225"/>
            <a:ext cx="451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13.3元（250ml）</a:t>
            </a:r>
          </a:p>
        </p:txBody>
      </p:sp>
      <p:sp>
        <p:nvSpPr>
          <p:cNvPr id="36" name="benchmark-label-4-surface">
            <a:extLst xmlns:a="http://schemas.openxmlformats.org/drawingml/2006/main">
              <a:ext uri="{FF2B5EF4-FFF2-40B4-BE49-F238E27FC236}">
                <a16:creationId xmlns:a16="http://schemas.microsoft.com/office/drawing/2014/main" id="{F83DB137-83B5-4865-871C-2BCEB4EF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57825"/>
            <a:ext cx="1714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7" name="benchmark-label-4-text">
            <a:extLst xmlns:a="http://schemas.openxmlformats.org/drawingml/2006/main">
              <a:ext uri="{FF2B5EF4-FFF2-40B4-BE49-F238E27FC236}">
                <a16:creationId xmlns:a16="http://schemas.microsoft.com/office/drawing/2014/main" id="{2BEC8A1B-30B7-487C-A9C5-121FF897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534025"/>
            <a:ext cx="156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卖点差异</a:t>
            </a:r>
          </a:p>
        </p:txBody>
      </p:sp>
      <p:sp>
        <p:nvSpPr>
          <p:cNvPr id="38" name="benchmark-left-4-surface">
            <a:extLst xmlns:a="http://schemas.openxmlformats.org/drawingml/2006/main">
              <a:ext uri="{FF2B5EF4-FFF2-40B4-BE49-F238E27FC236}">
                <a16:creationId xmlns:a16="http://schemas.microsoft.com/office/drawing/2014/main" id="{AA3408C5-E6E0-4E60-993A-FA0A5811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457825"/>
            <a:ext cx="504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9" name="benchmark-left-4-text">
            <a:extLst xmlns:a="http://schemas.openxmlformats.org/drawingml/2006/main">
              <a:ext uri="{FF2B5EF4-FFF2-40B4-BE49-F238E27FC236}">
                <a16:creationId xmlns:a16="http://schemas.microsoft.com/office/drawing/2014/main" id="{411AE93F-4920-4271-AA9B-1322FE1A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534025"/>
            <a:ext cx="4895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60012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性价比高</a:t>
            </a:r>
          </a:p>
          <a:p xmlns:a="http://schemas.openxmlformats.org/drawingml/2006/main">
            <a:pPr algn="ctr">
              <a:defRPr sz="1350" b="1">
                <a:solidFill>
                  <a:srgbClr val="E60012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E60012"/>
                </a:solidFill>
              </a:rPr>
              <a:t>毛利率高</a:t>
            </a:r>
          </a:p>
        </p:txBody>
      </p:sp>
      <p:sp>
        <p:nvSpPr>
          <p:cNvPr id="40" name="benchmark-right-4-surface">
            <a:extLst xmlns:a="http://schemas.openxmlformats.org/drawingml/2006/main">
              <a:ext uri="{FF2B5EF4-FFF2-40B4-BE49-F238E27FC236}">
                <a16:creationId xmlns:a16="http://schemas.microsoft.com/office/drawing/2014/main" id="{4D36784F-19D9-4CD6-8241-43D4C40F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457825"/>
            <a:ext cx="466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41" name="benchmark-right-4-text">
            <a:extLst xmlns:a="http://schemas.openxmlformats.org/drawingml/2006/main">
              <a:ext uri="{FF2B5EF4-FFF2-40B4-BE49-F238E27FC236}">
                <a16:creationId xmlns:a16="http://schemas.microsoft.com/office/drawing/2014/main" id="{38E96D64-E1A1-48C2-83BF-053D72C7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534025"/>
            <a:ext cx="451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8800769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header-shadow-line">
            <a:extLst xmlns:a="http://schemas.openxmlformats.org/drawingml/2006/main">
              <a:ext uri="{FF2B5EF4-FFF2-40B4-BE49-F238E27FC236}">
                <a16:creationId xmlns:a16="http://schemas.microsoft.com/office/drawing/2014/main" id="{B20A3CFF-52C8-400B-93B4-6BD1698D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8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eader-green-line">
            <a:extLst xmlns:a="http://schemas.openxmlformats.org/drawingml/2006/main">
              <a:ext uri="{FF2B5EF4-FFF2-40B4-BE49-F238E27FC236}">
                <a16:creationId xmlns:a16="http://schemas.microsoft.com/office/drawing/2014/main" id="{F05B3171-2F49-4E53-BE58-F9E91F8A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57225"/>
            <a:ext cx="11287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umber-block">
            <a:extLst xmlns:a="http://schemas.openxmlformats.org/drawingml/2006/main">
              <a:ext uri="{FF2B5EF4-FFF2-40B4-BE49-F238E27FC236}">
                <a16:creationId xmlns:a16="http://schemas.microsoft.com/office/drawing/2014/main" id="{C4ED8F17-867D-48B5-AA59-9ADC4EE9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6667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D1ADAF-9952-4CDE-AD60-C9F9DA9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80975"/>
            <a:ext cx="81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FFFFFF"/>
                </a:solidFill>
              </a:defRPr>
            </a:pPr>
            <a:r>
              <a:rPr sz="2100" b="0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" name="page-title">
            <a:extLst xmlns:a="http://schemas.openxmlformats.org/drawingml/2006/main">
              <a:ext uri="{FF2B5EF4-FFF2-40B4-BE49-F238E27FC236}">
                <a16:creationId xmlns:a16="http://schemas.microsoft.com/office/drawing/2014/main" id="{73DA4B04-9304-407F-AEFE-D0335CBF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注意事项</a:t>
            </a:r>
          </a:p>
        </p:txBody>
      </p:sp>
      <p:sp>
        <p:nvSpPr>
          <p:cNvPr id="6" name="brand-wordmark">
            <a:extLst xmlns:a="http://schemas.openxmlformats.org/drawingml/2006/main">
              <a:ext uri="{FF2B5EF4-FFF2-40B4-BE49-F238E27FC236}">
                <a16:creationId xmlns:a16="http://schemas.microsoft.com/office/drawing/2014/main" id="{2257EE60-E9F8-47FF-8246-BB74F44E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45A817"/>
                </a:solidFill>
              </a:defRPr>
            </a:pPr>
            <a:r>
              <a:rPr sz="1350" b="1">
                <a:latin typeface="Microsoft YaHei"/>
                <a:ea typeface="微软雅黑"/>
                <a:cs typeface="Microsoft YaHei"/>
                <a:solidFill>
                  <a:srgbClr val="45A817"/>
                </a:solidFill>
              </a:rPr>
              <a:t>大参林 dashenlin</a:t>
            </a:r>
          </a:p>
        </p:txBody>
      </p:sp>
      <p:sp>
        <p:nvSpPr>
          <p:cNvPr id="7" name="internal-notice">
            <a:extLst xmlns:a="http://schemas.openxmlformats.org/drawingml/2006/main">
              <a:ext uri="{FF2B5EF4-FFF2-40B4-BE49-F238E27FC236}">
                <a16:creationId xmlns:a16="http://schemas.microsoft.com/office/drawing/2014/main" id="{D0B5FC41-8B73-4350-B677-142A5D52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53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仅供内部学习</a:t>
            </a:r>
          </a:p>
        </p:txBody>
      </p:sp>
      <p:sp>
        <p:nvSpPr>
          <p:cNvPr id="8" name="precautions-label">
            <a:extLst xmlns:a="http://schemas.openxmlformats.org/drawingml/2006/main">
              <a:ext uri="{FF2B5EF4-FFF2-40B4-BE49-F238E27FC236}">
                <a16:creationId xmlns:a16="http://schemas.microsoft.com/office/drawing/2014/main" id="{7D828FA0-8FC9-4ACB-883C-0CE8C4F4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FFFFFF"/>
                </a:solidFill>
              </a:rPr>
              <a:t>注意事项：</a:t>
            </a:r>
          </a:p>
        </p:txBody>
      </p:sp>
      <p:sp>
        <p:nvSpPr>
          <p:cNvPr id="9" name="precaution-item-0">
            <a:extLst xmlns:a="http://schemas.openxmlformats.org/drawingml/2006/main">
              <a:ext uri="{FF2B5EF4-FFF2-40B4-BE49-F238E27FC236}">
                <a16:creationId xmlns:a16="http://schemas.microsoft.com/office/drawing/2014/main" id="{A18128A3-8432-4844-88C0-F01A406C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1、服药时饮食宜清淡。</a:t>
            </a:r>
          </a:p>
        </p:txBody>
      </p:sp>
      <p:sp>
        <p:nvSpPr>
          <p:cNvPr id="10" name="precaution-item-1">
            <a:extLst xmlns:a="http://schemas.openxmlformats.org/drawingml/2006/main">
              <a:ext uri="{FF2B5EF4-FFF2-40B4-BE49-F238E27FC236}">
                <a16:creationId xmlns:a16="http://schemas.microsoft.com/office/drawing/2014/main" id="{2D747461-DD1D-4934-BFF8-F46B0EE6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2、服用本药时，不宜同时服滋补性中成药。</a:t>
            </a:r>
          </a:p>
        </p:txBody>
      </p:sp>
      <p:sp>
        <p:nvSpPr>
          <p:cNvPr id="11" name="precaution-item-2">
            <a:extLst xmlns:a="http://schemas.openxmlformats.org/drawingml/2006/main">
              <a:ext uri="{FF2B5EF4-FFF2-40B4-BE49-F238E27FC236}">
                <a16:creationId xmlns:a16="http://schemas.microsoft.com/office/drawing/2014/main" id="{C9270BC9-13CC-4A0E-985B-10E8CEB1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0375"/>
            <a:ext cx="5381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3、脾虚大便溏者慎服。</a:t>
            </a:r>
          </a:p>
        </p:txBody>
      </p:sp>
      <p:sp>
        <p:nvSpPr>
          <p:cNvPr id="12" name="precaution-item-3">
            <a:extLst xmlns:a="http://schemas.openxmlformats.org/drawingml/2006/main">
              <a:ext uri="{FF2B5EF4-FFF2-40B4-BE49-F238E27FC236}">
                <a16:creationId xmlns:a16="http://schemas.microsoft.com/office/drawing/2014/main" id="{0B0D134F-A5D2-42E0-8271-67B71CBC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5381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4、服用3天后，症状无改善，或出现其他严重症状时应停药，并去医院就诊。</a:t>
            </a:r>
          </a:p>
        </p:txBody>
      </p:sp>
      <p:sp>
        <p:nvSpPr>
          <p:cNvPr id="13" name="precaution-item-4">
            <a:extLst xmlns:a="http://schemas.openxmlformats.org/drawingml/2006/main">
              <a:ext uri="{FF2B5EF4-FFF2-40B4-BE49-F238E27FC236}">
                <a16:creationId xmlns:a16="http://schemas.microsoft.com/office/drawing/2014/main" id="{DF202C8F-5924-42C5-901A-32525C8C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9625"/>
            <a:ext cx="5381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5、对本品过敏者禁用，过敏体质者慎用。本品性状发生改变时禁止使用。</a:t>
            </a:r>
          </a:p>
        </p:txBody>
      </p:sp>
      <p:sp>
        <p:nvSpPr>
          <p:cNvPr id="14" name="precaution-card-0">
            <a:extLst xmlns:a="http://schemas.openxmlformats.org/drawingml/2006/main">
              <a:ext uri="{FF2B5EF4-FFF2-40B4-BE49-F238E27FC236}">
                <a16:creationId xmlns:a16="http://schemas.microsoft.com/office/drawing/2014/main" id="{E4384D9F-DEF9-4C70-8B83-8C5D922A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00125"/>
            <a:ext cx="2543175" cy="25193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EC"/>
          </a:solidFill>
          <a:ln xmlns:a="http://schemas.openxmlformats.org/drawingml/2006/main" w="28575">
            <a:solidFill>
              <a:srgbClr val="009900"/>
            </a:solidFill>
            <a:prstDash val="solid"/>
          </a:ln>
        </p:spPr>
      </p:sp>
      <p:sp>
        <p:nvSpPr>
          <p:cNvPr id="15" name="precaution-card-title-0">
            <a:extLst xmlns:a="http://schemas.openxmlformats.org/drawingml/2006/main">
              <a:ext uri="{FF2B5EF4-FFF2-40B4-BE49-F238E27FC236}">
                <a16:creationId xmlns:a16="http://schemas.microsoft.com/office/drawing/2014/main" id="{67C70946-2B13-4CB2-80A1-FA8843E0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09675"/>
            <a:ext cx="2162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！ 饮食宜清淡</a:t>
            </a:r>
          </a:p>
        </p:txBody>
      </p:sp>
      <p:sp>
        <p:nvSpPr>
          <p:cNvPr id="16" name="precaution-asset-0-surface">
            <a:extLst xmlns:a="http://schemas.openxmlformats.org/drawingml/2006/main">
              <a:ext uri="{FF2B5EF4-FFF2-40B4-BE49-F238E27FC236}">
                <a16:creationId xmlns:a16="http://schemas.microsoft.com/office/drawing/2014/main" id="{155FAB6A-8EEA-4514-8E88-A1D646A3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24025"/>
            <a:ext cx="1876425" cy="1519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9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17" name="precaution-asset-0-label">
            <a:extLst xmlns:a="http://schemas.openxmlformats.org/drawingml/2006/main">
              <a:ext uri="{FF2B5EF4-FFF2-40B4-BE49-F238E27FC236}">
                <a16:creationId xmlns:a16="http://schemas.microsoft.com/office/drawing/2014/main" id="{256B0BF8-FA18-4257-B4A0-922DBFA9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245519"/>
            <a:ext cx="1685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原创插图槽位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饮食宜清淡</a:t>
            </a:r>
          </a:p>
        </p:txBody>
      </p:sp>
      <p:sp>
        <p:nvSpPr>
          <p:cNvPr id="18" name="precaution-card-1">
            <a:extLst xmlns:a="http://schemas.openxmlformats.org/drawingml/2006/main">
              <a:ext uri="{FF2B5EF4-FFF2-40B4-BE49-F238E27FC236}">
                <a16:creationId xmlns:a16="http://schemas.microsoft.com/office/drawing/2014/main" id="{CD9902A3-C135-4E8F-AD29-082C4BB8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000125"/>
            <a:ext cx="2543175" cy="25193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EC"/>
          </a:solidFill>
          <a:ln xmlns:a="http://schemas.openxmlformats.org/drawingml/2006/main" w="28575">
            <a:solidFill>
              <a:srgbClr val="009900"/>
            </a:solidFill>
            <a:prstDash val="solid"/>
          </a:ln>
        </p:spPr>
      </p:sp>
      <p:sp>
        <p:nvSpPr>
          <p:cNvPr id="19" name="precaution-card-title-1">
            <a:extLst xmlns:a="http://schemas.openxmlformats.org/drawingml/2006/main">
              <a:ext uri="{FF2B5EF4-FFF2-40B4-BE49-F238E27FC236}">
                <a16:creationId xmlns:a16="http://schemas.microsoft.com/office/drawing/2014/main" id="{989DDFED-549D-4DEE-B627-CD71E557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209675"/>
            <a:ext cx="2162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！ 滋补性中成药</a:t>
            </a:r>
          </a:p>
        </p:txBody>
      </p:sp>
      <p:sp>
        <p:nvSpPr>
          <p:cNvPr id="20" name="precaution-asset-1-surface">
            <a:extLst xmlns:a="http://schemas.openxmlformats.org/drawingml/2006/main">
              <a:ext uri="{FF2B5EF4-FFF2-40B4-BE49-F238E27FC236}">
                <a16:creationId xmlns:a16="http://schemas.microsoft.com/office/drawing/2014/main" id="{B43C3D74-D255-4C1C-BE87-19489AD3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24025"/>
            <a:ext cx="1876425" cy="1519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21" name="precaution-asset-1-label">
            <a:extLst xmlns:a="http://schemas.openxmlformats.org/drawingml/2006/main">
              <a:ext uri="{FF2B5EF4-FFF2-40B4-BE49-F238E27FC236}">
                <a16:creationId xmlns:a16="http://schemas.microsoft.com/office/drawing/2014/main" id="{64098045-B079-484C-8B0F-5D838E1F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245519"/>
            <a:ext cx="1685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原创插图槽位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滋补性中成药</a:t>
            </a:r>
          </a:p>
        </p:txBody>
      </p:sp>
      <p:sp>
        <p:nvSpPr>
          <p:cNvPr id="22" name="precaution-card-2">
            <a:extLst xmlns:a="http://schemas.openxmlformats.org/drawingml/2006/main">
              <a:ext uri="{FF2B5EF4-FFF2-40B4-BE49-F238E27FC236}">
                <a16:creationId xmlns:a16="http://schemas.microsoft.com/office/drawing/2014/main" id="{F3AAC95B-49C3-4292-A24C-5309907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6638"/>
            <a:ext cx="2543175" cy="25193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EC"/>
          </a:solidFill>
          <a:ln xmlns:a="http://schemas.openxmlformats.org/drawingml/2006/main" w="28575">
            <a:solidFill>
              <a:srgbClr val="009900"/>
            </a:solidFill>
            <a:prstDash val="solid"/>
          </a:ln>
        </p:spPr>
      </p:sp>
      <p:sp>
        <p:nvSpPr>
          <p:cNvPr id="23" name="precaution-card-title-2">
            <a:extLst xmlns:a="http://schemas.openxmlformats.org/drawingml/2006/main">
              <a:ext uri="{FF2B5EF4-FFF2-40B4-BE49-F238E27FC236}">
                <a16:creationId xmlns:a16="http://schemas.microsoft.com/office/drawing/2014/main" id="{E0763AD8-9BFD-49F3-BD00-32587C4F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86188"/>
            <a:ext cx="2162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！ 及时就诊</a:t>
            </a:r>
          </a:p>
        </p:txBody>
      </p:sp>
      <p:sp>
        <p:nvSpPr>
          <p:cNvPr id="24" name="precaution-asset-2-surface">
            <a:extLst xmlns:a="http://schemas.openxmlformats.org/drawingml/2006/main">
              <a:ext uri="{FF2B5EF4-FFF2-40B4-BE49-F238E27FC236}">
                <a16:creationId xmlns:a16="http://schemas.microsoft.com/office/drawing/2014/main" id="{14BAB446-25B9-4935-AA19-D7872569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00538"/>
            <a:ext cx="1876425" cy="1519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9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25" name="precaution-asset-2-label">
            <a:extLst xmlns:a="http://schemas.openxmlformats.org/drawingml/2006/main">
              <a:ext uri="{FF2B5EF4-FFF2-40B4-BE49-F238E27FC236}">
                <a16:creationId xmlns:a16="http://schemas.microsoft.com/office/drawing/2014/main" id="{F02BCFAF-36C4-449F-8488-5575604F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822031"/>
            <a:ext cx="1685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原创插图槽位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及时就诊</a:t>
            </a:r>
          </a:p>
        </p:txBody>
      </p:sp>
      <p:sp>
        <p:nvSpPr>
          <p:cNvPr id="26" name="precaution-card-3">
            <a:extLst xmlns:a="http://schemas.openxmlformats.org/drawingml/2006/main">
              <a:ext uri="{FF2B5EF4-FFF2-40B4-BE49-F238E27FC236}">
                <a16:creationId xmlns:a16="http://schemas.microsoft.com/office/drawing/2014/main" id="{9A2A499A-8B5E-40C3-9EA7-AC8ABEEF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576638"/>
            <a:ext cx="2543175" cy="25193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EC"/>
          </a:solidFill>
          <a:ln xmlns:a="http://schemas.openxmlformats.org/drawingml/2006/main" w="28575">
            <a:solidFill>
              <a:srgbClr val="009900"/>
            </a:solidFill>
            <a:prstDash val="solid"/>
          </a:ln>
        </p:spPr>
      </p:sp>
      <p:sp>
        <p:nvSpPr>
          <p:cNvPr id="27" name="precaution-card-title-3">
            <a:extLst xmlns:a="http://schemas.openxmlformats.org/drawingml/2006/main">
              <a:ext uri="{FF2B5EF4-FFF2-40B4-BE49-F238E27FC236}">
                <a16:creationId xmlns:a16="http://schemas.microsoft.com/office/drawing/2014/main" id="{AAAE6D1B-ADAF-4E31-8C73-8B23CE0A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786188"/>
            <a:ext cx="2162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latin typeface="Microsoft YaHei"/>
                <a:ea typeface="微软雅黑"/>
                <a:cs typeface="Microsoft YaHei"/>
                <a:solidFill>
                  <a:srgbClr val="111111"/>
                </a:solidFill>
              </a:rPr>
              <a:t>！ 过敏慎用</a:t>
            </a:r>
          </a:p>
        </p:txBody>
      </p:sp>
      <p:sp>
        <p:nvSpPr>
          <p:cNvPr id="28" name="precaution-asset-3-surface">
            <a:extLst xmlns:a="http://schemas.openxmlformats.org/drawingml/2006/main">
              <a:ext uri="{FF2B5EF4-FFF2-40B4-BE49-F238E27FC236}">
                <a16:creationId xmlns:a16="http://schemas.microsoft.com/office/drawing/2014/main" id="{59DC7194-86AE-46A2-9D42-F5468189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300538"/>
            <a:ext cx="1876425" cy="1519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8ABFC8"/>
            </a:solidFill>
            <a:prstDash val="solid"/>
          </a:ln>
        </p:spPr>
      </p:sp>
      <p:sp>
        <p:nvSpPr>
          <p:cNvPr id="29" name="precaution-asset-3-label">
            <a:extLst xmlns:a="http://schemas.openxmlformats.org/drawingml/2006/main">
              <a:ext uri="{FF2B5EF4-FFF2-40B4-BE49-F238E27FC236}">
                <a16:creationId xmlns:a16="http://schemas.microsoft.com/office/drawing/2014/main" id="{22BF7C25-6B1C-42CA-B87C-27BF5360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822031"/>
            <a:ext cx="1685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原创插图槽位</a:t>
            </a:r>
          </a:p>
          <a:p xmlns:a="http://schemas.openxmlformats.org/drawingml/2006/main">
            <a:pPr algn="ctr">
              <a:defRPr sz="1200" b="1">
                <a:solidFill>
                  <a:srgbClr val="315C62"/>
                </a:solidFill>
              </a:defRPr>
            </a:pPr>
            <a:r>
              <a:rPr sz="1200" b="1">
                <a:latin typeface="Microsoft YaHei"/>
                <a:ea typeface="微软雅黑"/>
                <a:cs typeface="Microsoft YaHei"/>
                <a:solidFill>
                  <a:srgbClr val="315C62"/>
                </a:solidFill>
              </a:rPr>
              <a:t>过敏慎用</a:t>
            </a:r>
          </a:p>
        </p:txBody>
      </p:sp>
    </p:spTree>
    <p:extLst>
      <p:ext uri="{BB962C8B-B14F-4D97-AF65-F5344CB8AC3E}">
        <p14:creationId xmlns:p14="http://schemas.microsoft.com/office/powerpoint/2010/main" val="1182744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2026-08-02T14:23:28.1720000Z</dcterms:created>
  <dcterms:modified xsi:type="dcterms:W3CDTF">2026-08-02T14:23:28.1730000Z</dcterms:modified>
</coreProperties>
</file>