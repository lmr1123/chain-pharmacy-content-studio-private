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cc65ae178c40b2" /><Relationship Type="http://schemas.openxmlformats.org/officeDocument/2006/relationships/extended-properties" Target="/docProps/app.xml" Id="Ra0333d69c4bf4565" /><Relationship Type="http://schemas.openxmlformats.org/officeDocument/2006/relationships/officeDocument" Target="/ppt/presentation.xml" Id="R0d3530f437d8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7192b89f0473f"/>
  </p:sldMasterIdLst>
  <p:notesMasterIdLst>
    <p:notesMasterId xmlns:r="http://schemas.openxmlformats.org/officeDocument/2006/relationships" r:id="Rb02b647cfe654fca"/>
  </p:notesMasterIdLst>
  <p:sldIdLst>
    <p:sldId xmlns:r="http://schemas.openxmlformats.org/officeDocument/2006/relationships" id="256" r:id="Rdef03c42ab604a2f"/>
    <p:sldId xmlns:r="http://schemas.openxmlformats.org/officeDocument/2006/relationships" id="257" r:id="R15f21ae8beb74b15"/>
    <p:sldId xmlns:r="http://schemas.openxmlformats.org/officeDocument/2006/relationships" id="258" r:id="Rbcdbacb181bf495d"/>
    <p:sldId xmlns:r="http://schemas.openxmlformats.org/officeDocument/2006/relationships" id="259" r:id="Rda1fbfd147214433"/>
    <p:sldId xmlns:r="http://schemas.openxmlformats.org/officeDocument/2006/relationships" id="260" r:id="Ra77aad428fd44c79"/>
    <p:sldId xmlns:r="http://schemas.openxmlformats.org/officeDocument/2006/relationships" id="261" r:id="R187a10ae7aa74eec"/>
    <p:sldId xmlns:r="http://schemas.openxmlformats.org/officeDocument/2006/relationships" id="262" r:id="R19582386387a400b"/>
    <p:sldId xmlns:r="http://schemas.openxmlformats.org/officeDocument/2006/relationships" id="263" r:id="R1f3824d28d464ff3"/>
    <p:sldId xmlns:r="http://schemas.openxmlformats.org/officeDocument/2006/relationships" id="264" r:id="R05df91e40c444aa5"/>
    <p:sldId xmlns:r="http://schemas.openxmlformats.org/officeDocument/2006/relationships" id="265" r:id="Re3cfe057baea45e2"/>
    <p:sldId xmlns:r="http://schemas.openxmlformats.org/officeDocument/2006/relationships" id="266" r:id="R4774801300124091"/>
    <p:sldId xmlns:r="http://schemas.openxmlformats.org/officeDocument/2006/relationships" id="267" r:id="R4a30f4e96a4849ae"/>
    <p:sldId xmlns:r="http://schemas.openxmlformats.org/officeDocument/2006/relationships" id="268" r:id="R49c8a33adefd4223"/>
    <p:sldId xmlns:r="http://schemas.openxmlformats.org/officeDocument/2006/relationships" id="269" r:id="Rdbba6184002040f0"/>
    <p:sldId xmlns:r="http://schemas.openxmlformats.org/officeDocument/2006/relationships" id="270" r:id="R01bdaaff42404478"/>
    <p:sldId xmlns:r="http://schemas.openxmlformats.org/officeDocument/2006/relationships" id="271" r:id="R3f6b4363670d4479"/>
    <p:sldId xmlns:r="http://schemas.openxmlformats.org/officeDocument/2006/relationships" id="272" r:id="Rdbc3d52e886b489b"/>
    <p:sldId xmlns:r="http://schemas.openxmlformats.org/officeDocument/2006/relationships" id="273" r:id="Rbd76a722f1814c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90fae18294896" /><Relationship Type="http://schemas.openxmlformats.org/officeDocument/2006/relationships/slideMaster" Target="/ppt/slideMasters/slideMaster1.xml" Id="Rd827192b89f0473f" /><Relationship Type="http://schemas.openxmlformats.org/officeDocument/2006/relationships/notesMaster" Target="/ppt/notesMasters/notesMaster1.xml" Id="Rb02b647cfe654fca" /><Relationship Type="http://schemas.openxmlformats.org/officeDocument/2006/relationships/presProps" Target="/ppt/presProps.xml" Id="Rd6368777bb9045ae" /><Relationship Type="http://schemas.openxmlformats.org/officeDocument/2006/relationships/tableStyles" Target="/ppt/tableStyles.xml" Id="Rb107556e734d411d" /><Relationship Type="http://schemas.openxmlformats.org/officeDocument/2006/relationships/slide" Target="/ppt/slides/slide1.xml" Id="Rdef03c42ab604a2f" /><Relationship Type="http://schemas.openxmlformats.org/officeDocument/2006/relationships/slide" Target="/ppt/slides/slide2.xml" Id="R15f21ae8beb74b15" /><Relationship Type="http://schemas.openxmlformats.org/officeDocument/2006/relationships/slide" Target="/ppt/slides/slide3.xml" Id="Rbcdbacb181bf495d" /><Relationship Type="http://schemas.openxmlformats.org/officeDocument/2006/relationships/slide" Target="/ppt/slides/slide4.xml" Id="Rda1fbfd147214433" /><Relationship Type="http://schemas.openxmlformats.org/officeDocument/2006/relationships/slide" Target="/ppt/slides/slide5.xml" Id="Ra77aad428fd44c79" /><Relationship Type="http://schemas.openxmlformats.org/officeDocument/2006/relationships/slide" Target="/ppt/slides/slide6.xml" Id="R187a10ae7aa74eec" /><Relationship Type="http://schemas.openxmlformats.org/officeDocument/2006/relationships/slide" Target="/ppt/slides/slide7.xml" Id="R19582386387a400b" /><Relationship Type="http://schemas.openxmlformats.org/officeDocument/2006/relationships/slide" Target="/ppt/slides/slide8.xml" Id="R1f3824d28d464ff3" /><Relationship Type="http://schemas.openxmlformats.org/officeDocument/2006/relationships/slide" Target="/ppt/slides/slide9.xml" Id="R05df91e40c444aa5" /><Relationship Type="http://schemas.openxmlformats.org/officeDocument/2006/relationships/slide" Target="/ppt/slides/slide10.xml" Id="Re3cfe057baea45e2" /><Relationship Type="http://schemas.openxmlformats.org/officeDocument/2006/relationships/slide" Target="/ppt/slides/slide11.xml" Id="R4774801300124091" /><Relationship Type="http://schemas.openxmlformats.org/officeDocument/2006/relationships/slide" Target="/ppt/slides/slide12.xml" Id="R4a30f4e96a4849ae" /><Relationship Type="http://schemas.openxmlformats.org/officeDocument/2006/relationships/slide" Target="/ppt/slides/slide13.xml" Id="R49c8a33adefd4223" /><Relationship Type="http://schemas.openxmlformats.org/officeDocument/2006/relationships/slide" Target="/ppt/slides/slide14.xml" Id="Rdbba6184002040f0" /><Relationship Type="http://schemas.openxmlformats.org/officeDocument/2006/relationships/slide" Target="/ppt/slides/slide15.xml" Id="R01bdaaff42404478" /><Relationship Type="http://schemas.openxmlformats.org/officeDocument/2006/relationships/slide" Target="/ppt/slides/slide16.xml" Id="R3f6b4363670d4479" /><Relationship Type="http://schemas.openxmlformats.org/officeDocument/2006/relationships/slide" Target="/ppt/slides/slide17.xml" Id="Rdbc3d52e886b489b" /><Relationship Type="http://schemas.openxmlformats.org/officeDocument/2006/relationships/slide" Target="/ppt/slides/slide18.xml" Id="Rbd76a722f1814c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7b3c040b364b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5c850435bd4725" /><Relationship Type="http://schemas.openxmlformats.org/officeDocument/2006/relationships/notesMaster" Target="/ppt/notesMasters/notesMaster1.xml" Id="R37d45457dcea43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09d0eab6e94154" /><Relationship Type="http://schemas.openxmlformats.org/officeDocument/2006/relationships/notesMaster" Target="/ppt/notesMasters/notesMaster1.xml" Id="R74653b2fbb744e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c300722f9f4ca6" /><Relationship Type="http://schemas.openxmlformats.org/officeDocument/2006/relationships/notesMaster" Target="/ppt/notesMasters/notesMaster1.xml" Id="R815bbe6d607842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1cf815d9cf4555" /><Relationship Type="http://schemas.openxmlformats.org/officeDocument/2006/relationships/notesMaster" Target="/ppt/notesMasters/notesMaster1.xml" Id="R58f0204234be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c0e5b138fb4349" /><Relationship Type="http://schemas.openxmlformats.org/officeDocument/2006/relationships/notesMaster" Target="/ppt/notesMasters/notesMaster1.xml" Id="Rab54cc14e5484a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1e56129afd4ed5" /><Relationship Type="http://schemas.openxmlformats.org/officeDocument/2006/relationships/notesMaster" Target="/ppt/notesMasters/notesMaster1.xml" Id="R4cb59602df4347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5fe4c6e2ba4e88" /><Relationship Type="http://schemas.openxmlformats.org/officeDocument/2006/relationships/notesMaster" Target="/ppt/notesMasters/notesMaster1.xml" Id="R1870d2c3b89c4c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5f66c494b64892" /><Relationship Type="http://schemas.openxmlformats.org/officeDocument/2006/relationships/notesMaster" Target="/ppt/notesMasters/notesMaster1.xml" Id="R84438e94c1794b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93a417bc3b4ce6" /><Relationship Type="http://schemas.openxmlformats.org/officeDocument/2006/relationships/notesMaster" Target="/ppt/notesMasters/notesMaster1.xml" Id="Rdcf53b0a12ab41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39042ee9be4e95" /><Relationship Type="http://schemas.openxmlformats.org/officeDocument/2006/relationships/notesMaster" Target="/ppt/notesMasters/notesMaster1.xml" Id="R6583216d9b684a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95495c2efc4751" /><Relationship Type="http://schemas.openxmlformats.org/officeDocument/2006/relationships/notesMaster" Target="/ppt/notesMasters/notesMaster1.xml" Id="R52a23c28c63b47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8c64c53f4d4863" /><Relationship Type="http://schemas.openxmlformats.org/officeDocument/2006/relationships/notesMaster" Target="/ppt/notesMasters/notesMaster1.xml" Id="R350d2b1aac0743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ba3d7e2ced4f74" /><Relationship Type="http://schemas.openxmlformats.org/officeDocument/2006/relationships/notesMaster" Target="/ppt/notesMasters/notesMaster1.xml" Id="R5f236074822c48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e8f0773972471a" /><Relationship Type="http://schemas.openxmlformats.org/officeDocument/2006/relationships/notesMaster" Target="/ppt/notesMasters/notesMaster1.xml" Id="Rc29e3c6fafc541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f73d1ee349454f" /><Relationship Type="http://schemas.openxmlformats.org/officeDocument/2006/relationships/notesMaster" Target="/ppt/notesMasters/notesMaster1.xml" Id="R7bfbb20dd8cc4f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61e5ab4b40413f" /><Relationship Type="http://schemas.openxmlformats.org/officeDocument/2006/relationships/notesMaster" Target="/ppt/notesMasters/notesMaster1.xml" Id="R9f4ae8e3e21b46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867505474945c1" /><Relationship Type="http://schemas.openxmlformats.org/officeDocument/2006/relationships/notesMaster" Target="/ppt/notesMasters/notesMaster1.xml" Id="R7a6b37ccf5ad49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3ae31c93d34f51" /><Relationship Type="http://schemas.openxmlformats.org/officeDocument/2006/relationships/notesMaster" Target="/ppt/notesMasters/notesMaster1.xml" Id="R97acfc2c442e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</a:t>
            </a:r>
          </a:p>
          <a:p xmlns:a="http://schemas.openxmlformats.org/drawingml/2006/main">
            <a:r>
              <a:t>- Full-slide source PDF image reused because the company cover is locked.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2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3</a:t>
            </a:r>
          </a:p>
          <a:p xmlns:a="http://schemas.openxmlformats.org/drawingml/2006/main">
            <a:r>
              <a:t>- PDF slide 3 left-side building photograph reused as an internal source crop.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4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5</a:t>
            </a:r>
          </a:p>
          <a:p xmlns:a="http://schemas.openxmlformats.org/drawingml/2006/main">
            <a:r>
              <a:t>- Four medical symptom images are cropped from flattened PDF slide 5.</a:t>
            </a:r>
          </a:p>
          <a:p xmlns:a="http://schemas.openxmlformats.org/drawingml/2006/main">
            <a:r>
              <a:t>- These crops remain internal-source assets and should be replaced by approved high-resolution originals when available.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6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7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8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9</a:t>
            </a:r>
          </a:p>
          <a:p xmlns:a="http://schemas.openxmlformats.org/drawingml/2006/main">
            <a:r>
              <a:t>- Product packshot is cropped from flattened PDF slide 9.</a:t>
            </a:r>
          </a:p>
          <a:p xmlns:a="http://schemas.openxmlformats.org/drawingml/2006/main">
            <a:r>
              <a:t>- Replace with an authorized high-resolution packshot before production validation.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10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11</a:t>
            </a:r>
          </a:p>
          <a:p xmlns:a="http://schemas.openxmlformats.org/drawingml/2006/main">
            <a:r>
              <a:t>- Product packshot is cropped from flattened PDF slide 11.</a:t>
            </a:r>
          </a:p>
          <a:p xmlns:a="http://schemas.openxmlformats.org/drawingml/2006/main">
            <a:r>
              <a:t>- Replace with an authorized high-resolution packshot before production validation.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12</a:t>
            </a:r>
          </a:p>
          <a:p xmlns:a="http://schemas.openxmlformats.org/drawingml/2006/main">
            <a:r>
              <a:t>- Product packshot is cropped from flattened PDF slide 12.</a:t>
            </a:r>
          </a:p>
          <a:p xmlns:a="http://schemas.openxmlformats.org/drawingml/2006/main">
            <a:r>
              <a:t>- Child, adult, and senior illustrations are cropped from flattened PDF slide 12 and reused as internal-source assets.</a:t>
            </a:r>
          </a:p>
          <a:p xmlns:a="http://schemas.openxmlformats.org/drawingml/2006/main">
            <a:r>
              <a:t>- Replace all four slide-12 crops with approved high-resolution originals when available.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13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14</a:t>
            </a:r>
          </a:p>
          <a:p xmlns:a="http://schemas.openxmlformats.org/drawingml/2006/main">
            <a:r>
              <a:t>- Customer throat-pain photograph is cropped from flattened PDF slide 14.</a:t>
            </a:r>
          </a:p>
          <a:p xmlns:a="http://schemas.openxmlformats.org/drawingml/2006/main">
            <a:r>
              <a:t>- Replace with the approved original photograph if available.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15</a:t>
            </a:r>
          </a:p>
          <a:p xmlns:a="http://schemas.openxmlformats.org/drawingml/2006/main">
            <a:r>
              <a:t>- No source-PDF image crop reused on this editable page.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16</a:t>
            </a:r>
          </a:p>
          <a:p xmlns:a="http://schemas.openxmlformats.org/drawingml/2006/main">
            <a:r>
              <a:t>- Chrysanthemum and mung-bean soup images are cropped from flattened PDF slide 16.</a:t>
            </a:r>
          </a:p>
          <a:p xmlns:a="http://schemas.openxmlformats.org/drawingml/2006/main">
            <a:r>
              <a:t>- Replace with approved high-resolution originals if available.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17</a:t>
            </a:r>
          </a:p>
          <a:p xmlns:a="http://schemas.openxmlformats.org/drawingml/2006/main">
            <a:r>
              <a:t>- The product presentation crop is reused from flattened PDF slide 17.</a:t>
            </a:r>
          </a:p>
          <a:p xmlns:a="http://schemas.openxmlformats.org/drawingml/2006/main">
            <a:r>
              <a:t>- All product data and claims are transcribed from the supplied internal courseware and require the normal internal review.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PDF: /Users/liminrong/Downloads/商品培训课件2.pdf</a:t>
            </a:r>
          </a:p>
          <a:p xmlns:a="http://schemas.openxmlformats.org/drawingml/2006/main">
            <a:r>
              <a:t>- Source slide: 18</a:t>
            </a:r>
          </a:p>
          <a:p xmlns:a="http://schemas.openxmlformats.org/drawingml/2006/main">
            <a:r>
              <a:t>- Product images are cropped from flattened PDF slide 18.</a:t>
            </a:r>
          </a:p>
          <a:p xmlns:a="http://schemas.openxmlformats.org/drawingml/2006/main">
            <a:r>
              <a:t>- The editable wording keeps the source structure; high-risk usage wording must be confirmed by the user's pharmacist/compliance team before production use.</a:t>
            </a:r>
          </a:p>
          <a:p xmlns:a="http://schemas.openxmlformats.org/drawingml/2006/main">
            <a:r>
              <a:t>- Visible medical/product copy is transcribed from the supplied internal courseware and still requires the user's normal pharmacist/compliance review.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b0731d2004c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97ee37d07d4425" /><Relationship Type="http://schemas.openxmlformats.org/officeDocument/2006/relationships/slideLayout" Target="/ppt/slideLayouts/slideLayout1.xml" Id="Ra8f074372c13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f074372c13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3ef40113d4d4f" /><Relationship Type="http://schemas.openxmlformats.org/officeDocument/2006/relationships/image" Target="/ppt/media/image.png" Id="Rb1205ff6e27d4756" /><Relationship Type="http://schemas.openxmlformats.org/officeDocument/2006/relationships/notesSlide" Target="/ppt/notesSlides/notesSlide1.xml" Id="R10c63d8a7dcf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3ea3e3b954a4f" /><Relationship Type="http://schemas.openxmlformats.org/officeDocument/2006/relationships/notesSlide" Target="/ppt/notesSlides/notesSlide2.xml" Id="Rf5e29b9b27e340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2f0747b614e99" /><Relationship Type="http://schemas.openxmlformats.org/officeDocument/2006/relationships/image" Target="/ppt/media/image2.png" Id="R49fb51fbc5c44a76" /><Relationship Type="http://schemas.openxmlformats.org/officeDocument/2006/relationships/notesSlide" Target="/ppt/notesSlides/notesSlide3.xml" Id="R77890de2e5dc42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3d99126f848a9" /><Relationship Type="http://schemas.openxmlformats.org/officeDocument/2006/relationships/notesSlide" Target="/ppt/notesSlides/notesSlide4.xml" Id="R2021c3f6e64f4a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006ba118449b7" /><Relationship Type="http://schemas.openxmlformats.org/officeDocument/2006/relationships/image" Target="/ppt/media/image3.png" Id="Rb21365ed26624fe3" /><Relationship Type="http://schemas.openxmlformats.org/officeDocument/2006/relationships/image" Target="/ppt/media/image4.png" Id="Rcdd9d2ee03904f44" /><Relationship Type="http://schemas.openxmlformats.org/officeDocument/2006/relationships/image" Target="/ppt/media/image5.png" Id="R42525c9d315743b4" /><Relationship Type="http://schemas.openxmlformats.org/officeDocument/2006/relationships/image" Target="/ppt/media/image6.png" Id="R67e6c50326a04df0" /><Relationship Type="http://schemas.openxmlformats.org/officeDocument/2006/relationships/notesSlide" Target="/ppt/notesSlides/notesSlide5.xml" Id="Rc1adae12910f48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f3538e52b42d3" /><Relationship Type="http://schemas.openxmlformats.org/officeDocument/2006/relationships/notesSlide" Target="/ppt/notesSlides/notesSlide6.xml" Id="R70eada0fe9c0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b63f19e5c4030" /><Relationship Type="http://schemas.openxmlformats.org/officeDocument/2006/relationships/notesSlide" Target="/ppt/notesSlides/notesSlide7.xml" Id="Rbb4b2b697b9a48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67d87572b40f2" /><Relationship Type="http://schemas.openxmlformats.org/officeDocument/2006/relationships/notesSlide" Target="/ppt/notesSlides/notesSlide8.xml" Id="Rf940452e7c8c48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9de07b62f484b" /><Relationship Type="http://schemas.openxmlformats.org/officeDocument/2006/relationships/image" Target="/ppt/media/image7.png" Id="R3f67c8b571a345b7" /><Relationship Type="http://schemas.openxmlformats.org/officeDocument/2006/relationships/notesSlide" Target="/ppt/notesSlides/notesSlide9.xml" Id="Ra2caaa952b9346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c5f781cec43b4" /><Relationship Type="http://schemas.openxmlformats.org/officeDocument/2006/relationships/notesSlide" Target="/ppt/notesSlides/notesSlide10.xml" Id="R3acfad34567d42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383d3759d43f0" /><Relationship Type="http://schemas.openxmlformats.org/officeDocument/2006/relationships/image" Target="/ppt/media/image8.png" Id="R4371c831fb5b47df" /><Relationship Type="http://schemas.openxmlformats.org/officeDocument/2006/relationships/notesSlide" Target="/ppt/notesSlides/notesSlide11.xml" Id="Rcba3b1fa31bf4e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8307b8b6c41d5" /><Relationship Type="http://schemas.openxmlformats.org/officeDocument/2006/relationships/image" Target="/ppt/media/image9.png" Id="Rdce5ee3fe9c44794" /><Relationship Type="http://schemas.openxmlformats.org/officeDocument/2006/relationships/image" Target="/ppt/media/image10.png" Id="Rf6cc42e91da7461a" /><Relationship Type="http://schemas.openxmlformats.org/officeDocument/2006/relationships/image" Target="/ppt/media/image11.png" Id="Rdfa1da85b3ee4400" /><Relationship Type="http://schemas.openxmlformats.org/officeDocument/2006/relationships/image" Target="/ppt/media/image12.png" Id="R2acdce8e3d424b00" /><Relationship Type="http://schemas.openxmlformats.org/officeDocument/2006/relationships/notesSlide" Target="/ppt/notesSlides/notesSlide12.xml" Id="R10e2d21a466f4d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465f0467e4afe" /><Relationship Type="http://schemas.openxmlformats.org/officeDocument/2006/relationships/notesSlide" Target="/ppt/notesSlides/notesSlide13.xml" Id="Raccf5747085045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5c426bcdf4757" /><Relationship Type="http://schemas.openxmlformats.org/officeDocument/2006/relationships/image" Target="/ppt/media/image13.png" Id="Rb505a9b4422c4fe4" /><Relationship Type="http://schemas.openxmlformats.org/officeDocument/2006/relationships/notesSlide" Target="/ppt/notesSlides/notesSlide14.xml" Id="Rd6ad6698defa46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7efa8122c43cd" /><Relationship Type="http://schemas.openxmlformats.org/officeDocument/2006/relationships/notesSlide" Target="/ppt/notesSlides/notesSlide15.xml" Id="R0f1adb90cb9440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f83c176514352" /><Relationship Type="http://schemas.openxmlformats.org/officeDocument/2006/relationships/image" Target="/ppt/media/image14.png" Id="R1a8e436059374863" /><Relationship Type="http://schemas.openxmlformats.org/officeDocument/2006/relationships/image" Target="/ppt/media/image15.png" Id="R8d09825632d24b5c" /><Relationship Type="http://schemas.openxmlformats.org/officeDocument/2006/relationships/notesSlide" Target="/ppt/notesSlides/notesSlide16.xml" Id="R0dc399609acf4f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7ecc493934b07" /><Relationship Type="http://schemas.openxmlformats.org/officeDocument/2006/relationships/image" Target="/ppt/media/image16.png" Id="Rafa441bcfe90472b" /><Relationship Type="http://schemas.openxmlformats.org/officeDocument/2006/relationships/notesSlide" Target="/ppt/notesSlides/notesSlide17.xml" Id="Ra10d28358f904a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19c6acdeb448d" /><Relationship Type="http://schemas.openxmlformats.org/officeDocument/2006/relationships/image" Target="/ppt/media/image17.png" Id="R187f0be895ab4af6" /><Relationship Type="http://schemas.openxmlformats.org/officeDocument/2006/relationships/image" Target="/ppt/media/image18.png" Id="R7a2c35b4cb5c495d" /><Relationship Type="http://schemas.openxmlformats.org/officeDocument/2006/relationships/notesSlide" Target="/ppt/notesSlides/notesSlide18.xml" Id="R20b4ad37f85f4f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05ff6e27d4756"/>
          <a:stretch xmlns:a="http://schemas.openxmlformats.org/drawingml/2006/main"/>
        </p:blipFill>
        <p:spPr>
          <a:xfrm xmlns:a="http://schemas.openxmlformats.org/drawingml/2006/main">
            <a:off x="233107" y="0"/>
            <a:ext cx="1172578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96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FDE2AE38-4FCE-4D12-9506-3E581EC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精准辨证是中医临床的基石</a:t>
            </a:r>
          </a:p>
        </p:txBody>
      </p:sp>
      <p:sp>
        <p:nvSpPr>
          <p:cNvPr id="2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F5C35FA4-12A0-402B-89A8-FE2BFB1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3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57012204-4D31-4722-877B-3BDEA2B9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CF58E6CB-8455-4946-9518-722093F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5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5A7EE208-285D-46A0-8F3C-DCE0DBC2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6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031FDEE2-FBD8-4B16-9E98-E042BBF4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02 / 18</a:t>
            </a:r>
          </a:p>
        </p:txBody>
      </p:sp>
      <p:sp>
        <p:nvSpPr>
          <p:cNvPr id="7" name="opening-thesis-surface">
            <a:extLst xmlns:a="http://schemas.openxmlformats.org/drawingml/2006/main">
              <a:ext uri="{FF2B5EF4-FFF2-40B4-BE49-F238E27FC236}">
                <a16:creationId xmlns:a16="http://schemas.microsoft.com/office/drawing/2014/main" id="{0AE2861D-FF2A-4298-B6CC-299941B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0477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ening-thesis-accent">
            <a:extLst xmlns:a="http://schemas.openxmlformats.org/drawingml/2006/main">
              <a:ext uri="{FF2B5EF4-FFF2-40B4-BE49-F238E27FC236}">
                <a16:creationId xmlns:a16="http://schemas.microsoft.com/office/drawing/2014/main" id="{39F5E505-0A8D-4C10-B385-BE5DB87E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62050"/>
            <a:ext cx="381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pening-thesis">
            <a:extLst xmlns:a="http://schemas.openxmlformats.org/drawingml/2006/main">
              <a:ext uri="{FF2B5EF4-FFF2-40B4-BE49-F238E27FC236}">
                <a16:creationId xmlns:a16="http://schemas.microsoft.com/office/drawing/2014/main" id="{BD0FD313-A215-4069-BDD4-6F882A19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62050"/>
            <a:ext cx="10115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24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辨证论治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是中医的灵魂，而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精准辨证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则是临床疗效的根本保障。唯有在纷繁复杂的症状中</a:t>
            </a:r>
          </a:p>
          <a:p xmlns:a="http://schemas.openxmlformats.org/drawingml/2006/main">
            <a:pPr algn="l">
              <a:defRPr sz="1650" b="0">
                <a:solidFill>
                  <a:srgbClr val="1F2A24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抓住证候本质，才能实现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理、法、方、药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的一脉贯通。</a:t>
            </a:r>
          </a:p>
        </p:txBody>
      </p:sp>
      <p:sp>
        <p:nvSpPr>
          <p:cNvPr id="10" name="opening-focus-surface">
            <a:extLst xmlns:a="http://schemas.openxmlformats.org/drawingml/2006/main">
              <a:ext uri="{FF2B5EF4-FFF2-40B4-BE49-F238E27FC236}">
                <a16:creationId xmlns:a16="http://schemas.microsoft.com/office/drawing/2014/main" id="{EB655163-93E4-491D-9F3C-31B217F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1" name="opening-focus-accent">
            <a:extLst xmlns:a="http://schemas.openxmlformats.org/drawingml/2006/main">
              <a:ext uri="{FF2B5EF4-FFF2-40B4-BE49-F238E27FC236}">
                <a16:creationId xmlns:a16="http://schemas.microsoft.com/office/drawing/2014/main" id="{BE1EE9CB-B636-4F11-B27F-50B032B4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pening-focus-title">
            <a:extLst xmlns:a="http://schemas.openxmlformats.org/drawingml/2006/main">
              <a:ext uri="{FF2B5EF4-FFF2-40B4-BE49-F238E27FC236}">
                <a16:creationId xmlns:a16="http://schemas.microsoft.com/office/drawing/2014/main" id="{E452A5D7-20D7-459F-9F1E-FFED4D19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聚焦核心：风热证</a:t>
            </a:r>
          </a:p>
        </p:txBody>
      </p:sp>
      <p:sp>
        <p:nvSpPr>
          <p:cNvPr id="13" name="opening-focus-divider">
            <a:extLst xmlns:a="http://schemas.openxmlformats.org/drawingml/2006/main">
              <a:ext uri="{FF2B5EF4-FFF2-40B4-BE49-F238E27FC236}">
                <a16:creationId xmlns:a16="http://schemas.microsoft.com/office/drawing/2014/main" id="{B552E9CA-B960-4742-8730-7791461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4" name="opening-focus-body">
            <a:extLst xmlns:a="http://schemas.openxmlformats.org/drawingml/2006/main">
              <a:ext uri="{FF2B5EF4-FFF2-40B4-BE49-F238E27FC236}">
                <a16:creationId xmlns:a16="http://schemas.microsoft.com/office/drawing/2014/main" id="{FAD7D04B-125C-44F0-8451-8364159B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2819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深入剖析风热证的核心临床表现，从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发热、咽痛、舌象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等维度，提炼其最具代表性的辨证要点。</a:t>
            </a:r>
          </a:p>
        </p:txBody>
      </p:sp>
      <p:sp>
        <p:nvSpPr>
          <p:cNvPr id="15" name="opening-compare-surface">
            <a:extLst xmlns:a="http://schemas.openxmlformats.org/drawingml/2006/main">
              <a:ext uri="{FF2B5EF4-FFF2-40B4-BE49-F238E27FC236}">
                <a16:creationId xmlns:a16="http://schemas.microsoft.com/office/drawing/2014/main" id="{ED786499-27EF-41EA-885C-64550CAB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6" name="opening-compare-accent">
            <a:extLst xmlns:a="http://schemas.openxmlformats.org/drawingml/2006/main">
              <a:ext uri="{FF2B5EF4-FFF2-40B4-BE49-F238E27FC236}">
                <a16:creationId xmlns:a16="http://schemas.microsoft.com/office/drawing/2014/main" id="{3A9FE161-6B80-4B85-BC8E-0434A757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ening-compare-title">
            <a:extLst xmlns:a="http://schemas.openxmlformats.org/drawingml/2006/main">
              <a:ext uri="{FF2B5EF4-FFF2-40B4-BE49-F238E27FC236}">
                <a16:creationId xmlns:a16="http://schemas.microsoft.com/office/drawing/2014/main" id="{488A21ED-4E0F-4170-AA3B-A912D2B9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关键鉴别：异于风寒</a:t>
            </a:r>
          </a:p>
        </p:txBody>
      </p:sp>
      <p:sp>
        <p:nvSpPr>
          <p:cNvPr id="18" name="opening-compare-divider">
            <a:extLst xmlns:a="http://schemas.openxmlformats.org/drawingml/2006/main">
              <a:ext uri="{FF2B5EF4-FFF2-40B4-BE49-F238E27FC236}">
                <a16:creationId xmlns:a16="http://schemas.microsoft.com/office/drawing/2014/main" id="{6A977BA7-A9B4-4345-BB95-62555C5C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9" name="opening-compare-body">
            <a:extLst xmlns:a="http://schemas.openxmlformats.org/drawingml/2006/main">
              <a:ext uri="{FF2B5EF4-FFF2-40B4-BE49-F238E27FC236}">
                <a16:creationId xmlns:a16="http://schemas.microsoft.com/office/drawing/2014/main" id="{714CD747-5857-488D-A8E1-E40635CF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33700"/>
            <a:ext cx="2819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对比风热与风寒证在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寒热轻重、口渴与否、鼻涕性质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的关键差异，厘清易混淆症状，避免辨证失误。</a:t>
            </a:r>
          </a:p>
        </p:txBody>
      </p:sp>
      <p:sp>
        <p:nvSpPr>
          <p:cNvPr id="20" name="opening-apply-surface">
            <a:extLst xmlns:a="http://schemas.openxmlformats.org/drawingml/2006/main">
              <a:ext uri="{FF2B5EF4-FFF2-40B4-BE49-F238E27FC236}">
                <a16:creationId xmlns:a16="http://schemas.microsoft.com/office/drawing/2014/main" id="{54462DC1-D402-4365-9076-4B939D3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1" name="opening-apply-accent">
            <a:extLst xmlns:a="http://schemas.openxmlformats.org/drawingml/2006/main">
              <a:ext uri="{FF2B5EF4-FFF2-40B4-BE49-F238E27FC236}">
                <a16:creationId xmlns:a16="http://schemas.microsoft.com/office/drawing/2014/main" id="{FC6BD717-E758-4220-AC3B-136EC766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pening-apply-title">
            <a:extLst xmlns:a="http://schemas.openxmlformats.org/drawingml/2006/main">
              <a:ext uri="{FF2B5EF4-FFF2-40B4-BE49-F238E27FC236}">
                <a16:creationId xmlns:a16="http://schemas.microsoft.com/office/drawing/2014/main" id="{E6E79088-83DC-45BB-8740-CFB2C0A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知行合一：分型用药</a:t>
            </a:r>
          </a:p>
        </p:txBody>
      </p:sp>
      <p:sp>
        <p:nvSpPr>
          <p:cNvPr id="23" name="opening-apply-divider">
            <a:extLst xmlns:a="http://schemas.openxmlformats.org/drawingml/2006/main">
              <a:ext uri="{FF2B5EF4-FFF2-40B4-BE49-F238E27FC236}">
                <a16:creationId xmlns:a16="http://schemas.microsoft.com/office/drawing/2014/main" id="{9D51054B-7EC0-4811-8C08-C036729E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4" name="opening-apply-body">
            <a:extLst xmlns:a="http://schemas.openxmlformats.org/drawingml/2006/main">
              <a:ext uri="{FF2B5EF4-FFF2-40B4-BE49-F238E27FC236}">
                <a16:creationId xmlns:a16="http://schemas.microsoft.com/office/drawing/2014/main" id="{34ACB117-FB8B-432C-8C6D-4722F7E4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19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细化风热证的不同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分型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，结合经典方剂，讲解如何根据具体兼证灵活化裁，将辨证结果转化为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精准用药方案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</a:t>
            </a:r>
          </a:p>
        </p:txBody>
      </p:sp>
      <p:sp>
        <p:nvSpPr>
          <p:cNvPr id="25" name="opening-conclusion-surface">
            <a:extLst xmlns:a="http://schemas.openxmlformats.org/drawingml/2006/main">
              <a:ext uri="{FF2B5EF4-FFF2-40B4-BE49-F238E27FC236}">
                <a16:creationId xmlns:a16="http://schemas.microsoft.com/office/drawing/2014/main" id="{561B600A-4737-4196-9577-7BC1F180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pening-conclusion-accent">
            <a:extLst xmlns:a="http://schemas.openxmlformats.org/drawingml/2006/main">
              <a:ext uri="{FF2B5EF4-FFF2-40B4-BE49-F238E27FC236}">
                <a16:creationId xmlns:a16="http://schemas.microsoft.com/office/drawing/2014/main" id="{F2C23CA9-8B89-427B-B4A0-AEC79559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381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pening-conclusion">
            <a:extLst xmlns:a="http://schemas.openxmlformats.org/drawingml/2006/main">
              <a:ext uri="{FF2B5EF4-FFF2-40B4-BE49-F238E27FC236}">
                <a16:creationId xmlns:a16="http://schemas.microsoft.com/office/drawing/2014/main" id="{73470FD1-3A12-4295-A014-D5D591BC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10115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A24"/>
                </a:solidFill>
              </a:defRPr>
            </a:pPr>
            <a:r>
              <a:rPr sz="15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愿诸位练就一双辨证的</a:t>
            </a: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“慧眼”</a:t>
            </a:r>
            <a:r>
              <a:rPr sz="15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，于细微处见真章，在临床中</a:t>
            </a: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精准识证、果敢用药</a:t>
            </a:r>
            <a:r>
              <a:rPr sz="15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6848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b51fbc5c44a76"/>
          <a:srcRect xmlns:a="http://schemas.openxmlformats.org/drawingml/2006/main" l="0" t="1763" r="0" b="17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D08FC9F2-6BFC-4D12-A6E6-0F96FD7C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620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66A2F"/>
                </a:solidFill>
              </a:defRPr>
            </a:pPr>
            <a:r>
              <a:rPr sz="4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目 录</a:t>
            </a:r>
          </a:p>
        </p:txBody>
      </p:sp>
      <p:sp>
        <p:nvSpPr>
          <p:cNvPr id="3" name="agenda-rule">
            <a:extLst xmlns:a="http://schemas.openxmlformats.org/drawingml/2006/main">
              <a:ext uri="{FF2B5EF4-FFF2-40B4-BE49-F238E27FC236}">
                <a16:creationId xmlns:a16="http://schemas.microsoft.com/office/drawing/2014/main" id="{8EFB6BFF-FECA-4CC1-91AF-45BAD879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4" name="agenda-chip-1">
            <a:extLst xmlns:a="http://schemas.openxmlformats.org/drawingml/2006/main">
              <a:ext uri="{FF2B5EF4-FFF2-40B4-BE49-F238E27FC236}">
                <a16:creationId xmlns:a16="http://schemas.microsoft.com/office/drawing/2014/main" id="{7A037C76-2AAC-45AB-B9DE-C49DD626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33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genda-chip-num-1">
            <a:extLst xmlns:a="http://schemas.openxmlformats.org/drawingml/2006/main">
              <a:ext uri="{FF2B5EF4-FFF2-40B4-BE49-F238E27FC236}">
                <a16:creationId xmlns:a16="http://schemas.microsoft.com/office/drawing/2014/main" id="{F35DA4FF-5DFF-4BA2-9878-FED7A012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33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6C70E9E3-F896-47F4-ACFB-8CD0D53B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A24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疾病篇 — 风热证</a:t>
            </a:r>
          </a:p>
        </p:txBody>
      </p:sp>
      <p:sp>
        <p:nvSpPr>
          <p:cNvPr id="7" name="agenda-chip-2">
            <a:extLst xmlns:a="http://schemas.openxmlformats.org/drawingml/2006/main">
              <a:ext uri="{FF2B5EF4-FFF2-40B4-BE49-F238E27FC236}">
                <a16:creationId xmlns:a16="http://schemas.microsoft.com/office/drawing/2014/main" id="{579992B7-538E-4FEA-B6D3-DF019093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0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-chip-num-2">
            <a:extLst xmlns:a="http://schemas.openxmlformats.org/drawingml/2006/main">
              <a:ext uri="{FF2B5EF4-FFF2-40B4-BE49-F238E27FC236}">
                <a16:creationId xmlns:a16="http://schemas.microsoft.com/office/drawing/2014/main" id="{39C6424A-EB73-4AA5-9128-A725EA9C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0B84BADB-FF5D-48E3-A3BD-A1933D2B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A24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商品篇 — 穿心莲内酯滴丸的核心优势</a:t>
            </a:r>
          </a:p>
        </p:txBody>
      </p:sp>
      <p:sp>
        <p:nvSpPr>
          <p:cNvPr id="10" name="agenda-chip-3">
            <a:extLst xmlns:a="http://schemas.openxmlformats.org/drawingml/2006/main">
              <a:ext uri="{FF2B5EF4-FFF2-40B4-BE49-F238E27FC236}">
                <a16:creationId xmlns:a16="http://schemas.microsoft.com/office/drawing/2014/main" id="{626939C7-A223-4B21-99EC-27ED237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67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chip-num-3">
            <a:extLst xmlns:a="http://schemas.openxmlformats.org/drawingml/2006/main">
              <a:ext uri="{FF2B5EF4-FFF2-40B4-BE49-F238E27FC236}">
                <a16:creationId xmlns:a16="http://schemas.microsoft.com/office/drawing/2014/main" id="{F9075FE2-009A-4185-B3FA-6291B26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671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810719A4-CE45-4054-B3FA-4716087D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A24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场景篇 — 什么时候推荐穿心莲内酯滴丸</a:t>
            </a:r>
          </a:p>
        </p:txBody>
      </p:sp>
      <p:sp>
        <p:nvSpPr>
          <p:cNvPr id="13" name="agenda-chip-4">
            <a:extLst xmlns:a="http://schemas.openxmlformats.org/drawingml/2006/main">
              <a:ext uri="{FF2B5EF4-FFF2-40B4-BE49-F238E27FC236}">
                <a16:creationId xmlns:a16="http://schemas.microsoft.com/office/drawing/2014/main" id="{407A280A-929A-46D6-BD7E-C8E4BB55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33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genda-chip-num-4">
            <a:extLst xmlns:a="http://schemas.openxmlformats.org/drawingml/2006/main">
              <a:ext uri="{FF2B5EF4-FFF2-40B4-BE49-F238E27FC236}">
                <a16:creationId xmlns:a16="http://schemas.microsoft.com/office/drawing/2014/main" id="{92862F40-219F-4D49-8CA8-0190C096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338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agenda-item-4">
            <a:extLst xmlns:a="http://schemas.openxmlformats.org/drawingml/2006/main">
              <a:ext uri="{FF2B5EF4-FFF2-40B4-BE49-F238E27FC236}">
                <a16:creationId xmlns:a16="http://schemas.microsoft.com/office/drawing/2014/main" id="{4927E1BD-5F43-4E50-857D-F6A4F552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A24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关怀篇 — 日常生活叮嘱</a:t>
            </a:r>
          </a:p>
        </p:txBody>
      </p:sp>
      <p:sp>
        <p:nvSpPr>
          <p:cNvPr id="16" name="agenda-chip-5">
            <a:extLst xmlns:a="http://schemas.openxmlformats.org/drawingml/2006/main">
              <a:ext uri="{FF2B5EF4-FFF2-40B4-BE49-F238E27FC236}">
                <a16:creationId xmlns:a16="http://schemas.microsoft.com/office/drawing/2014/main" id="{781AF54B-B933-4963-83D6-6D19681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00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genda-chip-num-5">
            <a:extLst xmlns:a="http://schemas.openxmlformats.org/drawingml/2006/main">
              <a:ext uri="{FF2B5EF4-FFF2-40B4-BE49-F238E27FC236}">
                <a16:creationId xmlns:a16="http://schemas.microsoft.com/office/drawing/2014/main" id="{D23FA914-73E4-422B-82F0-D8A2DBF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00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agenda-item-5">
            <a:extLst xmlns:a="http://schemas.openxmlformats.org/drawingml/2006/main">
              <a:ext uri="{FF2B5EF4-FFF2-40B4-BE49-F238E27FC236}">
                <a16:creationId xmlns:a16="http://schemas.microsoft.com/office/drawing/2014/main" id="{9A814614-C223-49AC-99C0-CCDA408F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62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A24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权重篇 — 活动权重</a:t>
            </a:r>
          </a:p>
        </p:txBody>
      </p:sp>
      <p:sp>
        <p:nvSpPr>
          <p:cNvPr id="19" name="agenda-internal-notice">
            <a:extLst xmlns:a="http://schemas.openxmlformats.org/drawingml/2006/main">
              <a:ext uri="{FF2B5EF4-FFF2-40B4-BE49-F238E27FC236}">
                <a16:creationId xmlns:a16="http://schemas.microsoft.com/office/drawing/2014/main" id="{6FA8BE41-142B-4E79-89BD-66607A58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20" name="agenda-page-index">
            <a:extLst xmlns:a="http://schemas.openxmlformats.org/drawingml/2006/main">
              <a:ext uri="{FF2B5EF4-FFF2-40B4-BE49-F238E27FC236}">
                <a16:creationId xmlns:a16="http://schemas.microsoft.com/office/drawing/2014/main" id="{753922A1-59BB-4948-90C2-49FCE5F6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129734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F18FFE37-0533-46FF-B9D0-86A99EBC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219DFBE7-0CA4-4166-A263-5C28074E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1.1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4BC822E3-6A7F-4D2F-9541-C059D0A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疾病篇——风热证的定义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48B77128-B99B-44FC-B70A-06D8017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A4C5678B-F129-433A-A197-C8300F7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FADD2D8A-66ED-4AD1-AC31-635C134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D604E42D-7300-40B5-8303-7673994C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3B4D7082-C837-4555-A2D9-F5599AF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04 / 18</a:t>
            </a:r>
          </a:p>
        </p:txBody>
      </p:sp>
      <p:sp>
        <p:nvSpPr>
          <p:cNvPr id="9" name="definition-surface">
            <a:extLst xmlns:a="http://schemas.openxmlformats.org/drawingml/2006/main">
              <a:ext uri="{FF2B5EF4-FFF2-40B4-BE49-F238E27FC236}">
                <a16:creationId xmlns:a16="http://schemas.microsoft.com/office/drawing/2014/main" id="{63021863-909E-42E4-AB0F-647F260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52500"/>
            <a:ext cx="1047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0" name="definition-accent">
            <a:extLst xmlns:a="http://schemas.openxmlformats.org/drawingml/2006/main">
              <a:ext uri="{FF2B5EF4-FFF2-40B4-BE49-F238E27FC236}">
                <a16:creationId xmlns:a16="http://schemas.microsoft.com/office/drawing/2014/main" id="{005A4555-49E4-409E-9F88-017E3D7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85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finition-title">
            <a:extLst xmlns:a="http://schemas.openxmlformats.org/drawingml/2006/main">
              <a:ext uri="{FF2B5EF4-FFF2-40B4-BE49-F238E27FC236}">
                <a16:creationId xmlns:a16="http://schemas.microsoft.com/office/drawing/2014/main" id="{103A4F8E-F179-4DBF-9AC3-A876E7EE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668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什么是风热证？</a:t>
            </a:r>
          </a:p>
        </p:txBody>
      </p:sp>
      <p:sp>
        <p:nvSpPr>
          <p:cNvPr id="12" name="definition-divider">
            <a:extLst xmlns:a="http://schemas.openxmlformats.org/drawingml/2006/main">
              <a:ext uri="{FF2B5EF4-FFF2-40B4-BE49-F238E27FC236}">
                <a16:creationId xmlns:a16="http://schemas.microsoft.com/office/drawing/2014/main" id="{D7A1D9E1-2B2C-48F0-89A7-F030E027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0495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3" name="definition-body">
            <a:extLst xmlns:a="http://schemas.openxmlformats.org/drawingml/2006/main">
              <a:ext uri="{FF2B5EF4-FFF2-40B4-BE49-F238E27FC236}">
                <a16:creationId xmlns:a16="http://schemas.microsoft.com/office/drawing/2014/main" id="{4923A212-054F-467E-90F8-E9B9EF88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19250"/>
            <a:ext cx="1005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3413A"/>
                </a:solidFill>
              </a:defRPr>
            </a:pPr>
            <a:r>
              <a:rPr sz="19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指风热之邪侵袭人体肌表，导致卫气被遏、肺失宣肃所表现出的证候。通俗而言，即身体受到</a:t>
            </a:r>
            <a:r>
              <a:rPr sz="19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“热风”侵袭</a:t>
            </a:r>
            <a:r>
              <a:rPr sz="19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，引发</a:t>
            </a:r>
            <a:r>
              <a:rPr sz="19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发热、咽痛、口干</a:t>
            </a:r>
            <a:r>
              <a:rPr sz="19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等一系列“热”性症状，是中医外感表证中常见的证型之一。</a:t>
            </a:r>
          </a:p>
        </p:txBody>
      </p:sp>
      <p:sp>
        <p:nvSpPr>
          <p:cNvPr id="14" name="cause-surface">
            <a:extLst xmlns:a="http://schemas.openxmlformats.org/drawingml/2006/main">
              <a:ext uri="{FF2B5EF4-FFF2-40B4-BE49-F238E27FC236}">
                <a16:creationId xmlns:a16="http://schemas.microsoft.com/office/drawing/2014/main" id="{522BC4B9-EA4E-43D9-A7AB-9E9FD3D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953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5" name="cause-accent">
            <a:extLst xmlns:a="http://schemas.openxmlformats.org/drawingml/2006/main">
              <a:ext uri="{FF2B5EF4-FFF2-40B4-BE49-F238E27FC236}">
                <a16:creationId xmlns:a16="http://schemas.microsoft.com/office/drawing/2014/main" id="{7F68A24E-6FE9-41F1-AA00-123F8AD1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use-title">
            <a:extLst xmlns:a="http://schemas.openxmlformats.org/drawingml/2006/main">
              <a:ext uri="{FF2B5EF4-FFF2-40B4-BE49-F238E27FC236}">
                <a16:creationId xmlns:a16="http://schemas.microsoft.com/office/drawing/2014/main" id="{CFFB8A56-7B20-42F2-8DFA-50B8D1E2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核心病因：内外合邪，热邪入侵</a:t>
            </a:r>
          </a:p>
        </p:txBody>
      </p:sp>
      <p:sp>
        <p:nvSpPr>
          <p:cNvPr id="17" name="cause-divider">
            <a:extLst xmlns:a="http://schemas.openxmlformats.org/drawingml/2006/main">
              <a:ext uri="{FF2B5EF4-FFF2-40B4-BE49-F238E27FC236}">
                <a16:creationId xmlns:a16="http://schemas.microsoft.com/office/drawing/2014/main" id="{770E80A0-8EF6-41B3-9725-E5E61023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8" name="cause-body">
            <a:extLst xmlns:a="http://schemas.openxmlformats.org/drawingml/2006/main">
              <a:ext uri="{FF2B5EF4-FFF2-40B4-BE49-F238E27FC236}">
                <a16:creationId xmlns:a16="http://schemas.microsoft.com/office/drawing/2014/main" id="{AED4E9F2-5AE4-4D2B-8570-7649E7B1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4533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外感风邪：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多发于春季或气温骤升时节，风热之邪从口鼻、皮毛而入，侵犯肌表。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内生积热：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过食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辛辣、油腻、温补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之品，或情志不畅化火，致体内“火气”过旺。</a:t>
            </a:r>
          </a:p>
        </p:txBody>
      </p:sp>
      <p:sp>
        <p:nvSpPr>
          <p:cNvPr id="19" name="pathogenesis-surface">
            <a:extLst xmlns:a="http://schemas.openxmlformats.org/drawingml/2006/main">
              <a:ext uri="{FF2B5EF4-FFF2-40B4-BE49-F238E27FC236}">
                <a16:creationId xmlns:a16="http://schemas.microsoft.com/office/drawing/2014/main" id="{15D1032E-128C-4B4E-B46C-8B15AF87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143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0" name="pathogenesis-accent">
            <a:extLst xmlns:a="http://schemas.openxmlformats.org/drawingml/2006/main">
              <a:ext uri="{FF2B5EF4-FFF2-40B4-BE49-F238E27FC236}">
                <a16:creationId xmlns:a16="http://schemas.microsoft.com/office/drawing/2014/main" id="{058E9DDF-12DA-41BD-A71D-3751B046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ogenesis-title">
            <a:extLst xmlns:a="http://schemas.openxmlformats.org/drawingml/2006/main">
              <a:ext uri="{FF2B5EF4-FFF2-40B4-BE49-F238E27FC236}">
                <a16:creationId xmlns:a16="http://schemas.microsoft.com/office/drawing/2014/main" id="{4523AFB2-8BB8-448D-89FA-FB232F38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关键病机：正邪交争，肺卫失和</a:t>
            </a:r>
          </a:p>
        </p:txBody>
      </p:sp>
      <p:sp>
        <p:nvSpPr>
          <p:cNvPr id="22" name="pathogenesis-divider">
            <a:extLst xmlns:a="http://schemas.openxmlformats.org/drawingml/2006/main">
              <a:ext uri="{FF2B5EF4-FFF2-40B4-BE49-F238E27FC236}">
                <a16:creationId xmlns:a16="http://schemas.microsoft.com/office/drawing/2014/main" id="{F4F7228C-A713-4497-A5F3-13ACFFF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3" name="pathogenesis-body">
            <a:extLst xmlns:a="http://schemas.openxmlformats.org/drawingml/2006/main">
              <a:ext uri="{FF2B5EF4-FFF2-40B4-BE49-F238E27FC236}">
                <a16:creationId xmlns:a16="http://schemas.microsoft.com/office/drawing/2014/main" id="{9CF4B606-EA03-4D5E-B5B8-4372B27F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4724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正邪相争：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风热犯表，卫阳被遏，正邪交争于肌表则发热。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津伤肺逆：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热邪易灼伤津液，故见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口干、口渴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；肺失宣肃，气逆于上，则引发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咳嗽、咽喉肿痛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</a:t>
            </a:r>
          </a:p>
        </p:txBody>
      </p:sp>
      <p:sp>
        <p:nvSpPr>
          <p:cNvPr id="24" name="definition-summary-surface">
            <a:extLst xmlns:a="http://schemas.openxmlformats.org/drawingml/2006/main">
              <a:ext uri="{FF2B5EF4-FFF2-40B4-BE49-F238E27FC236}">
                <a16:creationId xmlns:a16="http://schemas.microsoft.com/office/drawing/2014/main" id="{D8039128-8C9C-46C8-8E94-D8EFA022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finition-summary-accent">
            <a:extLst xmlns:a="http://schemas.openxmlformats.org/drawingml/2006/main">
              <a:ext uri="{FF2B5EF4-FFF2-40B4-BE49-F238E27FC236}">
                <a16:creationId xmlns:a16="http://schemas.microsoft.com/office/drawing/2014/main" id="{54FD7467-CA33-45D0-9ED0-B1C4D9C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0"/>
            <a:ext cx="38100" cy="333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finition-summary">
            <a:extLst xmlns:a="http://schemas.openxmlformats.org/drawingml/2006/main">
              <a:ext uri="{FF2B5EF4-FFF2-40B4-BE49-F238E27FC236}">
                <a16:creationId xmlns:a16="http://schemas.microsoft.com/office/drawing/2014/main" id="{24B49961-7245-49DC-951F-9CCB2C5F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10115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A24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总结：风热证以“发热重、恶寒轻、咽痛、口渴、苔薄黄”为主要辨证要点。</a:t>
            </a:r>
          </a:p>
        </p:txBody>
      </p:sp>
    </p:spTree>
    <p:extLst>
      <p:ext uri="{BB962C8B-B14F-4D97-AF65-F5344CB8AC3E}">
        <p14:creationId xmlns:p14="http://schemas.microsoft.com/office/powerpoint/2010/main" val="1001637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F72C5A1D-5804-4FFE-952F-A758D91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A7E3412E-FECA-4D4F-92C4-5E44FDD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1.2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DE87E494-500D-4112-8519-2FB0226E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疾病篇——风热证的典型症状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814CD014-E39A-4A1D-ABB8-D53F3ED7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9FF77F40-0741-4D84-B903-04413FE1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970F827D-DDF9-4F22-8834-8F3CF69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DE5E6B5B-4148-40B5-A30B-F81EB483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DF0243B9-22A8-4ECC-8399-1602C284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05 / 18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365ed26624fe3"/>
          <a:srcRect xmlns:a="http://schemas.openxmlformats.org/drawingml/2006/main" l="1583" t="0" r="1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066800"/>
            <a:ext cx="3048000" cy="1762125"/>
          </a:xfrm>
          <a:prstGeom xmlns:a="http://schemas.openxmlformats.org/drawingml/2006/main" prst="rect">
            <a:avLst/>
          </a:prstGeom>
        </p:spPr>
      </p:pic>
      <p:sp>
        <p:nvSpPr>
          <p:cNvPr id="10" name="symptom-image-1-frame">
            <a:extLst xmlns:a="http://schemas.openxmlformats.org/drawingml/2006/main">
              <a:ext uri="{FF2B5EF4-FFF2-40B4-BE49-F238E27FC236}">
                <a16:creationId xmlns:a16="http://schemas.microsoft.com/office/drawing/2014/main" id="{F099779D-A5A3-4B87-A9A3-0E28BBE0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04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9d2ee03904f44"/>
          <a:srcRect xmlns:a="http://schemas.openxmlformats.org/drawingml/2006/main" l="0" t="1046" r="0" b="1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066800"/>
            <a:ext cx="3048000" cy="1762125"/>
          </a:xfrm>
          <a:prstGeom xmlns:a="http://schemas.openxmlformats.org/drawingml/2006/main" prst="rect">
            <a:avLst/>
          </a:prstGeom>
        </p:spPr>
      </p:pic>
      <p:sp>
        <p:nvSpPr>
          <p:cNvPr id="12" name="symptom-image-2-frame">
            <a:extLst xmlns:a="http://schemas.openxmlformats.org/drawingml/2006/main">
              <a:ext uri="{FF2B5EF4-FFF2-40B4-BE49-F238E27FC236}">
                <a16:creationId xmlns:a16="http://schemas.microsoft.com/office/drawing/2014/main" id="{5DA43E21-C4A8-4BEA-9296-5EFA7DFC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66800"/>
            <a:ext cx="304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25c9d315743b4"/>
          <a:srcRect xmlns:a="http://schemas.openxmlformats.org/drawingml/2006/main" l="0" t="929" r="0" b="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066800"/>
            <a:ext cx="3048000" cy="1762125"/>
          </a:xfrm>
          <a:prstGeom xmlns:a="http://schemas.openxmlformats.org/drawingml/2006/main" prst="rect">
            <a:avLst/>
          </a:prstGeom>
        </p:spPr>
      </p:pic>
      <p:sp>
        <p:nvSpPr>
          <p:cNvPr id="14" name="symptom-image-3-frame">
            <a:extLst xmlns:a="http://schemas.openxmlformats.org/drawingml/2006/main">
              <a:ext uri="{FF2B5EF4-FFF2-40B4-BE49-F238E27FC236}">
                <a16:creationId xmlns:a16="http://schemas.microsoft.com/office/drawing/2014/main" id="{66802325-D022-4151-BB8F-8A9BFDAF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304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5" name="symptom-throat-surface">
            <a:extLst xmlns:a="http://schemas.openxmlformats.org/drawingml/2006/main">
              <a:ext uri="{FF2B5EF4-FFF2-40B4-BE49-F238E27FC236}">
                <a16:creationId xmlns:a16="http://schemas.microsoft.com/office/drawing/2014/main" id="{120926FC-E2ED-48F1-91A5-94D67886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6" name="symptom-throat-accent">
            <a:extLst xmlns:a="http://schemas.openxmlformats.org/drawingml/2006/main">
              <a:ext uri="{FF2B5EF4-FFF2-40B4-BE49-F238E27FC236}">
                <a16:creationId xmlns:a16="http://schemas.microsoft.com/office/drawing/2014/main" id="{8378B313-086F-431A-AA02-1C525874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ymptom-throat-title">
            <a:extLst xmlns:a="http://schemas.openxmlformats.org/drawingml/2006/main">
              <a:ext uri="{FF2B5EF4-FFF2-40B4-BE49-F238E27FC236}">
                <a16:creationId xmlns:a16="http://schemas.microsoft.com/office/drawing/2014/main" id="{CE553FF6-B4BC-4899-8929-D05FF4A7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24"/>
                </a:solidFill>
              </a:defRPr>
            </a:pP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咽喉红肿疼痛</a:t>
            </a:r>
          </a:p>
        </p:txBody>
      </p:sp>
      <p:sp>
        <p:nvSpPr>
          <p:cNvPr id="18" name="symptom-throat-divider">
            <a:extLst xmlns:a="http://schemas.openxmlformats.org/drawingml/2006/main">
              <a:ext uri="{FF2B5EF4-FFF2-40B4-BE49-F238E27FC236}">
                <a16:creationId xmlns:a16="http://schemas.microsoft.com/office/drawing/2014/main" id="{6E9F4580-1A4F-497D-8F73-A8ABF9A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62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9" name="symptom-throat-body">
            <a:extLst xmlns:a="http://schemas.openxmlformats.org/drawingml/2006/main">
              <a:ext uri="{FF2B5EF4-FFF2-40B4-BE49-F238E27FC236}">
                <a16:creationId xmlns:a16="http://schemas.microsoft.com/office/drawing/2014/main" id="{836571A7-6157-41F8-963B-C905E1D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最典型的特征之一，</a:t>
            </a: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咽喉黏膜充血明显</a:t>
            </a: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，吞咽时痛感加剧，是风热之邪侵犯肺卫的直接表现。</a:t>
            </a:r>
          </a:p>
        </p:txBody>
      </p:sp>
      <p:sp>
        <p:nvSpPr>
          <p:cNvPr id="20" name="symptom-nose-surface">
            <a:extLst xmlns:a="http://schemas.openxmlformats.org/drawingml/2006/main">
              <a:ext uri="{FF2B5EF4-FFF2-40B4-BE49-F238E27FC236}">
                <a16:creationId xmlns:a16="http://schemas.microsoft.com/office/drawing/2014/main" id="{11C52B07-F271-431D-97EA-677E1C7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1" name="symptom-nose-accent">
            <a:extLst xmlns:a="http://schemas.openxmlformats.org/drawingml/2006/main">
              <a:ext uri="{FF2B5EF4-FFF2-40B4-BE49-F238E27FC236}">
                <a16:creationId xmlns:a16="http://schemas.microsoft.com/office/drawing/2014/main" id="{C926C8AE-11FC-497A-B02F-1ADC2ECD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670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ymptom-nose-title">
            <a:extLst xmlns:a="http://schemas.openxmlformats.org/drawingml/2006/main">
              <a:ext uri="{FF2B5EF4-FFF2-40B4-BE49-F238E27FC236}">
                <a16:creationId xmlns:a16="http://schemas.microsoft.com/office/drawing/2014/main" id="{F2B3076B-AD2E-4AD6-B119-4DF605A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48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24"/>
                </a:solidFill>
              </a:defRPr>
            </a:pP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流黄稠涕，咳黄黏痰</a:t>
            </a:r>
          </a:p>
        </p:txBody>
      </p:sp>
      <p:sp>
        <p:nvSpPr>
          <p:cNvPr id="23" name="symptom-nose-divider">
            <a:extLst xmlns:a="http://schemas.openxmlformats.org/drawingml/2006/main">
              <a:ext uri="{FF2B5EF4-FFF2-40B4-BE49-F238E27FC236}">
                <a16:creationId xmlns:a16="http://schemas.microsoft.com/office/drawing/2014/main" id="{55DCD2F1-4924-49F4-9B4E-214650DA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86150"/>
            <a:ext cx="262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4" name="symptom-nose-body">
            <a:extLst xmlns:a="http://schemas.openxmlformats.org/drawingml/2006/main">
              <a:ext uri="{FF2B5EF4-FFF2-40B4-BE49-F238E27FC236}">
                <a16:creationId xmlns:a16="http://schemas.microsoft.com/office/drawing/2014/main" id="{D864D886-1291-4B61-94E8-DE103807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0045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鼻腔与呼吸道分泌物颜色</a:t>
            </a: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发黄且质地黏稠</a:t>
            </a: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，是热邪煎灼津液所致，与风寒证清稀分泌物形成鲜明对比。</a:t>
            </a:r>
          </a:p>
        </p:txBody>
      </p:sp>
      <p:sp>
        <p:nvSpPr>
          <p:cNvPr id="25" name="symptom-fever-surface">
            <a:extLst xmlns:a="http://schemas.openxmlformats.org/drawingml/2006/main">
              <a:ext uri="{FF2B5EF4-FFF2-40B4-BE49-F238E27FC236}">
                <a16:creationId xmlns:a16="http://schemas.microsoft.com/office/drawing/2014/main" id="{613ABEC7-6AE3-47CA-AA88-A50772A5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6" name="symptom-fever-accent">
            <a:extLst xmlns:a="http://schemas.openxmlformats.org/drawingml/2006/main">
              <a:ext uri="{FF2B5EF4-FFF2-40B4-BE49-F238E27FC236}">
                <a16:creationId xmlns:a16="http://schemas.microsoft.com/office/drawing/2014/main" id="{2CE8FC66-0172-4C94-A899-871C5E50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ymptom-fever-title">
            <a:extLst xmlns:a="http://schemas.openxmlformats.org/drawingml/2006/main">
              <a:ext uri="{FF2B5EF4-FFF2-40B4-BE49-F238E27FC236}">
                <a16:creationId xmlns:a16="http://schemas.microsoft.com/office/drawing/2014/main" id="{0D5A085A-7F0E-4AF8-A3F0-C734BB94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24"/>
                </a:solidFill>
              </a:defRPr>
            </a:pP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发热重，微恶风</a:t>
            </a:r>
          </a:p>
        </p:txBody>
      </p:sp>
      <p:sp>
        <p:nvSpPr>
          <p:cNvPr id="28" name="symptom-fever-divider">
            <a:extLst xmlns:a="http://schemas.openxmlformats.org/drawingml/2006/main">
              <a:ext uri="{FF2B5EF4-FFF2-40B4-BE49-F238E27FC236}">
                <a16:creationId xmlns:a16="http://schemas.microsoft.com/office/drawing/2014/main" id="{709134B2-CE90-468F-9775-BABF0211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262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9" name="symptom-fever-body">
            <a:extLst xmlns:a="http://schemas.openxmlformats.org/drawingml/2006/main">
              <a:ext uri="{FF2B5EF4-FFF2-40B4-BE49-F238E27FC236}">
                <a16:creationId xmlns:a16="http://schemas.microsoft.com/office/drawing/2014/main" id="{DF66F70E-445E-4607-8B36-938BD36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患者自觉身体</a:t>
            </a: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发烫，体温较高</a:t>
            </a: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，但怕冷感觉不明显，仅稍有怕风，是风热证在体温上的核心表现。</a:t>
            </a:r>
          </a:p>
        </p:txBody>
      </p:sp>
      <p:sp>
        <p:nvSpPr>
          <p:cNvPr id="30" name="symptom-thirst-surface">
            <a:extLst xmlns:a="http://schemas.openxmlformats.org/drawingml/2006/main">
              <a:ext uri="{FF2B5EF4-FFF2-40B4-BE49-F238E27FC236}">
                <a16:creationId xmlns:a16="http://schemas.microsoft.com/office/drawing/2014/main" id="{4784D309-FEEB-4B44-B0D6-AA8C9393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333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ymptom-thirst">
            <a:extLst xmlns:a="http://schemas.openxmlformats.org/drawingml/2006/main">
              <a:ext uri="{FF2B5EF4-FFF2-40B4-BE49-F238E27FC236}">
                <a16:creationId xmlns:a16="http://schemas.microsoft.com/office/drawing/2014/main" id="{32906F86-48F3-4ED6-94E5-C2FBE174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口干口渴，喜冷饮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热邪耗伤津液，导致口渴，且偏好凉水。</a:t>
            </a:r>
          </a:p>
        </p:txBody>
      </p:sp>
      <p:sp>
        <p:nvSpPr>
          <p:cNvPr id="32" name="symptom-tongue-surface">
            <a:extLst xmlns:a="http://schemas.openxmlformats.org/drawingml/2006/main">
              <a:ext uri="{FF2B5EF4-FFF2-40B4-BE49-F238E27FC236}">
                <a16:creationId xmlns:a16="http://schemas.microsoft.com/office/drawing/2014/main" id="{E2A1ED2B-31B6-4D34-9E08-B27DA4E3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53000"/>
            <a:ext cx="3333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ymptom-tongue">
            <a:extLst xmlns:a="http://schemas.openxmlformats.org/drawingml/2006/main">
              <a:ext uri="{FF2B5EF4-FFF2-40B4-BE49-F238E27FC236}">
                <a16:creationId xmlns:a16="http://schemas.microsoft.com/office/drawing/2014/main" id="{A57AA362-B39B-424B-8B20-278B1EAA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482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舌尖红，苔薄黄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舌尖红为热象；薄黄苔提示病邪尚在表浅。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6c50326a04df0"/>
          <a:srcRect xmlns:a="http://schemas.openxmlformats.org/drawingml/2006/main" l="8362" t="0" r="83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8625" y="4810125"/>
            <a:ext cx="200025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61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C1FF1505-C648-4199-AF0F-E177DC4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82767160-AFE2-4852-9EC4-14F802A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1.3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7D0A017F-21B5-4618-8C58-97F5221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疾病篇——风热证的鉴别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12CC4037-AC69-46ED-A246-601C1DD8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82CBF6B8-8293-47B2-BF69-7F21AD0E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E43FBF03-E5E2-47CB-89C5-9B85B4C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8D5035BF-840A-4B27-B41E-0AF77C4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B7095504-44FC-4153-9F7E-B3BBF02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06 / 18</a:t>
            </a:r>
          </a:p>
        </p:txBody>
      </p:sp>
      <p:sp>
        <p:nvSpPr>
          <p:cNvPr id="9" name="风热证 · 热象显著-surface">
            <a:extLst xmlns:a="http://schemas.openxmlformats.org/drawingml/2006/main">
              <a:ext uri="{FF2B5EF4-FFF2-40B4-BE49-F238E27FC236}">
                <a16:creationId xmlns:a16="http://schemas.microsoft.com/office/drawing/2014/main" id="{ABFDC8E0-2807-4082-B440-19BE8864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5238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0" name="风热证 · 热象显著-header">
            <a:extLst xmlns:a="http://schemas.openxmlformats.org/drawingml/2006/main">
              <a:ext uri="{FF2B5EF4-FFF2-40B4-BE49-F238E27FC236}">
                <a16:creationId xmlns:a16="http://schemas.microsoft.com/office/drawing/2014/main" id="{BDD5E7B3-1C08-46AE-98D1-A261CA48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009650"/>
            <a:ext cx="52197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D9F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风热证 · 热象显著-header-square">
            <a:extLst xmlns:a="http://schemas.openxmlformats.org/drawingml/2006/main">
              <a:ext uri="{FF2B5EF4-FFF2-40B4-BE49-F238E27FC236}">
                <a16:creationId xmlns:a16="http://schemas.microsoft.com/office/drawing/2014/main" id="{CAB1B34E-916E-4849-AFB3-F9E0A09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33500"/>
            <a:ext cx="52197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风热证 · 热象显著-title">
            <a:extLst xmlns:a="http://schemas.openxmlformats.org/drawingml/2006/main">
              <a:ext uri="{FF2B5EF4-FFF2-40B4-BE49-F238E27FC236}">
                <a16:creationId xmlns:a16="http://schemas.microsoft.com/office/drawing/2014/main" id="{175FA892-1BCA-4E32-94CD-EA4D2BCA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A24"/>
                </a:solidFill>
              </a:defRPr>
            </a:pPr>
            <a:r>
              <a:rPr sz="19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风热证 · 热象显著</a:t>
            </a:r>
          </a:p>
        </p:txBody>
      </p:sp>
      <p:sp>
        <p:nvSpPr>
          <p:cNvPr id="13" name="风热证 · 热象显著-left">
            <a:extLst xmlns:a="http://schemas.openxmlformats.org/drawingml/2006/main">
              <a:ext uri="{FF2B5EF4-FFF2-40B4-BE49-F238E27FC236}">
                <a16:creationId xmlns:a16="http://schemas.microsoft.com/office/drawing/2014/main" id="{8EEA8CE9-6183-44DC-91EC-7D7B773B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28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B98F"/>
                </a:solidFill>
              </a:rPr>
              <a:t>01 寒热汗出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发热重，恶寒轻；有汗出，体表疏松。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B98F"/>
                </a:solidFill>
              </a:rPr>
              <a:t>02 鼻痰色泽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流黄稠涕，咳痰黄黏，里热灼津。</a:t>
            </a:r>
          </a:p>
        </p:txBody>
      </p:sp>
      <p:sp>
        <p:nvSpPr>
          <p:cNvPr id="14" name="风热证 · 热象显著-middle-rule">
            <a:extLst xmlns:a="http://schemas.openxmlformats.org/drawingml/2006/main">
              <a:ext uri="{FF2B5EF4-FFF2-40B4-BE49-F238E27FC236}">
                <a16:creationId xmlns:a16="http://schemas.microsoft.com/office/drawing/2014/main" id="{2BEDDB76-DA3B-4D96-A502-421FB95E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52625"/>
            <a:ext cx="95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DE3"/>
          </a:solidFill>
          <a:ln xmlns:a="http://schemas.openxmlformats.org/drawingml/2006/main" w="0">
            <a:solidFill>
              <a:srgbClr val="C8DDE3"/>
            </a:solidFill>
            <a:prstDash val="solid"/>
          </a:ln>
        </p:spPr>
      </p:sp>
      <p:sp>
        <p:nvSpPr>
          <p:cNvPr id="15" name="风热证 · 热象显著-right">
            <a:extLst xmlns:a="http://schemas.openxmlformats.org/drawingml/2006/main">
              <a:ext uri="{FF2B5EF4-FFF2-40B4-BE49-F238E27FC236}">
                <a16:creationId xmlns:a16="http://schemas.microsoft.com/office/drawing/2014/main" id="{111D6E6A-1C25-4587-8ADA-EB2A209D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19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B98F"/>
                </a:solidFill>
              </a:rPr>
              <a:t>03 咽喉症状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咽喉红肿疼痛，热邪上攻。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B98F"/>
                </a:solidFill>
              </a:rPr>
              <a:t>04 口渴喜饮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口干渴明显，偏好冷饮。</a:t>
            </a:r>
          </a:p>
        </p:txBody>
      </p:sp>
      <p:sp>
        <p:nvSpPr>
          <p:cNvPr id="16" name="风热证 · 热象显著-bottom">
            <a:extLst xmlns:a="http://schemas.openxmlformats.org/drawingml/2006/main">
              <a:ext uri="{FF2B5EF4-FFF2-40B4-BE49-F238E27FC236}">
                <a16:creationId xmlns:a16="http://schemas.microsoft.com/office/drawing/2014/main" id="{858F4005-7B3F-40BE-8DCC-52BF4606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B98F"/>
                </a:solidFill>
              </a:rPr>
              <a:t>05 舌脉特征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  舌红、苔薄黄，脉浮数。</a:t>
            </a:r>
          </a:p>
        </p:txBody>
      </p:sp>
      <p:sp>
        <p:nvSpPr>
          <p:cNvPr id="17" name="风寒证 · 寒象突出-surface">
            <a:extLst xmlns:a="http://schemas.openxmlformats.org/drawingml/2006/main">
              <a:ext uri="{FF2B5EF4-FFF2-40B4-BE49-F238E27FC236}">
                <a16:creationId xmlns:a16="http://schemas.microsoft.com/office/drawing/2014/main" id="{B9C369C3-9851-4DE0-BE2D-5C2E63E0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00125"/>
            <a:ext cx="5238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8" name="风寒证 · 寒象突出-header">
            <a:extLst xmlns:a="http://schemas.openxmlformats.org/drawingml/2006/main">
              <a:ext uri="{FF2B5EF4-FFF2-40B4-BE49-F238E27FC236}">
                <a16:creationId xmlns:a16="http://schemas.microsoft.com/office/drawing/2014/main" id="{4AF78F48-DE35-4101-92EC-74211231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009650"/>
            <a:ext cx="52197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风寒证 · 寒象突出-header-square">
            <a:extLst xmlns:a="http://schemas.openxmlformats.org/drawingml/2006/main">
              <a:ext uri="{FF2B5EF4-FFF2-40B4-BE49-F238E27FC236}">
                <a16:creationId xmlns:a16="http://schemas.microsoft.com/office/drawing/2014/main" id="{45DEEF19-FD11-4AAB-90A7-1563002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333500"/>
            <a:ext cx="52197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风寒证 · 寒象突出-title">
            <a:extLst xmlns:a="http://schemas.openxmlformats.org/drawingml/2006/main">
              <a:ext uri="{FF2B5EF4-FFF2-40B4-BE49-F238E27FC236}">
                <a16:creationId xmlns:a16="http://schemas.microsoft.com/office/drawing/2014/main" id="{99597B49-59EF-409E-8562-A3602D5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A24"/>
                </a:solidFill>
              </a:defRPr>
            </a:pPr>
            <a:r>
              <a:rPr sz="19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风寒证 · 寒象突出</a:t>
            </a:r>
          </a:p>
        </p:txBody>
      </p:sp>
      <p:sp>
        <p:nvSpPr>
          <p:cNvPr id="21" name="风寒证 · 寒象突出-left">
            <a:extLst xmlns:a="http://schemas.openxmlformats.org/drawingml/2006/main">
              <a:ext uri="{FF2B5EF4-FFF2-40B4-BE49-F238E27FC236}">
                <a16:creationId xmlns:a16="http://schemas.microsoft.com/office/drawing/2014/main" id="{C4D5EC08-68A3-465C-A09B-C4845395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228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F8AFF"/>
                </a:solidFill>
              </a:rPr>
              <a:t>01 寒热汗出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恶寒重，发热轻；无汗出，寒束肌表。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F8AFF"/>
                </a:solidFill>
              </a:rPr>
              <a:t>02 鼻痰色泽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流清稀涕，咳痰白稀，寒邪未化热。</a:t>
            </a:r>
          </a:p>
        </p:txBody>
      </p:sp>
      <p:sp>
        <p:nvSpPr>
          <p:cNvPr id="22" name="风寒证 · 寒象突出-middle-rule">
            <a:extLst xmlns:a="http://schemas.openxmlformats.org/drawingml/2006/main">
              <a:ext uri="{FF2B5EF4-FFF2-40B4-BE49-F238E27FC236}">
                <a16:creationId xmlns:a16="http://schemas.microsoft.com/office/drawing/2014/main" id="{350B79CF-0EB7-485B-93CE-A72EC61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95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DE3"/>
          </a:solidFill>
          <a:ln xmlns:a="http://schemas.openxmlformats.org/drawingml/2006/main" w="0">
            <a:solidFill>
              <a:srgbClr val="C8DDE3"/>
            </a:solidFill>
            <a:prstDash val="solid"/>
          </a:ln>
        </p:spPr>
      </p:sp>
      <p:sp>
        <p:nvSpPr>
          <p:cNvPr id="23" name="风寒证 · 寒象突出-right">
            <a:extLst xmlns:a="http://schemas.openxmlformats.org/drawingml/2006/main">
              <a:ext uri="{FF2B5EF4-FFF2-40B4-BE49-F238E27FC236}">
                <a16:creationId xmlns:a16="http://schemas.microsoft.com/office/drawing/2014/main" id="{B9D1D520-1970-4653-A7FE-032B27F5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19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F8AFF"/>
                </a:solidFill>
              </a:rPr>
              <a:t>03 咽喉症状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咽喉发痒，不红不痛，寒邪客于咽喉。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F8AFF"/>
                </a:solidFill>
              </a:rPr>
              <a:t>04 口渴情况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口不渴或喜热饮，体内无明显热邪。</a:t>
            </a:r>
          </a:p>
        </p:txBody>
      </p:sp>
      <p:sp>
        <p:nvSpPr>
          <p:cNvPr id="24" name="风寒证 · 寒象突出-bottom">
            <a:extLst xmlns:a="http://schemas.openxmlformats.org/drawingml/2006/main">
              <a:ext uri="{FF2B5EF4-FFF2-40B4-BE49-F238E27FC236}">
                <a16:creationId xmlns:a16="http://schemas.microsoft.com/office/drawing/2014/main" id="{A7EE4D3D-4D67-4308-8FD9-B11127C2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F8AFF"/>
                </a:solidFill>
              </a:rPr>
              <a:t>05 舌脉特征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  舌淡、苔薄白，脉浮紧。</a:t>
            </a:r>
          </a:p>
        </p:txBody>
      </p:sp>
      <p:sp>
        <p:nvSpPr>
          <p:cNvPr id="25" name="memory-1-surface">
            <a:extLst xmlns:a="http://schemas.openxmlformats.org/drawingml/2006/main">
              <a:ext uri="{FF2B5EF4-FFF2-40B4-BE49-F238E27FC236}">
                <a16:creationId xmlns:a16="http://schemas.microsoft.com/office/drawing/2014/main" id="{AE17B7A1-DA1D-4CB4-8EF0-045DB881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3337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FA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emory-1">
            <a:extLst xmlns:a="http://schemas.openxmlformats.org/drawingml/2006/main">
              <a:ext uri="{FF2B5EF4-FFF2-40B4-BE49-F238E27FC236}">
                <a16:creationId xmlns:a16="http://schemas.microsoft.com/office/drawing/2014/main" id="{4E8653AF-B329-4895-99C6-389FD2F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067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辨证核心口诀</a:t>
            </a:r>
          </a:p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热重寒轻是风热，寒重热轻是风寒；有汗无汗要分清。</a:t>
            </a:r>
          </a:p>
        </p:txBody>
      </p:sp>
      <p:sp>
        <p:nvSpPr>
          <p:cNvPr id="27" name="memory-2-surface">
            <a:extLst xmlns:a="http://schemas.openxmlformats.org/drawingml/2006/main">
              <a:ext uri="{FF2B5EF4-FFF2-40B4-BE49-F238E27FC236}">
                <a16:creationId xmlns:a16="http://schemas.microsoft.com/office/drawing/2014/main" id="{E258AFF7-7CA1-4210-A04C-71324541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FA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mory-2">
            <a:extLst xmlns:a="http://schemas.openxmlformats.org/drawingml/2006/main">
              <a:ext uri="{FF2B5EF4-FFF2-40B4-BE49-F238E27FC236}">
                <a16:creationId xmlns:a16="http://schemas.microsoft.com/office/drawing/2014/main" id="{87C4601D-6386-41B3-88D3-83819A18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57750"/>
            <a:ext cx="3067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分泌物色诊口诀</a:t>
            </a:r>
          </a:p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黄浊黄痰是风热，清涕白痰属风寒；红肿热痛辨咽喉。</a:t>
            </a:r>
          </a:p>
        </p:txBody>
      </p:sp>
      <p:sp>
        <p:nvSpPr>
          <p:cNvPr id="29" name="memory-3-surface">
            <a:extLst xmlns:a="http://schemas.openxmlformats.org/drawingml/2006/main">
              <a:ext uri="{FF2B5EF4-FFF2-40B4-BE49-F238E27FC236}">
                <a16:creationId xmlns:a16="http://schemas.microsoft.com/office/drawing/2014/main" id="{C3E9609E-F455-4378-9293-ADC878A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33375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FA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emory-3">
            <a:extLst xmlns:a="http://schemas.openxmlformats.org/drawingml/2006/main">
              <a:ext uri="{FF2B5EF4-FFF2-40B4-BE49-F238E27FC236}">
                <a16:creationId xmlns:a16="http://schemas.microsoft.com/office/drawing/2014/main" id="{F5978B57-D862-4431-A58C-BB4D03C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57750"/>
            <a:ext cx="3067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津液喜恶口诀</a:t>
            </a:r>
          </a:p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口渴喜凉为风热，口不渴属风寒；喜热饮者寒象真。</a:t>
            </a:r>
          </a:p>
        </p:txBody>
      </p:sp>
      <p:sp>
        <p:nvSpPr>
          <p:cNvPr id="31" name="change-note">
            <a:extLst xmlns:a="http://schemas.openxmlformats.org/drawingml/2006/main">
              <a:ext uri="{FF2B5EF4-FFF2-40B4-BE49-F238E27FC236}">
                <a16:creationId xmlns:a16="http://schemas.microsoft.com/office/drawing/2014/main" id="{DB85B097-6536-48F5-8DE3-0457E0A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A24"/>
                </a:solidFill>
              </a:defRPr>
            </a:pP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病情演变：清涕转黄涕，应紧扣当前主症及时调整治法，不拘泥于初期寒象。</a:t>
            </a:r>
          </a:p>
        </p:txBody>
      </p:sp>
    </p:spTree>
    <p:extLst>
      <p:ext uri="{BB962C8B-B14F-4D97-AF65-F5344CB8AC3E}">
        <p14:creationId xmlns:p14="http://schemas.microsoft.com/office/powerpoint/2010/main" val="1582567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D2EA1BD1-1C3B-4ACE-9011-E150F2D5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900C1F41-7353-41DD-B2CA-CF7E045F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1.4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4CCB36B2-8D97-473E-B7D6-B3C06683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疾病篇——风热证的治疗：辨证用药总原则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2BDE5FDB-1096-4CC9-BAD3-93F2A0D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C222F04C-3801-4C1F-8B1B-8AAF15D9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C8847F8F-3FE1-4854-AC17-81F76925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06711E89-8500-411F-9452-0B1A6D46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A3A98768-207E-4250-9B96-0B2F22F5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07 / 18</a:t>
            </a:r>
          </a:p>
        </p:txBody>
      </p:sp>
      <p:sp>
        <p:nvSpPr>
          <p:cNvPr id="9" name="principle-1-surface">
            <a:extLst xmlns:a="http://schemas.openxmlformats.org/drawingml/2006/main">
              <a:ext uri="{FF2B5EF4-FFF2-40B4-BE49-F238E27FC236}">
                <a16:creationId xmlns:a16="http://schemas.microsoft.com/office/drawing/2014/main" id="{DF36E113-CABC-42B7-A96C-699C14B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0" name="principle-1-accent">
            <a:extLst xmlns:a="http://schemas.openxmlformats.org/drawingml/2006/main">
              <a:ext uri="{FF2B5EF4-FFF2-40B4-BE49-F238E27FC236}">
                <a16:creationId xmlns:a16="http://schemas.microsoft.com/office/drawing/2014/main" id="{7F728AFE-E19B-4D46-9928-CFEDAAE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ciple-1-title">
            <a:extLst xmlns:a="http://schemas.openxmlformats.org/drawingml/2006/main">
              <a:ext uri="{FF2B5EF4-FFF2-40B4-BE49-F238E27FC236}">
                <a16:creationId xmlns:a16="http://schemas.microsoft.com/office/drawing/2014/main" id="{2B788EE8-C328-48AB-BFCF-100492B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01. 禁用辛温，勿助热</a:t>
            </a:r>
          </a:p>
        </p:txBody>
      </p:sp>
      <p:sp>
        <p:nvSpPr>
          <p:cNvPr id="12" name="principle-1-divider">
            <a:extLst xmlns:a="http://schemas.openxmlformats.org/drawingml/2006/main">
              <a:ext uri="{FF2B5EF4-FFF2-40B4-BE49-F238E27FC236}">
                <a16:creationId xmlns:a16="http://schemas.microsoft.com/office/drawing/2014/main" id="{E7816808-B7FC-43B8-A9D2-AE2B55C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3" name="principle-1-body">
            <a:extLst xmlns:a="http://schemas.openxmlformats.org/drawingml/2006/main">
              <a:ext uri="{FF2B5EF4-FFF2-40B4-BE49-F238E27FC236}">
                <a16:creationId xmlns:a16="http://schemas.microsoft.com/office/drawing/2014/main" id="{4B31ED00-65E6-4AAF-A022-3A2C11FF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9146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核心原则：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风热证为“阳热”之证，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绝对禁用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麻黄、桂枝等辛温发汗药。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机理警示：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温药入体如同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“火上浇油”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，会加重内热，灼伤津液，导致病情由表入里。</a:t>
            </a:r>
          </a:p>
        </p:txBody>
      </p:sp>
      <p:sp>
        <p:nvSpPr>
          <p:cNvPr id="14" name="principle-2-surface">
            <a:extLst xmlns:a="http://schemas.openxmlformats.org/drawingml/2006/main">
              <a:ext uri="{FF2B5EF4-FFF2-40B4-BE49-F238E27FC236}">
                <a16:creationId xmlns:a16="http://schemas.microsoft.com/office/drawing/2014/main" id="{F169C9B2-68FD-4B49-AF18-A84BB135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5" name="principle-2-accent">
            <a:extLst xmlns:a="http://schemas.openxmlformats.org/drawingml/2006/main">
              <a:ext uri="{FF2B5EF4-FFF2-40B4-BE49-F238E27FC236}">
                <a16:creationId xmlns:a16="http://schemas.microsoft.com/office/drawing/2014/main" id="{26D15223-0872-4BB1-BEA8-1CE8308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66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inciple-2-title">
            <a:extLst xmlns:a="http://schemas.openxmlformats.org/drawingml/2006/main">
              <a:ext uri="{FF2B5EF4-FFF2-40B4-BE49-F238E27FC236}">
                <a16:creationId xmlns:a16="http://schemas.microsoft.com/office/drawing/2014/main" id="{048CD92B-A338-4AFA-8F29-9A42C119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447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02. 分清主次，随证施方</a:t>
            </a:r>
          </a:p>
        </p:txBody>
      </p:sp>
      <p:sp>
        <p:nvSpPr>
          <p:cNvPr id="17" name="principle-2-divider">
            <a:extLst xmlns:a="http://schemas.openxmlformats.org/drawingml/2006/main">
              <a:ext uri="{FF2B5EF4-FFF2-40B4-BE49-F238E27FC236}">
                <a16:creationId xmlns:a16="http://schemas.microsoft.com/office/drawing/2014/main" id="{2A74624B-4496-4F2B-8747-0688D747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859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8" name="principle-2-body">
            <a:extLst xmlns:a="http://schemas.openxmlformats.org/drawingml/2006/main">
              <a:ext uri="{FF2B5EF4-FFF2-40B4-BE49-F238E27FC236}">
                <a16:creationId xmlns:a16="http://schemas.microsoft.com/office/drawing/2014/main" id="{AF761376-CA6E-4E76-BA80-350DA28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9146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根据病程阶段与兼症针对性加减药物，不拘泥于一方一药。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表热轻症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单用辛凉解表；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肺热偏重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佐以清热化痰；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咽喉肿痛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则重加板蓝根、桔梗等解毒利咽之品。</a:t>
            </a:r>
          </a:p>
        </p:txBody>
      </p:sp>
      <p:sp>
        <p:nvSpPr>
          <p:cNvPr id="19" name="principle-3-surface">
            <a:extLst xmlns:a="http://schemas.openxmlformats.org/drawingml/2006/main">
              <a:ext uri="{FF2B5EF4-FFF2-40B4-BE49-F238E27FC236}">
                <a16:creationId xmlns:a16="http://schemas.microsoft.com/office/drawing/2014/main" id="{19A665E9-3BD4-4766-86D4-39F1B026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0" name="principle-3-accent">
            <a:extLst xmlns:a="http://schemas.openxmlformats.org/drawingml/2006/main">
              <a:ext uri="{FF2B5EF4-FFF2-40B4-BE49-F238E27FC236}">
                <a16:creationId xmlns:a16="http://schemas.microsoft.com/office/drawing/2014/main" id="{584718A0-A694-43BE-B3C8-A93C1A5F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inciple-3-title">
            <a:extLst xmlns:a="http://schemas.openxmlformats.org/drawingml/2006/main">
              <a:ext uri="{FF2B5EF4-FFF2-40B4-BE49-F238E27FC236}">
                <a16:creationId xmlns:a16="http://schemas.microsoft.com/office/drawing/2014/main" id="{FF5C0256-5E2D-43D9-BE1F-F2DD8022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47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03. 兼顾兼证，不可偏颇</a:t>
            </a:r>
          </a:p>
        </p:txBody>
      </p:sp>
      <p:sp>
        <p:nvSpPr>
          <p:cNvPr id="22" name="principle-3-divider">
            <a:extLst xmlns:a="http://schemas.openxmlformats.org/drawingml/2006/main">
              <a:ext uri="{FF2B5EF4-FFF2-40B4-BE49-F238E27FC236}">
                <a16:creationId xmlns:a16="http://schemas.microsoft.com/office/drawing/2014/main" id="{81765F77-0108-45F4-86EA-BA8470BC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3" name="principle-3-body">
            <a:extLst xmlns:a="http://schemas.openxmlformats.org/drawingml/2006/main">
              <a:ext uri="{FF2B5EF4-FFF2-40B4-BE49-F238E27FC236}">
                <a16:creationId xmlns:a16="http://schemas.microsoft.com/office/drawing/2014/main" id="{A49D13B9-43CA-44AB-98C8-59A0CDCF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9146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临床多见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风热夹湿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等兼证，治疗时切忌只清热而不顾湿邪。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在辛凉清热基础上，需酌情配伍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藿香、佩兰、薏苡仁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等化湿药物，使热得清解、湿得化除。</a:t>
            </a:r>
          </a:p>
        </p:txBody>
      </p:sp>
      <p:sp>
        <p:nvSpPr>
          <p:cNvPr id="24" name="principle-summary-surface">
            <a:extLst xmlns:a="http://schemas.openxmlformats.org/drawingml/2006/main">
              <a:ext uri="{FF2B5EF4-FFF2-40B4-BE49-F238E27FC236}">
                <a16:creationId xmlns:a16="http://schemas.microsoft.com/office/drawing/2014/main" id="{C3153859-038D-4098-B20C-3B0DED22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inciple-summary-accent">
            <a:extLst xmlns:a="http://schemas.openxmlformats.org/drawingml/2006/main">
              <a:ext uri="{FF2B5EF4-FFF2-40B4-BE49-F238E27FC236}">
                <a16:creationId xmlns:a16="http://schemas.microsoft.com/office/drawing/2014/main" id="{0CF7FD08-0033-4B90-99FE-7144C724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38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inciple-summary">
            <a:extLst xmlns:a="http://schemas.openxmlformats.org/drawingml/2006/main">
              <a:ext uri="{FF2B5EF4-FFF2-40B4-BE49-F238E27FC236}">
                <a16:creationId xmlns:a16="http://schemas.microsoft.com/office/drawing/2014/main" id="{FC17E748-4927-4DE2-A522-A0F3608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049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4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总结：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风热证治疗核心在于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“辛凉解表、清热解毒”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，同时严守禁忌，辨明主次兼证。</a:t>
            </a:r>
          </a:p>
        </p:txBody>
      </p:sp>
    </p:spTree>
    <p:extLst>
      <p:ext uri="{BB962C8B-B14F-4D97-AF65-F5344CB8AC3E}">
        <p14:creationId xmlns:p14="http://schemas.microsoft.com/office/powerpoint/2010/main" val="2018529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D30DC712-A7AC-463B-9A28-EA3398AB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5578103F-5DFE-49D3-82DE-8B358E87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1.5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EED62CCF-3241-4151-A194-AE1A9E9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疾病篇——风热证的证候细分（常见）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7DF47E6D-4BEE-4D5A-84B3-EE83ECC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1AE0CBDA-3C8B-4DB3-B4C7-8965FA8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CD7740FF-5F40-4977-AFAE-9C9C3AE6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A5578415-E9A7-4857-BB8B-9719A7B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F74CAF48-2043-46D3-8FAE-E313FF7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08 / 18</a:t>
            </a:r>
          </a:p>
        </p:txBody>
      </p:sp>
      <p:sp>
        <p:nvSpPr>
          <p:cNvPr id="9" name="subtype-1-surface">
            <a:extLst xmlns:a="http://schemas.openxmlformats.org/drawingml/2006/main">
              <a:ext uri="{FF2B5EF4-FFF2-40B4-BE49-F238E27FC236}">
                <a16:creationId xmlns:a16="http://schemas.microsoft.com/office/drawing/2014/main" id="{BF08B0B9-2B0D-449A-82B0-DCE452D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5238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0" name="subtype-1-accent">
            <a:extLst xmlns:a="http://schemas.openxmlformats.org/drawingml/2006/main">
              <a:ext uri="{FF2B5EF4-FFF2-40B4-BE49-F238E27FC236}">
                <a16:creationId xmlns:a16="http://schemas.microsoft.com/office/drawing/2014/main" id="{F7010D05-D563-4A73-8FD9-5CB0171F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btype-1-title">
            <a:extLst xmlns:a="http://schemas.openxmlformats.org/drawingml/2006/main">
              <a:ext uri="{FF2B5EF4-FFF2-40B4-BE49-F238E27FC236}">
                <a16:creationId xmlns:a16="http://schemas.microsoft.com/office/drawing/2014/main" id="{11462823-BBDE-427A-9D28-3CCEE07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900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01. 风热感冒（表热轻症）</a:t>
            </a:r>
          </a:p>
        </p:txBody>
      </p:sp>
      <p:sp>
        <p:nvSpPr>
          <p:cNvPr id="12" name="subtype-1-rule">
            <a:extLst xmlns:a="http://schemas.openxmlformats.org/drawingml/2006/main">
              <a:ext uri="{FF2B5EF4-FFF2-40B4-BE49-F238E27FC236}">
                <a16:creationId xmlns:a16="http://schemas.microsoft.com/office/drawing/2014/main" id="{44B7699C-366D-4217-90AF-9D535E4E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9DE"/>
          </a:solidFill>
          <a:ln xmlns:a="http://schemas.openxmlformats.org/drawingml/2006/main" w="0">
            <a:solidFill>
              <a:srgbClr val="CDE9DE"/>
            </a:solidFill>
            <a:prstDash val="solid"/>
          </a:ln>
        </p:spPr>
      </p:sp>
      <p:sp>
        <p:nvSpPr>
          <p:cNvPr id="13" name="subtype-1-clinical">
            <a:extLst xmlns:a="http://schemas.openxmlformats.org/drawingml/2006/main">
              <a:ext uri="{FF2B5EF4-FFF2-40B4-BE49-F238E27FC236}">
                <a16:creationId xmlns:a16="http://schemas.microsoft.com/office/drawing/2014/main" id="{71394F2F-C706-4320-998B-69DADBE0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临床表现：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发热、微恶风、咽痛、黄涕、薄黄苔、脉浮数。</a:t>
            </a:r>
          </a:p>
        </p:txBody>
      </p:sp>
      <p:sp>
        <p:nvSpPr>
          <p:cNvPr id="14" name="subtype-1-column-rule">
            <a:extLst xmlns:a="http://schemas.openxmlformats.org/drawingml/2006/main">
              <a:ext uri="{FF2B5EF4-FFF2-40B4-BE49-F238E27FC236}">
                <a16:creationId xmlns:a16="http://schemas.microsoft.com/office/drawing/2014/main" id="{E3D5A55D-EE2C-4970-8E1A-B3A3C75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7165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E7"/>
          </a:solidFill>
          <a:ln xmlns:a="http://schemas.openxmlformats.org/drawingml/2006/main" w="0">
            <a:solidFill>
              <a:srgbClr val="D5E5E7"/>
            </a:solidFill>
            <a:prstDash val="solid"/>
          </a:ln>
        </p:spPr>
      </p:sp>
      <p:sp>
        <p:nvSpPr>
          <p:cNvPr id="15" name="subtype-1-treatment">
            <a:extLst xmlns:a="http://schemas.openxmlformats.org/drawingml/2006/main">
              <a:ext uri="{FF2B5EF4-FFF2-40B4-BE49-F238E27FC236}">
                <a16:creationId xmlns:a16="http://schemas.microsoft.com/office/drawing/2014/main" id="{DCBE2AE7-0FBD-4063-AE88-CFACA354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716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治则与方药：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辛凉解表。方用银翘散、桑菊饮；中成药可选维C银翘片、银翘解毒片。</a:t>
            </a:r>
          </a:p>
        </p:txBody>
      </p:sp>
      <p:sp>
        <p:nvSpPr>
          <p:cNvPr id="16" name="subtype-2-surface">
            <a:extLst xmlns:a="http://schemas.openxmlformats.org/drawingml/2006/main">
              <a:ext uri="{FF2B5EF4-FFF2-40B4-BE49-F238E27FC236}">
                <a16:creationId xmlns:a16="http://schemas.microsoft.com/office/drawing/2014/main" id="{9D36FE8C-F49D-42A2-9A5A-304EACC8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47750"/>
            <a:ext cx="5238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7" name="subtype-2-accent">
            <a:extLst xmlns:a="http://schemas.openxmlformats.org/drawingml/2006/main">
              <a:ext uri="{FF2B5EF4-FFF2-40B4-BE49-F238E27FC236}">
                <a16:creationId xmlns:a16="http://schemas.microsoft.com/office/drawing/2014/main" id="{AF03B544-12AF-4E96-99FB-74454243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47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btype-2-title">
            <a:extLst xmlns:a="http://schemas.openxmlformats.org/drawingml/2006/main">
              <a:ext uri="{FF2B5EF4-FFF2-40B4-BE49-F238E27FC236}">
                <a16:creationId xmlns:a16="http://schemas.microsoft.com/office/drawing/2014/main" id="{63CE2C15-5D20-4D79-9A5C-1770A6F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4300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900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02. 风热犯肺（咳嗽为主）</a:t>
            </a:r>
          </a:p>
        </p:txBody>
      </p:sp>
      <p:sp>
        <p:nvSpPr>
          <p:cNvPr id="19" name="subtype-2-rule">
            <a:extLst xmlns:a="http://schemas.openxmlformats.org/drawingml/2006/main">
              <a:ext uri="{FF2B5EF4-FFF2-40B4-BE49-F238E27FC236}">
                <a16:creationId xmlns:a16="http://schemas.microsoft.com/office/drawing/2014/main" id="{F2FA6E34-B94A-4D94-9277-F90D4293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8115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9DE"/>
          </a:solidFill>
          <a:ln xmlns:a="http://schemas.openxmlformats.org/drawingml/2006/main" w="0">
            <a:solidFill>
              <a:srgbClr val="CDE9DE"/>
            </a:solidFill>
            <a:prstDash val="solid"/>
          </a:ln>
        </p:spPr>
      </p:sp>
      <p:sp>
        <p:nvSpPr>
          <p:cNvPr id="20" name="subtype-2-clinical">
            <a:extLst xmlns:a="http://schemas.openxmlformats.org/drawingml/2006/main">
              <a:ext uri="{FF2B5EF4-FFF2-40B4-BE49-F238E27FC236}">
                <a16:creationId xmlns:a16="http://schemas.microsoft.com/office/drawing/2014/main" id="{33C57134-12F9-43CD-984E-39A2EC0D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临床表现：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咳嗽频作、咳痰黏稠、咽痛、胸闷，或伴鼻流黄涕。</a:t>
            </a:r>
          </a:p>
        </p:txBody>
      </p:sp>
      <p:sp>
        <p:nvSpPr>
          <p:cNvPr id="21" name="subtype-2-column-rule">
            <a:extLst xmlns:a="http://schemas.openxmlformats.org/drawingml/2006/main">
              <a:ext uri="{FF2B5EF4-FFF2-40B4-BE49-F238E27FC236}">
                <a16:creationId xmlns:a16="http://schemas.microsoft.com/office/drawing/2014/main" id="{AD89A054-2972-436F-93D2-592D2700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7165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E7"/>
          </a:solidFill>
          <a:ln xmlns:a="http://schemas.openxmlformats.org/drawingml/2006/main" w="0">
            <a:solidFill>
              <a:srgbClr val="D5E5E7"/>
            </a:solidFill>
            <a:prstDash val="solid"/>
          </a:ln>
        </p:spPr>
      </p:sp>
      <p:sp>
        <p:nvSpPr>
          <p:cNvPr id="22" name="subtype-2-treatment">
            <a:extLst xmlns:a="http://schemas.openxmlformats.org/drawingml/2006/main">
              <a:ext uri="{FF2B5EF4-FFF2-40B4-BE49-F238E27FC236}">
                <a16:creationId xmlns:a16="http://schemas.microsoft.com/office/drawing/2014/main" id="{F57DF806-5B34-4882-B50F-A72390B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716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治则与方药：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疏风清热、宣肺止咳。方用桑菊饮；中成药如急支糖浆、川贝枇杷膏。</a:t>
            </a:r>
          </a:p>
        </p:txBody>
      </p:sp>
      <p:sp>
        <p:nvSpPr>
          <p:cNvPr id="23" name="subtype-3-surface">
            <a:extLst xmlns:a="http://schemas.openxmlformats.org/drawingml/2006/main">
              <a:ext uri="{FF2B5EF4-FFF2-40B4-BE49-F238E27FC236}">
                <a16:creationId xmlns:a16="http://schemas.microsoft.com/office/drawing/2014/main" id="{C7BB1D63-7175-4F1B-A759-6E8526FD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238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4" name="subtype-3-accent">
            <a:extLst xmlns:a="http://schemas.openxmlformats.org/drawingml/2006/main">
              <a:ext uri="{FF2B5EF4-FFF2-40B4-BE49-F238E27FC236}">
                <a16:creationId xmlns:a16="http://schemas.microsoft.com/office/drawing/2014/main" id="{8A7A0F46-F5C4-4443-A72B-3298ED18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btype-3-title">
            <a:extLst xmlns:a="http://schemas.openxmlformats.org/drawingml/2006/main">
              <a:ext uri="{FF2B5EF4-FFF2-40B4-BE49-F238E27FC236}">
                <a16:creationId xmlns:a16="http://schemas.microsoft.com/office/drawing/2014/main" id="{623AF854-F551-470A-BD42-CC26C768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900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03. 风热上攻（头面热象偏重）</a:t>
            </a:r>
          </a:p>
        </p:txBody>
      </p:sp>
      <p:sp>
        <p:nvSpPr>
          <p:cNvPr id="26" name="subtype-3-rule">
            <a:extLst xmlns:a="http://schemas.openxmlformats.org/drawingml/2006/main">
              <a:ext uri="{FF2B5EF4-FFF2-40B4-BE49-F238E27FC236}">
                <a16:creationId xmlns:a16="http://schemas.microsoft.com/office/drawing/2014/main" id="{955EAF07-1DBE-4C78-A2A7-ED3C11D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9DE"/>
          </a:solidFill>
          <a:ln xmlns:a="http://schemas.openxmlformats.org/drawingml/2006/main" w="0">
            <a:solidFill>
              <a:srgbClr val="CDE9DE"/>
            </a:solidFill>
            <a:prstDash val="solid"/>
          </a:ln>
        </p:spPr>
      </p:sp>
      <p:sp>
        <p:nvSpPr>
          <p:cNvPr id="27" name="subtype-3-clinical">
            <a:extLst xmlns:a="http://schemas.openxmlformats.org/drawingml/2006/main">
              <a:ext uri="{FF2B5EF4-FFF2-40B4-BE49-F238E27FC236}">
                <a16:creationId xmlns:a16="http://schemas.microsoft.com/office/drawing/2014/main" id="{5C06FF82-D215-4433-AC54-B1F5A782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临床表现：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头痛剧烈、面红目赤、咽喉肿痛、口舌生疮，或牙龈肿痛。</a:t>
            </a:r>
          </a:p>
        </p:txBody>
      </p:sp>
      <p:sp>
        <p:nvSpPr>
          <p:cNvPr id="28" name="subtype-3-column-rule">
            <a:extLst xmlns:a="http://schemas.openxmlformats.org/drawingml/2006/main">
              <a:ext uri="{FF2B5EF4-FFF2-40B4-BE49-F238E27FC236}">
                <a16:creationId xmlns:a16="http://schemas.microsoft.com/office/drawing/2014/main" id="{BFAF4D58-6241-432D-AD48-D15DA610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4340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E7"/>
          </a:solidFill>
          <a:ln xmlns:a="http://schemas.openxmlformats.org/drawingml/2006/main" w="0">
            <a:solidFill>
              <a:srgbClr val="D5E5E7"/>
            </a:solidFill>
            <a:prstDash val="solid"/>
          </a:ln>
        </p:spPr>
      </p:sp>
      <p:sp>
        <p:nvSpPr>
          <p:cNvPr id="29" name="subtype-3-treatment">
            <a:extLst xmlns:a="http://schemas.openxmlformats.org/drawingml/2006/main">
              <a:ext uri="{FF2B5EF4-FFF2-40B4-BE49-F238E27FC236}">
                <a16:creationId xmlns:a16="http://schemas.microsoft.com/office/drawing/2014/main" id="{4066A83B-8931-4E9A-B906-708FAEBE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4340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治则与方药：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疏风清热、清利头目；可选黄连上清片、板蓝根颗粒、穿心莲内酯滴丸。</a:t>
            </a:r>
          </a:p>
        </p:txBody>
      </p:sp>
      <p:sp>
        <p:nvSpPr>
          <p:cNvPr id="30" name="subtype-4-surface">
            <a:extLst xmlns:a="http://schemas.openxmlformats.org/drawingml/2006/main">
              <a:ext uri="{FF2B5EF4-FFF2-40B4-BE49-F238E27FC236}">
                <a16:creationId xmlns:a16="http://schemas.microsoft.com/office/drawing/2014/main" id="{21E59BE3-A65D-4EC6-BAAE-4DA204A8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238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31" name="subtype-4-accent">
            <a:extLst xmlns:a="http://schemas.openxmlformats.org/drawingml/2006/main">
              <a:ext uri="{FF2B5EF4-FFF2-40B4-BE49-F238E27FC236}">
                <a16:creationId xmlns:a16="http://schemas.microsoft.com/office/drawing/2014/main" id="{0E7B8562-EFEC-4188-B37C-BF290686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btype-4-title">
            <a:extLst xmlns:a="http://schemas.openxmlformats.org/drawingml/2006/main">
              <a:ext uri="{FF2B5EF4-FFF2-40B4-BE49-F238E27FC236}">
                <a16:creationId xmlns:a16="http://schemas.microsoft.com/office/drawing/2014/main" id="{0DFAC381-2FC3-4111-A084-63AA6B67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900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04. 风热夹湿（夏季多见）</a:t>
            </a:r>
          </a:p>
        </p:txBody>
      </p:sp>
      <p:sp>
        <p:nvSpPr>
          <p:cNvPr id="33" name="subtype-4-rule">
            <a:extLst xmlns:a="http://schemas.openxmlformats.org/drawingml/2006/main">
              <a:ext uri="{FF2B5EF4-FFF2-40B4-BE49-F238E27FC236}">
                <a16:creationId xmlns:a16="http://schemas.microsoft.com/office/drawing/2014/main" id="{13012317-ED7D-40F4-9AC7-5D4B05B9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9DE"/>
          </a:solidFill>
          <a:ln xmlns:a="http://schemas.openxmlformats.org/drawingml/2006/main" w="0">
            <a:solidFill>
              <a:srgbClr val="CDE9DE"/>
            </a:solidFill>
            <a:prstDash val="solid"/>
          </a:ln>
        </p:spPr>
      </p:sp>
      <p:sp>
        <p:nvSpPr>
          <p:cNvPr id="34" name="subtype-4-clinical">
            <a:extLst xmlns:a="http://schemas.openxmlformats.org/drawingml/2006/main">
              <a:ext uri="{FF2B5EF4-FFF2-40B4-BE49-F238E27FC236}">
                <a16:creationId xmlns:a16="http://schemas.microsoft.com/office/drawing/2014/main" id="{2ABF0551-67EA-49AF-B9B3-D393B146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临床表现：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发热、头昏沉、胸闷、肢体困重、舌苔黄腻，多在夏季暑湿时发生。</a:t>
            </a:r>
          </a:p>
        </p:txBody>
      </p:sp>
      <p:sp>
        <p:nvSpPr>
          <p:cNvPr id="35" name="subtype-4-column-rule">
            <a:extLst xmlns:a="http://schemas.openxmlformats.org/drawingml/2006/main">
              <a:ext uri="{FF2B5EF4-FFF2-40B4-BE49-F238E27FC236}">
                <a16:creationId xmlns:a16="http://schemas.microsoft.com/office/drawing/2014/main" id="{1BE827D0-B1A4-46F0-864F-04A3A25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95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E7"/>
          </a:solidFill>
          <a:ln xmlns:a="http://schemas.openxmlformats.org/drawingml/2006/main" w="0">
            <a:solidFill>
              <a:srgbClr val="D5E5E7"/>
            </a:solidFill>
            <a:prstDash val="solid"/>
          </a:ln>
        </p:spPr>
      </p:sp>
      <p:sp>
        <p:nvSpPr>
          <p:cNvPr id="36" name="subtype-4-treatment">
            <a:extLst xmlns:a="http://schemas.openxmlformats.org/drawingml/2006/main">
              <a:ext uri="{FF2B5EF4-FFF2-40B4-BE49-F238E27FC236}">
                <a16:creationId xmlns:a16="http://schemas.microsoft.com/office/drawing/2014/main" id="{BD7BB7D2-6D0D-40C5-81DF-BEBB2681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治则与方药：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疏风清热，兼化湿和中。方用新加香薷饮；中成药可选甘露消毒丹。</a:t>
            </a:r>
          </a:p>
        </p:txBody>
      </p:sp>
    </p:spTree>
    <p:extLst>
      <p:ext uri="{BB962C8B-B14F-4D97-AF65-F5344CB8AC3E}">
        <p14:creationId xmlns:p14="http://schemas.microsoft.com/office/powerpoint/2010/main" val="15572193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53B84C13-60A3-4535-84E6-2CF493DE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2C08068E-262C-43E9-80F2-D60A618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B23A41F0-EB33-47C8-9BC5-F33FA03A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商品篇——穿心莲内酯滴丸的产品信息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D5F48556-014A-4A92-8A0F-A76F33A6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A1C3D571-36BC-4DC3-A5E3-A399586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32A1BEFA-9BAC-4BFA-A47B-142DE11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90ECF3AA-388C-44D6-AC2F-FFC21749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6C07D9B4-2B8F-4624-868F-822B60D7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09 / 18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7c8b571a345b7"/>
          <a:stretch xmlns:a="http://schemas.openxmlformats.org/drawingml/2006/main"/>
        </p:blipFill>
        <p:spPr>
          <a:xfrm xmlns:a="http://schemas.openxmlformats.org/drawingml/2006/main">
            <a:off x="482774" y="2095500"/>
            <a:ext cx="2368202" cy="2381250"/>
          </a:xfrm>
          <a:prstGeom xmlns:a="http://schemas.openxmlformats.org/drawingml/2006/main" prst="rect">
            <a:avLst/>
          </a:prstGeom>
        </p:spPr>
      </p:pic>
      <p:sp>
        <p:nvSpPr>
          <p:cNvPr id="10" name="product-info-outline">
            <a:extLst xmlns:a="http://schemas.openxmlformats.org/drawingml/2006/main">
              <a:ext uri="{FF2B5EF4-FFF2-40B4-BE49-F238E27FC236}">
                <a16:creationId xmlns:a16="http://schemas.microsoft.com/office/drawing/2014/main" id="{FFFF2FD3-4BBE-4DBC-BAD5-C80106DC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85875"/>
            <a:ext cx="7953375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66A2F"/>
            </a:solidFill>
            <a:prstDash val="solid"/>
          </a:ln>
        </p:spPr>
      </p:sp>
      <p:sp>
        <p:nvSpPr>
          <p:cNvPr id="11" name="product-info-label-1">
            <a:extLst xmlns:a="http://schemas.openxmlformats.org/drawingml/2006/main">
              <a:ext uri="{FF2B5EF4-FFF2-40B4-BE49-F238E27FC236}">
                <a16:creationId xmlns:a16="http://schemas.microsoft.com/office/drawing/2014/main" id="{5485EFC3-6CBF-4C4E-84AD-59CC356D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6A2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【成  份】</a:t>
            </a:r>
          </a:p>
        </p:txBody>
      </p:sp>
      <p:sp>
        <p:nvSpPr>
          <p:cNvPr id="12" name="product-info-value-1">
            <a:extLst xmlns:a="http://schemas.openxmlformats.org/drawingml/2006/main">
              <a:ext uri="{FF2B5EF4-FFF2-40B4-BE49-F238E27FC236}">
                <a16:creationId xmlns:a16="http://schemas.microsoft.com/office/drawing/2014/main" id="{80F692F3-F003-462E-9DC5-B29F8F3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92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穿心莲内酯（纯度高达97%以上）；辅料为聚乙二醇、薄膜包衣预混剂。</a:t>
            </a:r>
          </a:p>
        </p:txBody>
      </p:sp>
      <p:sp>
        <p:nvSpPr>
          <p:cNvPr id="13" name="product-info-label-2">
            <a:extLst xmlns:a="http://schemas.openxmlformats.org/drawingml/2006/main">
              <a:ext uri="{FF2B5EF4-FFF2-40B4-BE49-F238E27FC236}">
                <a16:creationId xmlns:a16="http://schemas.microsoft.com/office/drawing/2014/main" id="{7292B25B-CD51-4E18-8C03-FCE98F81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6A2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【性  状】</a:t>
            </a:r>
          </a:p>
        </p:txBody>
      </p:sp>
      <p:sp>
        <p:nvSpPr>
          <p:cNvPr id="14" name="product-info-value-2">
            <a:extLst xmlns:a="http://schemas.openxmlformats.org/drawingml/2006/main">
              <a:ext uri="{FF2B5EF4-FFF2-40B4-BE49-F238E27FC236}">
                <a16:creationId xmlns:a16="http://schemas.microsoft.com/office/drawing/2014/main" id="{BD6DB50E-BC6C-4D48-B404-C1B9E11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本品为黄色的包衣滴丸，除去包衣后显类白色；味苦。</a:t>
            </a:r>
          </a:p>
        </p:txBody>
      </p:sp>
      <p:sp>
        <p:nvSpPr>
          <p:cNvPr id="15" name="product-info-label-3">
            <a:extLst xmlns:a="http://schemas.openxmlformats.org/drawingml/2006/main">
              <a:ext uri="{FF2B5EF4-FFF2-40B4-BE49-F238E27FC236}">
                <a16:creationId xmlns:a16="http://schemas.microsoft.com/office/drawing/2014/main" id="{6067C02B-3FD9-41F4-9B79-779C01B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6A2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【功能主治】</a:t>
            </a:r>
          </a:p>
        </p:txBody>
      </p:sp>
      <p:sp>
        <p:nvSpPr>
          <p:cNvPr id="16" name="product-info-value-3">
            <a:extLst xmlns:a="http://schemas.openxmlformats.org/drawingml/2006/main">
              <a:ext uri="{FF2B5EF4-FFF2-40B4-BE49-F238E27FC236}">
                <a16:creationId xmlns:a16="http://schemas.microsoft.com/office/drawing/2014/main" id="{004BCB1C-340E-4801-973A-1E2A58B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003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12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清热解毒，抗菌消炎。用于上呼吸道感染风热证所致的咽痛。</a:t>
            </a:r>
          </a:p>
        </p:txBody>
      </p:sp>
      <p:sp>
        <p:nvSpPr>
          <p:cNvPr id="17" name="product-info-label-4">
            <a:extLst xmlns:a="http://schemas.openxmlformats.org/drawingml/2006/main">
              <a:ext uri="{FF2B5EF4-FFF2-40B4-BE49-F238E27FC236}">
                <a16:creationId xmlns:a16="http://schemas.microsoft.com/office/drawing/2014/main" id="{5B31E862-6861-4D17-891F-0130FAC2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909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6A2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【规  格】</a:t>
            </a:r>
          </a:p>
        </p:txBody>
      </p:sp>
      <p:sp>
        <p:nvSpPr>
          <p:cNvPr id="18" name="product-info-value-4">
            <a:extLst xmlns:a="http://schemas.openxmlformats.org/drawingml/2006/main">
              <a:ext uri="{FF2B5EF4-FFF2-40B4-BE49-F238E27FC236}">
                <a16:creationId xmlns:a16="http://schemas.microsoft.com/office/drawing/2014/main" id="{93CF2EC8-6E4D-459A-81D1-78196E46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909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每袋含穿心莲内酯0.15g。</a:t>
            </a:r>
          </a:p>
        </p:txBody>
      </p:sp>
      <p:sp>
        <p:nvSpPr>
          <p:cNvPr id="19" name="product-info-label-5">
            <a:extLst xmlns:a="http://schemas.openxmlformats.org/drawingml/2006/main">
              <a:ext uri="{FF2B5EF4-FFF2-40B4-BE49-F238E27FC236}">
                <a16:creationId xmlns:a16="http://schemas.microsoft.com/office/drawing/2014/main" id="{6AC352C2-895B-4F2B-8CA4-B949F6C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6A2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【用量用法】</a:t>
            </a:r>
          </a:p>
        </p:txBody>
      </p:sp>
      <p:sp>
        <p:nvSpPr>
          <p:cNvPr id="20" name="product-info-value-5">
            <a:extLst xmlns:a="http://schemas.openxmlformats.org/drawingml/2006/main">
              <a:ext uri="{FF2B5EF4-FFF2-40B4-BE49-F238E27FC236}">
                <a16:creationId xmlns:a16="http://schemas.microsoft.com/office/drawing/2014/main" id="{7FB762BC-6508-44DA-B189-12BD88A1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814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12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口服，一次1袋，一日3次。（建议首次服用两袋）</a:t>
            </a:r>
          </a:p>
        </p:txBody>
      </p:sp>
      <p:sp>
        <p:nvSpPr>
          <p:cNvPr id="21" name="product-info-label-6">
            <a:extLst xmlns:a="http://schemas.openxmlformats.org/drawingml/2006/main">
              <a:ext uri="{FF2B5EF4-FFF2-40B4-BE49-F238E27FC236}">
                <a16:creationId xmlns:a16="http://schemas.microsoft.com/office/drawing/2014/main" id="{A942A8F3-D457-4ED3-99B4-65742B5F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6A2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【禁  忌】</a:t>
            </a:r>
          </a:p>
        </p:txBody>
      </p:sp>
      <p:sp>
        <p:nvSpPr>
          <p:cNvPr id="22" name="product-info-value-6">
            <a:extLst xmlns:a="http://schemas.openxmlformats.org/drawingml/2006/main">
              <a:ext uri="{FF2B5EF4-FFF2-40B4-BE49-F238E27FC236}">
                <a16:creationId xmlns:a16="http://schemas.microsoft.com/office/drawing/2014/main" id="{7EE1A9E6-E986-403E-99B5-7BC1BF5B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720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对本品过敏者禁用。</a:t>
            </a:r>
          </a:p>
        </p:txBody>
      </p:sp>
    </p:spTree>
    <p:extLst>
      <p:ext uri="{BB962C8B-B14F-4D97-AF65-F5344CB8AC3E}">
        <p14:creationId xmlns:p14="http://schemas.microsoft.com/office/powerpoint/2010/main" val="2102216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3D9E9485-5F63-46A6-BEE8-7A54125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9DA829A6-77F2-410F-9BA3-4B396168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7A18F6F8-5047-4163-9B08-F59C4BEF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商品篇——穿心莲内酯滴丸的产品优势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AD6F3C96-3CD1-484C-883E-190D58D5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4F69ECA2-71FF-4AC1-A0FC-D6F1049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A627E2C4-C4B2-4699-AFA6-2F266F65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B72AD422-E660-442B-9805-855D1256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4CEA095F-9B06-4478-BF21-E28AA38D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10 / 18</a:t>
            </a:r>
          </a:p>
        </p:txBody>
      </p:sp>
      <p:sp>
        <p:nvSpPr>
          <p:cNvPr id="9" name="advantage-core">
            <a:extLst xmlns:a="http://schemas.openxmlformats.org/drawingml/2006/main">
              <a:ext uri="{FF2B5EF4-FFF2-40B4-BE49-F238E27FC236}">
                <a16:creationId xmlns:a16="http://schemas.microsoft.com/office/drawing/2014/main" id="{A1C4219B-2678-4FC3-BDBB-E466A721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000125"/>
            <a:ext cx="2000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dvantage-core-text">
            <a:extLst xmlns:a="http://schemas.openxmlformats.org/drawingml/2006/main">
              <a:ext uri="{FF2B5EF4-FFF2-40B4-BE49-F238E27FC236}">
                <a16:creationId xmlns:a16="http://schemas.microsoft.com/office/drawing/2014/main" id="{93597CA1-0A27-4A5A-88E5-CA199E94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335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一机理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三优势</a:t>
            </a:r>
          </a:p>
        </p:txBody>
      </p:sp>
      <p:sp>
        <p:nvSpPr>
          <p:cNvPr id="11" name="advantage-axis">
            <a:extLst xmlns:a="http://schemas.openxmlformats.org/drawingml/2006/main">
              <a:ext uri="{FF2B5EF4-FFF2-40B4-BE49-F238E27FC236}">
                <a16:creationId xmlns:a16="http://schemas.microsoft.com/office/drawing/2014/main" id="{31BB807F-8D05-486C-BFB4-E4730A73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7662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2" name="advantage-node-1">
            <a:extLst xmlns:a="http://schemas.openxmlformats.org/drawingml/2006/main">
              <a:ext uri="{FF2B5EF4-FFF2-40B4-BE49-F238E27FC236}">
                <a16:creationId xmlns:a16="http://schemas.microsoft.com/office/drawing/2014/main" id="{868D58EE-CF89-494D-9482-F908C0B4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dvantage-node-label-1">
            <a:extLst xmlns:a="http://schemas.openxmlformats.org/drawingml/2006/main">
              <a:ext uri="{FF2B5EF4-FFF2-40B4-BE49-F238E27FC236}">
                <a16:creationId xmlns:a16="http://schemas.microsoft.com/office/drawing/2014/main" id="{396252E6-848B-4E6B-9D64-38D202AE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机理</a:t>
            </a:r>
          </a:p>
        </p:txBody>
      </p:sp>
      <p:sp>
        <p:nvSpPr>
          <p:cNvPr id="14" name="advantage-heading-1">
            <a:extLst xmlns:a="http://schemas.openxmlformats.org/drawingml/2006/main">
              <a:ext uri="{FF2B5EF4-FFF2-40B4-BE49-F238E27FC236}">
                <a16:creationId xmlns:a16="http://schemas.microsoft.com/office/drawing/2014/main" id="{FA664D05-296F-4196-BEEA-A9855BA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6A2F"/>
                </a:solidFill>
              </a:defRPr>
            </a:pPr>
            <a:r>
              <a:rPr sz="14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抑制核转录因子表达</a:t>
            </a:r>
          </a:p>
        </p:txBody>
      </p:sp>
      <p:sp>
        <p:nvSpPr>
          <p:cNvPr id="15" name="advantage-body-1">
            <a:extLst xmlns:a="http://schemas.openxmlformats.org/drawingml/2006/main">
              <a:ext uri="{FF2B5EF4-FFF2-40B4-BE49-F238E27FC236}">
                <a16:creationId xmlns:a16="http://schemas.microsoft.com/office/drawing/2014/main" id="{3143D0FC-E244-4C2A-8B5A-A81F9F7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提高机体防御能力</a:t>
            </a:r>
          </a:p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减轻细菌或病毒感染带来的不适症状</a:t>
            </a:r>
          </a:p>
        </p:txBody>
      </p:sp>
      <p:sp>
        <p:nvSpPr>
          <p:cNvPr id="16" name="advantage-node-2">
            <a:extLst xmlns:a="http://schemas.openxmlformats.org/drawingml/2006/main">
              <a:ext uri="{FF2B5EF4-FFF2-40B4-BE49-F238E27FC236}">
                <a16:creationId xmlns:a16="http://schemas.microsoft.com/office/drawing/2014/main" id="{DD780167-A644-4574-88E2-72792BB9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dvantage-node-label-2">
            <a:extLst xmlns:a="http://schemas.openxmlformats.org/drawingml/2006/main">
              <a:ext uri="{FF2B5EF4-FFF2-40B4-BE49-F238E27FC236}">
                <a16:creationId xmlns:a16="http://schemas.microsoft.com/office/drawing/2014/main" id="{E195ECEA-3743-4119-A4E8-5341D6A9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670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单</a:t>
            </a:r>
          </a:p>
        </p:txBody>
      </p:sp>
      <p:sp>
        <p:nvSpPr>
          <p:cNvPr id="18" name="advantage-heading-2">
            <a:extLst xmlns:a="http://schemas.openxmlformats.org/drawingml/2006/main">
              <a:ext uri="{FF2B5EF4-FFF2-40B4-BE49-F238E27FC236}">
                <a16:creationId xmlns:a16="http://schemas.microsoft.com/office/drawing/2014/main" id="{6F2B80DE-CCAF-499D-B440-67674A56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6A2F"/>
                </a:solidFill>
              </a:defRPr>
            </a:pPr>
            <a:r>
              <a:rPr sz="14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百分百纯植物提取</a:t>
            </a:r>
          </a:p>
        </p:txBody>
      </p:sp>
      <p:sp>
        <p:nvSpPr>
          <p:cNvPr id="19" name="advantage-body-2">
            <a:extLst xmlns:a="http://schemas.openxmlformats.org/drawingml/2006/main">
              <a:ext uri="{FF2B5EF4-FFF2-40B4-BE49-F238E27FC236}">
                <a16:creationId xmlns:a16="http://schemas.microsoft.com/office/drawing/2014/main" id="{A74C32CB-4698-494E-AAAB-662B6923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86300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单体制剂、植物化学药</a:t>
            </a:r>
          </a:p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机理确切可控，降低联合用药风险</a:t>
            </a:r>
          </a:p>
        </p:txBody>
      </p:sp>
      <p:sp>
        <p:nvSpPr>
          <p:cNvPr id="20" name="advantage-node-3">
            <a:extLst xmlns:a="http://schemas.openxmlformats.org/drawingml/2006/main">
              <a:ext uri="{FF2B5EF4-FFF2-40B4-BE49-F238E27FC236}">
                <a16:creationId xmlns:a16="http://schemas.microsoft.com/office/drawing/2014/main" id="{765C7966-E2A3-4571-90B1-231518C4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dvantage-node-label-3">
            <a:extLst xmlns:a="http://schemas.openxmlformats.org/drawingml/2006/main">
              <a:ext uri="{FF2B5EF4-FFF2-40B4-BE49-F238E27FC236}">
                <a16:creationId xmlns:a16="http://schemas.microsoft.com/office/drawing/2014/main" id="{67182763-DB09-4D9C-BE04-BE684D98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670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纯</a:t>
            </a:r>
          </a:p>
        </p:txBody>
      </p:sp>
      <p:sp>
        <p:nvSpPr>
          <p:cNvPr id="22" name="advantage-heading-3">
            <a:extLst xmlns:a="http://schemas.openxmlformats.org/drawingml/2006/main">
              <a:ext uri="{FF2B5EF4-FFF2-40B4-BE49-F238E27FC236}">
                <a16:creationId xmlns:a16="http://schemas.microsoft.com/office/drawing/2014/main" id="{ADE42CFA-6881-425C-8EB8-F4A1D4E4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6A2F"/>
                </a:solidFill>
              </a:defRPr>
            </a:pPr>
            <a:r>
              <a:rPr sz="14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穿心莲内酯纯度97%</a:t>
            </a:r>
          </a:p>
        </p:txBody>
      </p:sp>
      <p:sp>
        <p:nvSpPr>
          <p:cNvPr id="23" name="advantage-body-3">
            <a:extLst xmlns:a="http://schemas.openxmlformats.org/drawingml/2006/main">
              <a:ext uri="{FF2B5EF4-FFF2-40B4-BE49-F238E27FC236}">
                <a16:creationId xmlns:a16="http://schemas.microsoft.com/office/drawing/2014/main" id="{408460A0-EB4F-4084-A846-75CF4D2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质量稳定，载药量高</a:t>
            </a:r>
          </a:p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疗效好</a:t>
            </a:r>
          </a:p>
        </p:txBody>
      </p:sp>
      <p:sp>
        <p:nvSpPr>
          <p:cNvPr id="24" name="advantage-node-4">
            <a:extLst xmlns:a="http://schemas.openxmlformats.org/drawingml/2006/main">
              <a:ext uri="{FF2B5EF4-FFF2-40B4-BE49-F238E27FC236}">
                <a16:creationId xmlns:a16="http://schemas.microsoft.com/office/drawing/2014/main" id="{1692B7D9-7670-4D5E-892A-C5C976D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dvantage-node-label-4">
            <a:extLst xmlns:a="http://schemas.openxmlformats.org/drawingml/2006/main">
              <a:ext uri="{FF2B5EF4-FFF2-40B4-BE49-F238E27FC236}">
                <a16:creationId xmlns:a16="http://schemas.microsoft.com/office/drawing/2014/main" id="{863A17F1-0CEE-4B90-B6AD-12332870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70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快</a:t>
            </a:r>
          </a:p>
        </p:txBody>
      </p:sp>
      <p:sp>
        <p:nvSpPr>
          <p:cNvPr id="26" name="advantage-heading-4">
            <a:extLst xmlns:a="http://schemas.openxmlformats.org/drawingml/2006/main">
              <a:ext uri="{FF2B5EF4-FFF2-40B4-BE49-F238E27FC236}">
                <a16:creationId xmlns:a16="http://schemas.microsoft.com/office/drawing/2014/main" id="{CE130394-BAAD-424C-A51E-F463C464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48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6A2F"/>
                </a:solidFill>
              </a:defRPr>
            </a:pPr>
            <a:r>
              <a:rPr sz="14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滴丸剂型固体分散技术</a:t>
            </a:r>
          </a:p>
        </p:txBody>
      </p:sp>
      <p:sp>
        <p:nvSpPr>
          <p:cNvPr id="27" name="advantage-body-4">
            <a:extLst xmlns:a="http://schemas.openxmlformats.org/drawingml/2006/main">
              <a:ext uri="{FF2B5EF4-FFF2-40B4-BE49-F238E27FC236}">
                <a16:creationId xmlns:a16="http://schemas.microsoft.com/office/drawing/2014/main" id="{AF02CACF-AD18-468B-9CAE-40DED885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86300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溶散时间短</a:t>
            </a:r>
          </a:p>
          <a:p xmlns:a="http://schemas.openxmlformats.org/drawingml/2006/main">
            <a:pPr algn="ctr">
              <a:defRPr sz="1425" b="0">
                <a:solidFill>
                  <a:srgbClr val="33413A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快速吸收，起效迅速</a:t>
            </a:r>
          </a:p>
        </p:txBody>
      </p:sp>
    </p:spTree>
    <p:extLst>
      <p:ext uri="{BB962C8B-B14F-4D97-AF65-F5344CB8AC3E}">
        <p14:creationId xmlns:p14="http://schemas.microsoft.com/office/powerpoint/2010/main" val="4606495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B0B4E525-FFE9-44ED-87AE-E3DF013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2A3E458F-B3B0-4570-A919-1F92B45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AF7DD923-1D58-487A-98A6-105C95BF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商品篇——穿心莲内酯滴丸的核心优势总结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C2893525-19BD-48BD-B1F4-D4B9A82C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7D6D95C2-34D8-4ABC-BFF1-D4AE4138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E082D98D-F1F7-4274-A777-0497E79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9D753D5D-C85A-4BED-823B-4B00F50C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7E9CB7DB-86FD-49E9-9096-0C4FE84A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11 / 18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1c831fb5b47df"/>
          <a:stretch xmlns:a="http://schemas.openxmlformats.org/drawingml/2006/main"/>
        </p:blipFill>
        <p:spPr>
          <a:xfrm xmlns:a="http://schemas.openxmlformats.org/drawingml/2006/main">
            <a:off x="4789856" y="2000250"/>
            <a:ext cx="2612287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dosage-advantage-surface">
            <a:extLst xmlns:a="http://schemas.openxmlformats.org/drawingml/2006/main">
              <a:ext uri="{FF2B5EF4-FFF2-40B4-BE49-F238E27FC236}">
                <a16:creationId xmlns:a16="http://schemas.microsoft.com/office/drawing/2014/main" id="{DDF9573C-B656-4A3A-A2FC-0B3315BC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810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1" name="dosage-advantage-accent">
            <a:extLst xmlns:a="http://schemas.openxmlformats.org/drawingml/2006/main">
              <a:ext uri="{FF2B5EF4-FFF2-40B4-BE49-F238E27FC236}">
                <a16:creationId xmlns:a16="http://schemas.microsoft.com/office/drawing/2014/main" id="{5B8E2EE8-04A2-4B05-8873-2E2ECF5C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sage-advantage-title">
            <a:extLst xmlns:a="http://schemas.openxmlformats.org/drawingml/2006/main">
              <a:ext uri="{FF2B5EF4-FFF2-40B4-BE49-F238E27FC236}">
                <a16:creationId xmlns:a16="http://schemas.microsoft.com/office/drawing/2014/main" id="{78BB190D-F932-4CF9-9E7C-DFAED4B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6A2F"/>
                </a:solidFill>
              </a:defRPr>
            </a:pPr>
            <a:r>
              <a:rPr sz="19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剂型优势</a:t>
            </a:r>
          </a:p>
        </p:txBody>
      </p:sp>
      <p:sp>
        <p:nvSpPr>
          <p:cNvPr id="13" name="dosage-advantage-divider">
            <a:extLst xmlns:a="http://schemas.openxmlformats.org/drawingml/2006/main">
              <a:ext uri="{FF2B5EF4-FFF2-40B4-BE49-F238E27FC236}">
                <a16:creationId xmlns:a16="http://schemas.microsoft.com/office/drawing/2014/main" id="{C433D09B-07B3-4786-882A-E8B84B1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4" name="dosage-advantage-body">
            <a:extLst xmlns:a="http://schemas.openxmlformats.org/drawingml/2006/main">
              <a:ext uri="{FF2B5EF4-FFF2-40B4-BE49-F238E27FC236}">
                <a16:creationId xmlns:a16="http://schemas.microsoft.com/office/drawing/2014/main" id="{5FB00D79-EA6C-4150-950D-4D06858C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3390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全国独家：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全国唯一穿心莲内酯滴丸剂型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起效更快：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5–10分钟内全部崩解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易携带：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独立包装，方便携带</a:t>
            </a:r>
          </a:p>
        </p:txBody>
      </p:sp>
      <p:sp>
        <p:nvSpPr>
          <p:cNvPr id="15" name="process-advantage-surface">
            <a:extLst xmlns:a="http://schemas.openxmlformats.org/drawingml/2006/main">
              <a:ext uri="{FF2B5EF4-FFF2-40B4-BE49-F238E27FC236}">
                <a16:creationId xmlns:a16="http://schemas.microsoft.com/office/drawing/2014/main" id="{B40FB1B2-8EE9-4A94-82D6-C97F67D9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191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6" name="process-advantage-accent">
            <a:extLst xmlns:a="http://schemas.openxmlformats.org/drawingml/2006/main">
              <a:ext uri="{FF2B5EF4-FFF2-40B4-BE49-F238E27FC236}">
                <a16:creationId xmlns:a16="http://schemas.microsoft.com/office/drawing/2014/main" id="{9C19BBCA-AAD5-455A-9ED3-9FE993CB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cess-advantage-title">
            <a:extLst xmlns:a="http://schemas.openxmlformats.org/drawingml/2006/main">
              <a:ext uri="{FF2B5EF4-FFF2-40B4-BE49-F238E27FC236}">
                <a16:creationId xmlns:a16="http://schemas.microsoft.com/office/drawing/2014/main" id="{82D02C01-AE63-4712-AE45-C58A3E36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6A2F"/>
                </a:solidFill>
              </a:defRPr>
            </a:pPr>
            <a:r>
              <a:rPr sz="19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工艺优势</a:t>
            </a:r>
          </a:p>
        </p:txBody>
      </p:sp>
      <p:sp>
        <p:nvSpPr>
          <p:cNvPr id="18" name="process-advantage-divider">
            <a:extLst xmlns:a="http://schemas.openxmlformats.org/drawingml/2006/main">
              <a:ext uri="{FF2B5EF4-FFF2-40B4-BE49-F238E27FC236}">
                <a16:creationId xmlns:a16="http://schemas.microsoft.com/office/drawing/2014/main" id="{300521AE-305A-488D-BBDC-A02E87D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9" name="process-advantage-body">
            <a:extLst xmlns:a="http://schemas.openxmlformats.org/drawingml/2006/main">
              <a:ext uri="{FF2B5EF4-FFF2-40B4-BE49-F238E27FC236}">
                <a16:creationId xmlns:a16="http://schemas.microsoft.com/office/drawing/2014/main" id="{ABFDE6E0-6E76-4A4E-8ADC-8003F73B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3771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纯度高：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穿心莲内酯纯度高达97%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稳定性强：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高速滴丸机，含量均匀度高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安全保证：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0糖0添加，纯中药制剂</a:t>
            </a:r>
          </a:p>
        </p:txBody>
      </p:sp>
      <p:sp>
        <p:nvSpPr>
          <p:cNvPr id="20" name="formula-advantage-surface">
            <a:extLst xmlns:a="http://schemas.openxmlformats.org/drawingml/2006/main">
              <a:ext uri="{FF2B5EF4-FFF2-40B4-BE49-F238E27FC236}">
                <a16:creationId xmlns:a16="http://schemas.microsoft.com/office/drawing/2014/main" id="{03F105C8-B5FE-4444-A035-CDAD1D5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1" name="formula-advantage-accent">
            <a:extLst xmlns:a="http://schemas.openxmlformats.org/drawingml/2006/main">
              <a:ext uri="{FF2B5EF4-FFF2-40B4-BE49-F238E27FC236}">
                <a16:creationId xmlns:a16="http://schemas.microsoft.com/office/drawing/2014/main" id="{653908C5-65C8-4D1D-8E7C-8747A2B7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rmula-advantage-title">
            <a:extLst xmlns:a="http://schemas.openxmlformats.org/drawingml/2006/main">
              <a:ext uri="{FF2B5EF4-FFF2-40B4-BE49-F238E27FC236}">
                <a16:creationId xmlns:a16="http://schemas.microsoft.com/office/drawing/2014/main" id="{D09D251C-07DD-48B6-B78F-B7A745E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6A2F"/>
                </a:solidFill>
              </a:defRPr>
            </a:pPr>
            <a:r>
              <a:rPr sz="19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组方优势</a:t>
            </a:r>
          </a:p>
        </p:txBody>
      </p:sp>
      <p:sp>
        <p:nvSpPr>
          <p:cNvPr id="23" name="formula-advantage-divider">
            <a:extLst xmlns:a="http://schemas.openxmlformats.org/drawingml/2006/main">
              <a:ext uri="{FF2B5EF4-FFF2-40B4-BE49-F238E27FC236}">
                <a16:creationId xmlns:a16="http://schemas.microsoft.com/office/drawing/2014/main" id="{35B08C6E-4ADD-4E3B-89AA-BDBB2AAA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4" name="formula-advantage-body">
            <a:extLst xmlns:a="http://schemas.openxmlformats.org/drawingml/2006/main">
              <a:ext uri="{FF2B5EF4-FFF2-40B4-BE49-F238E27FC236}">
                <a16:creationId xmlns:a16="http://schemas.microsoft.com/office/drawing/2014/main" id="{A228E684-A9AB-4A23-9797-667946FC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36766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植物单体制剂：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经典老药，植物单体制剂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功能全面：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清热解毒＋抗菌消炎</a:t>
            </a:r>
          </a:p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• 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疗效显著：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治疗感冒、流感、咽痛总有效率95%</a:t>
            </a:r>
          </a:p>
        </p:txBody>
      </p:sp>
    </p:spTree>
    <p:extLst>
      <p:ext uri="{BB962C8B-B14F-4D97-AF65-F5344CB8AC3E}">
        <p14:creationId xmlns:p14="http://schemas.microsoft.com/office/powerpoint/2010/main" val="1961513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B930E399-217B-4983-B42C-FDEABFF1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E756C88D-5B7A-43F1-BDEA-DE93228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3.1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5B351D65-BDC8-4D4B-BF8A-2B2C11AF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场景篇——什么时候推荐穿心莲内酯滴丸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5CF196AF-A760-491B-B079-44EE7FB3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A6C57956-E94E-4411-BFA2-8BDB9EEE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9E823AA2-76B6-4F6E-A7A2-3EEC268F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70A7256E-704D-41F1-A94F-8F24A46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98DE7A73-2D44-4EBD-83DC-36A81696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12 / 18</a:t>
            </a:r>
          </a:p>
        </p:txBody>
      </p:sp>
      <p:sp>
        <p:nvSpPr>
          <p:cNvPr id="9" name="scenario-product-name">
            <a:extLst xmlns:a="http://schemas.openxmlformats.org/drawingml/2006/main">
              <a:ext uri="{FF2B5EF4-FFF2-40B4-BE49-F238E27FC236}">
                <a16:creationId xmlns:a16="http://schemas.microsoft.com/office/drawing/2014/main" id="{675F92B0-2916-4C2C-8992-AF79A45F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60012"/>
                </a:solidFill>
              </a:defRPr>
            </a:pPr>
            <a:r>
              <a:rPr sz="25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＞ 穿心莲内酯滴丸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5ee3fe9c44794"/>
          <a:stretch xmlns:a="http://schemas.openxmlformats.org/drawingml/2006/main"/>
        </p:blipFill>
        <p:spPr>
          <a:xfrm xmlns:a="http://schemas.openxmlformats.org/drawingml/2006/main">
            <a:off x="693533" y="1857375"/>
            <a:ext cx="2422934" cy="30480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c42e91da7461a"/>
          <a:stretch xmlns:a="http://schemas.openxmlformats.org/drawingml/2006/main"/>
        </p:blipFill>
        <p:spPr>
          <a:xfrm xmlns:a="http://schemas.openxmlformats.org/drawingml/2006/main">
            <a:off x="4333875" y="1341020"/>
            <a:ext cx="1285875" cy="1556586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1da85b3ee4400"/>
          <a:stretch xmlns:a="http://schemas.openxmlformats.org/drawingml/2006/main"/>
        </p:blipFill>
        <p:spPr>
          <a:xfrm xmlns:a="http://schemas.openxmlformats.org/drawingml/2006/main">
            <a:off x="4717521" y="3000375"/>
            <a:ext cx="1185333" cy="15240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dce8e3d424b00"/>
          <a:stretch xmlns:a="http://schemas.openxmlformats.org/drawingml/2006/main"/>
        </p:blipFill>
        <p:spPr>
          <a:xfrm xmlns:a="http://schemas.openxmlformats.org/drawingml/2006/main">
            <a:off x="4142293" y="4810125"/>
            <a:ext cx="1526165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audience-label-child-surface">
            <a:extLst xmlns:a="http://schemas.openxmlformats.org/drawingml/2006/main">
              <a:ext uri="{FF2B5EF4-FFF2-40B4-BE49-F238E27FC236}">
                <a16:creationId xmlns:a16="http://schemas.microsoft.com/office/drawing/2014/main" id="{A352C7A4-719A-409F-8CC0-4830C73E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7239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udience-label-child">
            <a:extLst xmlns:a="http://schemas.openxmlformats.org/drawingml/2006/main">
              <a:ext uri="{FF2B5EF4-FFF2-40B4-BE49-F238E27FC236}">
                <a16:creationId xmlns:a16="http://schemas.microsoft.com/office/drawing/2014/main" id="{31657143-6E88-4CDB-BF0E-35BD69E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儿童</a:t>
            </a:r>
          </a:p>
        </p:txBody>
      </p:sp>
      <p:sp>
        <p:nvSpPr>
          <p:cNvPr id="16" name="audience-arrow-child-1">
            <a:extLst xmlns:a="http://schemas.openxmlformats.org/drawingml/2006/main">
              <a:ext uri="{FF2B5EF4-FFF2-40B4-BE49-F238E27FC236}">
                <a16:creationId xmlns:a16="http://schemas.microsoft.com/office/drawing/2014/main" id="{D90DEDD4-6BA8-4A44-9EC5-5BAE5AF8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383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A817"/>
                </a:solidFill>
              </a:defRPr>
            </a:pPr>
            <a:r>
              <a:rPr sz="31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17" name="audience-child-scene">
            <a:extLst xmlns:a="http://schemas.openxmlformats.org/drawingml/2006/main">
              <a:ext uri="{FF2B5EF4-FFF2-40B4-BE49-F238E27FC236}">
                <a16:creationId xmlns:a16="http://schemas.microsoft.com/office/drawing/2014/main" id="{E6C0E14C-77CB-4937-9B8B-034BB5C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A24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学校感冒交叉感染</a:t>
            </a:r>
          </a:p>
        </p:txBody>
      </p:sp>
      <p:sp>
        <p:nvSpPr>
          <p:cNvPr id="18" name="audience-arrow-child-2">
            <a:extLst xmlns:a="http://schemas.openxmlformats.org/drawingml/2006/main">
              <a:ext uri="{FF2B5EF4-FFF2-40B4-BE49-F238E27FC236}">
                <a16:creationId xmlns:a16="http://schemas.microsoft.com/office/drawing/2014/main" id="{BDEAF123-81F3-4D36-9980-CEE1EC9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383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A817"/>
                </a:solidFill>
              </a:defRPr>
            </a:pPr>
            <a:r>
              <a:rPr sz="31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19" name="audience-child-need">
            <a:extLst xmlns:a="http://schemas.openxmlformats.org/drawingml/2006/main">
              <a:ext uri="{FF2B5EF4-FFF2-40B4-BE49-F238E27FC236}">
                <a16:creationId xmlns:a16="http://schemas.microsoft.com/office/drawing/2014/main" id="{1E4BF54F-D529-4060-A852-EDDA3CA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478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7378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6E7378"/>
                </a:solidFill>
              </a:rPr>
              <a:t>酸奶送服更安全</a:t>
            </a:r>
          </a:p>
        </p:txBody>
      </p:sp>
      <p:sp>
        <p:nvSpPr>
          <p:cNvPr id="20" name="audience-label-adult-surface">
            <a:extLst xmlns:a="http://schemas.openxmlformats.org/drawingml/2006/main">
              <a:ext uri="{FF2B5EF4-FFF2-40B4-BE49-F238E27FC236}">
                <a16:creationId xmlns:a16="http://schemas.microsoft.com/office/drawing/2014/main" id="{D92B27D5-520B-4998-B5A3-8114FE1D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05200"/>
            <a:ext cx="990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udience-label-adult">
            <a:extLst xmlns:a="http://schemas.openxmlformats.org/drawingml/2006/main">
              <a:ext uri="{FF2B5EF4-FFF2-40B4-BE49-F238E27FC236}">
                <a16:creationId xmlns:a16="http://schemas.microsoft.com/office/drawing/2014/main" id="{CF5DC944-EFDA-4D02-BC8F-9E7B50A0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5052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中青年</a:t>
            </a:r>
          </a:p>
        </p:txBody>
      </p:sp>
      <p:sp>
        <p:nvSpPr>
          <p:cNvPr id="22" name="audience-arrow-adult-1">
            <a:extLst xmlns:a="http://schemas.openxmlformats.org/drawingml/2006/main">
              <a:ext uri="{FF2B5EF4-FFF2-40B4-BE49-F238E27FC236}">
                <a16:creationId xmlns:a16="http://schemas.microsoft.com/office/drawing/2014/main" id="{A63DDE5A-06D1-499C-9AE4-D573D023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433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A817"/>
                </a:solidFill>
              </a:defRPr>
            </a:pPr>
            <a:r>
              <a:rPr sz="31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23" name="audience-adult-person-1">
            <a:extLst xmlns:a="http://schemas.openxmlformats.org/drawingml/2006/main">
              <a:ext uri="{FF2B5EF4-FFF2-40B4-BE49-F238E27FC236}">
                <a16:creationId xmlns:a16="http://schemas.microsoft.com/office/drawing/2014/main" id="{9DFF0892-CF3C-46A0-BD94-955309EF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24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办公室白领</a:t>
            </a:r>
          </a:p>
        </p:txBody>
      </p:sp>
      <p:sp>
        <p:nvSpPr>
          <p:cNvPr id="24" name="audience-arrow-adult-1">
            <a:extLst xmlns:a="http://schemas.openxmlformats.org/drawingml/2006/main">
              <a:ext uri="{FF2B5EF4-FFF2-40B4-BE49-F238E27FC236}">
                <a16:creationId xmlns:a16="http://schemas.microsoft.com/office/drawing/2014/main" id="{8970F0C0-DB70-47E3-AAD8-28B3862F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3A817"/>
                </a:solidFill>
              </a:defRPr>
            </a:pPr>
            <a:r>
              <a:rPr sz="28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25" name="audience-adult-need-1">
            <a:extLst xmlns:a="http://schemas.openxmlformats.org/drawingml/2006/main">
              <a:ext uri="{FF2B5EF4-FFF2-40B4-BE49-F238E27FC236}">
                <a16:creationId xmlns:a16="http://schemas.microsoft.com/office/drawing/2014/main" id="{FA5FBA4D-4BBF-45F5-83A1-AF760992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7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777777"/>
                </a:solidFill>
              </a:rPr>
              <a:t>办公室空调干燥易咽痛</a:t>
            </a:r>
          </a:p>
        </p:txBody>
      </p:sp>
      <p:sp>
        <p:nvSpPr>
          <p:cNvPr id="26" name="audience-adult-person-2">
            <a:extLst xmlns:a="http://schemas.openxmlformats.org/drawingml/2006/main">
              <a:ext uri="{FF2B5EF4-FFF2-40B4-BE49-F238E27FC236}">
                <a16:creationId xmlns:a16="http://schemas.microsoft.com/office/drawing/2014/main" id="{B7A5E66B-29B5-4FF0-AC69-6FDB9B15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24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商旅人士</a:t>
            </a:r>
          </a:p>
        </p:txBody>
      </p:sp>
      <p:sp>
        <p:nvSpPr>
          <p:cNvPr id="27" name="audience-arrow-adult-2">
            <a:extLst xmlns:a="http://schemas.openxmlformats.org/drawingml/2006/main">
              <a:ext uri="{FF2B5EF4-FFF2-40B4-BE49-F238E27FC236}">
                <a16:creationId xmlns:a16="http://schemas.microsoft.com/office/drawing/2014/main" id="{B73230DC-CD47-4316-8FAC-F6689A1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3A817"/>
                </a:solidFill>
              </a:defRPr>
            </a:pPr>
            <a:r>
              <a:rPr sz="28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28" name="audience-adult-need-2">
            <a:extLst xmlns:a="http://schemas.openxmlformats.org/drawingml/2006/main">
              <a:ext uri="{FF2B5EF4-FFF2-40B4-BE49-F238E27FC236}">
                <a16:creationId xmlns:a16="http://schemas.microsoft.com/office/drawing/2014/main" id="{DC38810D-2315-4E2B-99AC-BC10C25C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575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7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777777"/>
                </a:solidFill>
              </a:rPr>
              <a:t>出差出行劳累抵抗力低</a:t>
            </a:r>
          </a:p>
        </p:txBody>
      </p:sp>
      <p:sp>
        <p:nvSpPr>
          <p:cNvPr id="29" name="audience-adult-person-3">
            <a:extLst xmlns:a="http://schemas.openxmlformats.org/drawingml/2006/main">
              <a:ext uri="{FF2B5EF4-FFF2-40B4-BE49-F238E27FC236}">
                <a16:creationId xmlns:a16="http://schemas.microsoft.com/office/drawing/2014/main" id="{D3AF0798-B998-4280-9FDB-AC530260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24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老师</a:t>
            </a:r>
          </a:p>
        </p:txBody>
      </p:sp>
      <p:sp>
        <p:nvSpPr>
          <p:cNvPr id="30" name="audience-arrow-adult-3">
            <a:extLst xmlns:a="http://schemas.openxmlformats.org/drawingml/2006/main">
              <a:ext uri="{FF2B5EF4-FFF2-40B4-BE49-F238E27FC236}">
                <a16:creationId xmlns:a16="http://schemas.microsoft.com/office/drawing/2014/main" id="{2C85832E-F4BA-4576-AA02-0CBA8FD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385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3A817"/>
                </a:solidFill>
              </a:defRPr>
            </a:pPr>
            <a:r>
              <a:rPr sz="28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31" name="audience-adult-need-3">
            <a:extLst xmlns:a="http://schemas.openxmlformats.org/drawingml/2006/main">
              <a:ext uri="{FF2B5EF4-FFF2-40B4-BE49-F238E27FC236}">
                <a16:creationId xmlns:a16="http://schemas.microsoft.com/office/drawing/2014/main" id="{5E26E6C9-E013-4AF0-A1DA-E44899B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671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7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777777"/>
                </a:solidFill>
              </a:rPr>
              <a:t>课堂授课易咽炎</a:t>
            </a:r>
          </a:p>
        </p:txBody>
      </p:sp>
      <p:sp>
        <p:nvSpPr>
          <p:cNvPr id="32" name="audience-adult-person-4">
            <a:extLst xmlns:a="http://schemas.openxmlformats.org/drawingml/2006/main">
              <a:ext uri="{FF2B5EF4-FFF2-40B4-BE49-F238E27FC236}">
                <a16:creationId xmlns:a16="http://schemas.microsoft.com/office/drawing/2014/main" id="{72D0D4D2-E919-4E4E-BA97-8B2642E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24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全职妈妈</a:t>
            </a:r>
          </a:p>
        </p:txBody>
      </p:sp>
      <p:sp>
        <p:nvSpPr>
          <p:cNvPr id="33" name="audience-arrow-adult-4">
            <a:extLst xmlns:a="http://schemas.openxmlformats.org/drawingml/2006/main">
              <a:ext uri="{FF2B5EF4-FFF2-40B4-BE49-F238E27FC236}">
                <a16:creationId xmlns:a16="http://schemas.microsoft.com/office/drawing/2014/main" id="{EFD370F9-DEFE-493D-833B-95CDB39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3A817"/>
                </a:solidFill>
              </a:defRPr>
            </a:pPr>
            <a:r>
              <a:rPr sz="28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34" name="audience-adult-need-4">
            <a:extLst xmlns:a="http://schemas.openxmlformats.org/drawingml/2006/main">
              <a:ext uri="{FF2B5EF4-FFF2-40B4-BE49-F238E27FC236}">
                <a16:creationId xmlns:a16="http://schemas.microsoft.com/office/drawing/2014/main" id="{08AF23A7-B919-45C9-8812-52B74C2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7672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7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777777"/>
                </a:solidFill>
              </a:rPr>
              <a:t>换季更新药箱</a:t>
            </a:r>
          </a:p>
        </p:txBody>
      </p:sp>
      <p:sp>
        <p:nvSpPr>
          <p:cNvPr id="35" name="audience-label-senior-surface">
            <a:extLst xmlns:a="http://schemas.openxmlformats.org/drawingml/2006/main">
              <a:ext uri="{FF2B5EF4-FFF2-40B4-BE49-F238E27FC236}">
                <a16:creationId xmlns:a16="http://schemas.microsoft.com/office/drawing/2014/main" id="{5D4FD6AE-7ABC-430C-AE1E-5C6414F8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38750"/>
            <a:ext cx="7239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udience-label-senior">
            <a:extLst xmlns:a="http://schemas.openxmlformats.org/drawingml/2006/main">
              <a:ext uri="{FF2B5EF4-FFF2-40B4-BE49-F238E27FC236}">
                <a16:creationId xmlns:a16="http://schemas.microsoft.com/office/drawing/2014/main" id="{0F1B2A16-2A00-4734-983A-F38F405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238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老年</a:t>
            </a:r>
          </a:p>
        </p:txBody>
      </p:sp>
      <p:sp>
        <p:nvSpPr>
          <p:cNvPr id="37" name="audience-arrow-senior-1">
            <a:extLst xmlns:a="http://schemas.openxmlformats.org/drawingml/2006/main">
              <a:ext uri="{FF2B5EF4-FFF2-40B4-BE49-F238E27FC236}">
                <a16:creationId xmlns:a16="http://schemas.microsoft.com/office/drawing/2014/main" id="{F162E37F-C24F-4527-A6DF-5433304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578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A817"/>
                </a:solidFill>
              </a:defRPr>
            </a:pPr>
            <a:r>
              <a:rPr sz="31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38" name="audience-senior-scene">
            <a:extLst xmlns:a="http://schemas.openxmlformats.org/drawingml/2006/main">
              <a:ext uri="{FF2B5EF4-FFF2-40B4-BE49-F238E27FC236}">
                <a16:creationId xmlns:a16="http://schemas.microsoft.com/office/drawing/2014/main" id="{CD2F9849-C643-48DC-AF67-92A71CE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00625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A24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秋冬呼吸</a:t>
            </a:r>
          </a:p>
          <a:p xmlns:a="http://schemas.openxmlformats.org/drawingml/2006/main">
            <a:pPr algn="ctr">
              <a:defRPr sz="1650" b="1">
                <a:solidFill>
                  <a:srgbClr val="1F2A24"/>
                </a:solidFill>
              </a:defRPr>
            </a:pP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疾病高发</a:t>
            </a:r>
          </a:p>
        </p:txBody>
      </p:sp>
      <p:sp>
        <p:nvSpPr>
          <p:cNvPr id="39" name="audience-arrow-senior-2">
            <a:extLst xmlns:a="http://schemas.openxmlformats.org/drawingml/2006/main">
              <a:ext uri="{FF2B5EF4-FFF2-40B4-BE49-F238E27FC236}">
                <a16:creationId xmlns:a16="http://schemas.microsoft.com/office/drawing/2014/main" id="{CD4B3E73-6280-42CB-9C23-6DC1DC22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578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3A817"/>
                </a:solidFill>
              </a:defRPr>
            </a:pPr>
            <a:r>
              <a:rPr sz="28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→</a:t>
            </a:r>
          </a:p>
        </p:txBody>
      </p:sp>
      <p:sp>
        <p:nvSpPr>
          <p:cNvPr id="40" name="audience-senior-need">
            <a:extLst xmlns:a="http://schemas.openxmlformats.org/drawingml/2006/main">
              <a:ext uri="{FF2B5EF4-FFF2-40B4-BE49-F238E27FC236}">
                <a16:creationId xmlns:a16="http://schemas.microsoft.com/office/drawing/2014/main" id="{3D1A31F2-2360-4B13-BD12-D96A15A4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00625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77777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777777"/>
                </a:solidFill>
              </a:rPr>
              <a:t>冬日晨起锻炼易感冒</a:t>
            </a:r>
          </a:p>
          <a:p xmlns:a="http://schemas.openxmlformats.org/drawingml/2006/main">
            <a:pPr algn="l">
              <a:defRPr sz="1575" b="1">
                <a:solidFill>
                  <a:srgbClr val="777777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777777"/>
                </a:solidFill>
              </a:rPr>
              <a:t>北方暖气干燥早备药</a:t>
            </a:r>
          </a:p>
        </p:txBody>
      </p:sp>
    </p:spTree>
    <p:extLst>
      <p:ext uri="{BB962C8B-B14F-4D97-AF65-F5344CB8AC3E}">
        <p14:creationId xmlns:p14="http://schemas.microsoft.com/office/powerpoint/2010/main" val="1909730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F1BEE5D9-4427-425B-9682-19989CC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152D430A-3DAB-428B-9AB1-AE07FBFB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3.2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E6B4C72C-186A-4D8B-8546-2F78A77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场景篇——什么时候推荐穿心莲内酯滴丸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E91588CA-0EF5-4981-8C04-DB297F47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822D99FB-41DB-4155-BF0F-0B37927E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145EC606-2960-494B-9507-5BEE42F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C36C8950-E589-4934-A68C-4D29A3AE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0CDBB9D6-4F0A-43A9-9599-A936D47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13 / 18</a:t>
            </a:r>
          </a:p>
        </p:txBody>
      </p:sp>
      <p:sp>
        <p:nvSpPr>
          <p:cNvPr id="9" name="consultation-thesis">
            <a:extLst xmlns:a="http://schemas.openxmlformats.org/drawingml/2006/main">
              <a:ext uri="{FF2B5EF4-FFF2-40B4-BE49-F238E27FC236}">
                <a16:creationId xmlns:a16="http://schemas.microsoft.com/office/drawing/2014/main" id="{0ABC65F4-DE46-4E41-9E74-1319A716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6A2F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实战销售话术：以“望闻问切”辨顾客，以专业方案做推荐</a:t>
            </a:r>
          </a:p>
        </p:txBody>
      </p:sp>
      <p:sp>
        <p:nvSpPr>
          <p:cNvPr id="10" name="consultation-rule">
            <a:extLst xmlns:a="http://schemas.openxmlformats.org/drawingml/2006/main">
              <a:ext uri="{FF2B5EF4-FFF2-40B4-BE49-F238E27FC236}">
                <a16:creationId xmlns:a16="http://schemas.microsoft.com/office/drawing/2014/main" id="{B147FCEB-5EF2-4D9F-AC2B-D9687D35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solidFill>
              <a:srgbClr val="009900"/>
            </a:solidFill>
            <a:prstDash val="solid"/>
          </a:ln>
        </p:spPr>
      </p:sp>
      <p:sp>
        <p:nvSpPr>
          <p:cNvPr id="11" name="consultation-1-surface">
            <a:extLst xmlns:a="http://schemas.openxmlformats.org/drawingml/2006/main">
              <a:ext uri="{FF2B5EF4-FFF2-40B4-BE49-F238E27FC236}">
                <a16:creationId xmlns:a16="http://schemas.microsoft.com/office/drawing/2014/main" id="{D0492374-6B96-4995-83B7-545F3589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76500" cy="3048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2" name="consultation-1-accent">
            <a:extLst xmlns:a="http://schemas.openxmlformats.org/drawingml/2006/main">
              <a:ext uri="{FF2B5EF4-FFF2-40B4-BE49-F238E27FC236}">
                <a16:creationId xmlns:a16="http://schemas.microsoft.com/office/drawing/2014/main" id="{30FFC9D1-830A-41D0-9826-DC208CC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sultation-1-title">
            <a:extLst xmlns:a="http://schemas.openxmlformats.org/drawingml/2006/main">
              <a:ext uri="{FF2B5EF4-FFF2-40B4-BE49-F238E27FC236}">
                <a16:creationId xmlns:a16="http://schemas.microsoft.com/office/drawing/2014/main" id="{15D0FEE0-AEA2-46DC-9CF6-35B01FE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望 · 观气色辨需求</a:t>
            </a:r>
          </a:p>
        </p:txBody>
      </p:sp>
      <p:sp>
        <p:nvSpPr>
          <p:cNvPr id="14" name="consultation-1-divider">
            <a:extLst xmlns:a="http://schemas.openxmlformats.org/drawingml/2006/main">
              <a:ext uri="{FF2B5EF4-FFF2-40B4-BE49-F238E27FC236}">
                <a16:creationId xmlns:a16="http://schemas.microsoft.com/office/drawing/2014/main" id="{9AF37DA9-EE78-4441-96A9-A535C02D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5" name="consultation-1-body">
            <a:extLst xmlns:a="http://schemas.openxmlformats.org/drawingml/2006/main">
              <a:ext uri="{FF2B5EF4-FFF2-40B4-BE49-F238E27FC236}">
                <a16:creationId xmlns:a16="http://schemas.microsoft.com/office/drawing/2014/main" id="{FDDC41F1-646D-4CC4-BA06-D57C2B56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0574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3A"/>
                </a:solidFill>
              </a:defRPr>
            </a:pPr>
            <a:r>
              <a:rPr sz="15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观察顾客神态、面色与精神状态，初步判断体质倾向，找准沟通切入点，建立专业第一印象。</a:t>
            </a:r>
          </a:p>
        </p:txBody>
      </p:sp>
      <p:sp>
        <p:nvSpPr>
          <p:cNvPr id="16" name="consultation-2-surface">
            <a:extLst xmlns:a="http://schemas.openxmlformats.org/drawingml/2006/main">
              <a:ext uri="{FF2B5EF4-FFF2-40B4-BE49-F238E27FC236}">
                <a16:creationId xmlns:a16="http://schemas.microsoft.com/office/drawing/2014/main" id="{839DC52F-BE44-4B54-82DB-512A33E7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476500" cy="3048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7" name="consultation-2-accent">
            <a:extLst xmlns:a="http://schemas.openxmlformats.org/drawingml/2006/main">
              <a:ext uri="{FF2B5EF4-FFF2-40B4-BE49-F238E27FC236}">
                <a16:creationId xmlns:a16="http://schemas.microsoft.com/office/drawing/2014/main" id="{048939CC-7DF7-4280-8508-1F4A374D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6697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sultation-2-title">
            <a:extLst xmlns:a="http://schemas.openxmlformats.org/drawingml/2006/main">
              <a:ext uri="{FF2B5EF4-FFF2-40B4-BE49-F238E27FC236}">
                <a16:creationId xmlns:a16="http://schemas.microsoft.com/office/drawing/2014/main" id="{EBA7DB20-7668-40DE-8D89-E421346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47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闻 · 听诉求知痛点</a:t>
            </a:r>
          </a:p>
        </p:txBody>
      </p:sp>
      <p:sp>
        <p:nvSpPr>
          <p:cNvPr id="19" name="consultation-2-divider">
            <a:extLst xmlns:a="http://schemas.openxmlformats.org/drawingml/2006/main">
              <a:ext uri="{FF2B5EF4-FFF2-40B4-BE49-F238E27FC236}">
                <a16:creationId xmlns:a16="http://schemas.microsoft.com/office/drawing/2014/main" id="{D9093C32-22EE-4456-B0B8-92046D7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86075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0" name="consultation-2-body">
            <a:extLst xmlns:a="http://schemas.openxmlformats.org/drawingml/2006/main">
              <a:ext uri="{FF2B5EF4-FFF2-40B4-BE49-F238E27FC236}">
                <a16:creationId xmlns:a16="http://schemas.microsoft.com/office/drawing/2014/main" id="{5E5C9194-50D9-46F4-8BAB-A31C7BF6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0375"/>
            <a:ext cx="20574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3A"/>
                </a:solidFill>
              </a:defRPr>
            </a:pPr>
            <a:r>
              <a:rPr sz="15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耐心倾听顾客描述身体不适与核心诉求，从话语中捕捉深层痛点，为后续辨证推荐提供依据。</a:t>
            </a:r>
          </a:p>
        </p:txBody>
      </p:sp>
      <p:sp>
        <p:nvSpPr>
          <p:cNvPr id="21" name="consultation-3-surface">
            <a:extLst xmlns:a="http://schemas.openxmlformats.org/drawingml/2006/main">
              <a:ext uri="{FF2B5EF4-FFF2-40B4-BE49-F238E27FC236}">
                <a16:creationId xmlns:a16="http://schemas.microsoft.com/office/drawing/2014/main" id="{AC41EB8E-7239-4A23-BA14-CE0837AC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476500" cy="3048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2" name="consultation-3-accent">
            <a:extLst xmlns:a="http://schemas.openxmlformats.org/drawingml/2006/main">
              <a:ext uri="{FF2B5EF4-FFF2-40B4-BE49-F238E27FC236}">
                <a16:creationId xmlns:a16="http://schemas.microsoft.com/office/drawing/2014/main" id="{39C3A92E-1424-4304-B8AD-A1871C84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6697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nsultation-3-title">
            <a:extLst xmlns:a="http://schemas.openxmlformats.org/drawingml/2006/main">
              <a:ext uri="{FF2B5EF4-FFF2-40B4-BE49-F238E27FC236}">
                <a16:creationId xmlns:a16="http://schemas.microsoft.com/office/drawing/2014/main" id="{3EF2FB09-B157-4468-BAC3-DBA6FD2A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问 · 询细节定方案</a:t>
            </a:r>
          </a:p>
        </p:txBody>
      </p:sp>
      <p:sp>
        <p:nvSpPr>
          <p:cNvPr id="24" name="consultation-3-divider">
            <a:extLst xmlns:a="http://schemas.openxmlformats.org/drawingml/2006/main">
              <a:ext uri="{FF2B5EF4-FFF2-40B4-BE49-F238E27FC236}">
                <a16:creationId xmlns:a16="http://schemas.microsoft.com/office/drawing/2014/main" id="{29962DD1-9C35-421E-BD64-96854605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86075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5" name="consultation-3-body">
            <a:extLst xmlns:a="http://schemas.openxmlformats.org/drawingml/2006/main">
              <a:ext uri="{FF2B5EF4-FFF2-40B4-BE49-F238E27FC236}">
                <a16:creationId xmlns:a16="http://schemas.microsoft.com/office/drawing/2014/main" id="{2EC2FDF3-CE2E-41E7-9919-BE31EAC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20574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3A"/>
                </a:solidFill>
              </a:defRPr>
            </a:pPr>
            <a:r>
              <a:rPr sz="15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针对性询问饮食、作息、既往病史等细节，层层递进厘清“证型”，让方案更科学。</a:t>
            </a:r>
          </a:p>
        </p:txBody>
      </p:sp>
      <p:sp>
        <p:nvSpPr>
          <p:cNvPr id="26" name="consultation-4-surface">
            <a:extLst xmlns:a="http://schemas.openxmlformats.org/drawingml/2006/main">
              <a:ext uri="{FF2B5EF4-FFF2-40B4-BE49-F238E27FC236}">
                <a16:creationId xmlns:a16="http://schemas.microsoft.com/office/drawing/2014/main" id="{C21AFD9B-763D-4726-A9FB-25563313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76500" cy="3048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7" name="consultation-4-accent">
            <a:extLst xmlns:a="http://schemas.openxmlformats.org/drawingml/2006/main">
              <a:ext uri="{FF2B5EF4-FFF2-40B4-BE49-F238E27FC236}">
                <a16:creationId xmlns:a16="http://schemas.microsoft.com/office/drawing/2014/main" id="{C3837A98-D64D-4853-AF7D-557C240C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sultation-4-title">
            <a:extLst xmlns:a="http://schemas.openxmlformats.org/drawingml/2006/main">
              <a:ext uri="{FF2B5EF4-FFF2-40B4-BE49-F238E27FC236}">
                <a16:creationId xmlns:a16="http://schemas.microsoft.com/office/drawing/2014/main" id="{01C6D774-F027-4BAF-A361-E734A5B4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47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413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切 · 据关键做推荐</a:t>
            </a:r>
          </a:p>
        </p:txBody>
      </p:sp>
      <p:sp>
        <p:nvSpPr>
          <p:cNvPr id="29" name="consultation-4-divider">
            <a:extLst xmlns:a="http://schemas.openxmlformats.org/drawingml/2006/main">
              <a:ext uri="{FF2B5EF4-FFF2-40B4-BE49-F238E27FC236}">
                <a16:creationId xmlns:a16="http://schemas.microsoft.com/office/drawing/2014/main" id="{E83ED297-3507-4BEA-B5FD-81DC1387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86075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30" name="consultation-4-body">
            <a:extLst xmlns:a="http://schemas.openxmlformats.org/drawingml/2006/main">
              <a:ext uri="{FF2B5EF4-FFF2-40B4-BE49-F238E27FC236}">
                <a16:creationId xmlns:a16="http://schemas.microsoft.com/office/drawing/2014/main" id="{A8AC0EC7-D635-466F-BA66-6A6269A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0574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3A"/>
                </a:solidFill>
              </a:defRPr>
            </a:pPr>
            <a:r>
              <a:rPr sz="15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结合辨证结果，紧扣顾客核心需求，精准匹配产品与服务，用专业术语解读益处。</a:t>
            </a:r>
          </a:p>
        </p:txBody>
      </p:sp>
    </p:spTree>
    <p:extLst>
      <p:ext uri="{BB962C8B-B14F-4D97-AF65-F5344CB8AC3E}">
        <p14:creationId xmlns:p14="http://schemas.microsoft.com/office/powerpoint/2010/main" val="2003407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0D277EA1-6197-491B-A79F-4909F8F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68EE9B72-72FB-4240-8EB0-CE77DF0A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3.3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7FC20C8F-650C-44A5-A394-8A054DE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场景篇——什么时候推荐穿心莲内酯滴丸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7B8C9354-D288-42A8-A05F-79F1D01E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C0DE4055-30B4-4F1B-99A8-36B8A21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FA7016F4-C382-4880-9DA4-986C48CC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3FEF6540-E997-4EC1-92B4-4BB2710E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C5EF189D-6585-427E-807D-B6D684A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14 / 18</a:t>
            </a:r>
          </a:p>
        </p:txBody>
      </p:sp>
      <p:sp>
        <p:nvSpPr>
          <p:cNvPr id="9" name="scenario1-title">
            <a:extLst xmlns:a="http://schemas.openxmlformats.org/drawingml/2006/main">
              <a:ext uri="{FF2B5EF4-FFF2-40B4-BE49-F238E27FC236}">
                <a16:creationId xmlns:a16="http://schemas.microsoft.com/office/drawing/2014/main" id="{65719E86-669C-49B9-9DFB-026161B3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6A2F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场景1：顾客主诉“喉咙痛”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5a9b4422c4fe4"/>
          <a:stretch xmlns:a="http://schemas.openxmlformats.org/drawingml/2006/main"/>
        </p:blipFill>
        <p:spPr>
          <a:xfrm xmlns:a="http://schemas.openxmlformats.org/drawingml/2006/main">
            <a:off x="762000" y="1752246"/>
            <a:ext cx="3143250" cy="3067757"/>
          </a:xfrm>
          <a:prstGeom xmlns:a="http://schemas.openxmlformats.org/drawingml/2006/main" prst="rect">
            <a:avLst/>
          </a:prstGeom>
        </p:spPr>
      </p:pic>
      <p:sp>
        <p:nvSpPr>
          <p:cNvPr id="11" name="scenario1-communication-surface">
            <a:extLst xmlns:a="http://schemas.openxmlformats.org/drawingml/2006/main">
              <a:ext uri="{FF2B5EF4-FFF2-40B4-BE49-F238E27FC236}">
                <a16:creationId xmlns:a16="http://schemas.microsoft.com/office/drawing/2014/main" id="{6CF7C1AD-C59C-453F-9C43-7499D19F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2" name="scenario1-communication-accent">
            <a:extLst xmlns:a="http://schemas.openxmlformats.org/drawingml/2006/main">
              <a:ext uri="{FF2B5EF4-FFF2-40B4-BE49-F238E27FC236}">
                <a16:creationId xmlns:a16="http://schemas.microsoft.com/office/drawing/2014/main" id="{30D33EC0-004B-4C06-91AA-6D85B79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02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1-communication-title">
            <a:extLst xmlns:a="http://schemas.openxmlformats.org/drawingml/2006/main">
              <a:ext uri="{FF2B5EF4-FFF2-40B4-BE49-F238E27FC236}">
                <a16:creationId xmlns:a16="http://schemas.microsoft.com/office/drawing/2014/main" id="{F4E893D5-62ED-4487-B195-F029D60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81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辨证沟通</a:t>
            </a:r>
          </a:p>
        </p:txBody>
      </p:sp>
      <p:sp>
        <p:nvSpPr>
          <p:cNvPr id="14" name="scenario1-communication-divider">
            <a:extLst xmlns:a="http://schemas.openxmlformats.org/drawingml/2006/main">
              <a:ext uri="{FF2B5EF4-FFF2-40B4-BE49-F238E27FC236}">
                <a16:creationId xmlns:a16="http://schemas.microsoft.com/office/drawing/2014/main" id="{033C0315-E014-4787-BF08-2D2E500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19325"/>
            <a:ext cx="177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5" name="scenario1-communication-body">
            <a:extLst xmlns:a="http://schemas.openxmlformats.org/drawingml/2006/main">
              <a:ext uri="{FF2B5EF4-FFF2-40B4-BE49-F238E27FC236}">
                <a16:creationId xmlns:a16="http://schemas.microsoft.com/office/drawing/2014/main" id="{D0A7AE6B-9C48-427A-9CA9-D4EC5216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33625"/>
            <a:ext cx="17716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通过关键提问“是否觉得身上热”，快速判断顾客属于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风热型咽喉肿痛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而非风寒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。这是精准推荐用药的第一步。</a:t>
            </a:r>
          </a:p>
        </p:txBody>
      </p:sp>
      <p:sp>
        <p:nvSpPr>
          <p:cNvPr id="16" name="scenario1-product-surface">
            <a:extLst xmlns:a="http://schemas.openxmlformats.org/drawingml/2006/main">
              <a:ext uri="{FF2B5EF4-FFF2-40B4-BE49-F238E27FC236}">
                <a16:creationId xmlns:a16="http://schemas.microsoft.com/office/drawing/2014/main" id="{26ABF123-C503-40EC-BA80-FC6A251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7" name="scenario1-product-accent">
            <a:extLst xmlns:a="http://schemas.openxmlformats.org/drawingml/2006/main">
              <a:ext uri="{FF2B5EF4-FFF2-40B4-BE49-F238E27FC236}">
                <a16:creationId xmlns:a16="http://schemas.microsoft.com/office/drawing/2014/main" id="{F3A6FF7C-4CFF-4CE8-8410-C40CDB38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02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1-product-title">
            <a:extLst xmlns:a="http://schemas.openxmlformats.org/drawingml/2006/main">
              <a:ext uri="{FF2B5EF4-FFF2-40B4-BE49-F238E27FC236}">
                <a16:creationId xmlns:a16="http://schemas.microsoft.com/office/drawing/2014/main" id="{DD82C588-8F02-43C7-9BF6-15191859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81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核心用药</a:t>
            </a:r>
          </a:p>
        </p:txBody>
      </p:sp>
      <p:sp>
        <p:nvSpPr>
          <p:cNvPr id="19" name="scenario1-product-divider">
            <a:extLst xmlns:a="http://schemas.openxmlformats.org/drawingml/2006/main">
              <a:ext uri="{FF2B5EF4-FFF2-40B4-BE49-F238E27FC236}">
                <a16:creationId xmlns:a16="http://schemas.microsoft.com/office/drawing/2014/main" id="{E79587D4-43E6-469D-B508-00F7DA8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19325"/>
            <a:ext cx="177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0" name="scenario1-product-body">
            <a:extLst xmlns:a="http://schemas.openxmlformats.org/drawingml/2006/main">
              <a:ext uri="{FF2B5EF4-FFF2-40B4-BE49-F238E27FC236}">
                <a16:creationId xmlns:a16="http://schemas.microsoft.com/office/drawing/2014/main" id="{2A3BAA85-368B-408A-A590-D23156BA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33625"/>
            <a:ext cx="17716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主推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穿心莲内酯滴丸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，其核心成分穿心莲内酯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清热解毒、抗菌消炎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。重点强调滴丸剂型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吸收快、见效迅速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</a:t>
            </a:r>
          </a:p>
        </p:txBody>
      </p:sp>
      <p:sp>
        <p:nvSpPr>
          <p:cNvPr id="21" name="scenario1-service-surface">
            <a:extLst xmlns:a="http://schemas.openxmlformats.org/drawingml/2006/main">
              <a:ext uri="{FF2B5EF4-FFF2-40B4-BE49-F238E27FC236}">
                <a16:creationId xmlns:a16="http://schemas.microsoft.com/office/drawing/2014/main" id="{0BC61A6C-D2A6-4B4C-B3F3-DF107313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2" name="scenario1-service-accent">
            <a:extLst xmlns:a="http://schemas.openxmlformats.org/drawingml/2006/main">
              <a:ext uri="{FF2B5EF4-FFF2-40B4-BE49-F238E27FC236}">
                <a16:creationId xmlns:a16="http://schemas.microsoft.com/office/drawing/2014/main" id="{E9C7D539-0881-4C5C-9988-455D22FC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002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1-service-title">
            <a:extLst xmlns:a="http://schemas.openxmlformats.org/drawingml/2006/main">
              <a:ext uri="{FF2B5EF4-FFF2-40B4-BE49-F238E27FC236}">
                <a16:creationId xmlns:a16="http://schemas.microsoft.com/office/drawing/2014/main" id="{D81A58EF-D502-4B1B-9531-A541D234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781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关联服务</a:t>
            </a:r>
          </a:p>
        </p:txBody>
      </p:sp>
      <p:sp>
        <p:nvSpPr>
          <p:cNvPr id="24" name="scenario1-service-divider">
            <a:extLst xmlns:a="http://schemas.openxmlformats.org/drawingml/2006/main">
              <a:ext uri="{FF2B5EF4-FFF2-40B4-BE49-F238E27FC236}">
                <a16:creationId xmlns:a16="http://schemas.microsoft.com/office/drawing/2014/main" id="{4F5F2485-0271-455A-A586-8BD82CF7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19325"/>
            <a:ext cx="177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5" name="scenario1-service-body">
            <a:extLst xmlns:a="http://schemas.openxmlformats.org/drawingml/2006/main">
              <a:ext uri="{FF2B5EF4-FFF2-40B4-BE49-F238E27FC236}">
                <a16:creationId xmlns:a16="http://schemas.microsoft.com/office/drawing/2014/main" id="{94701C51-FF19-4DBF-8C47-4CA7E2C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33625"/>
            <a:ext cx="17716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3A"/>
                </a:solidFill>
              </a:defRPr>
            </a:pP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关联推荐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熊胆薄荷含片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</a:t>
            </a:r>
            <a:r>
              <a:rPr sz="16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内服＋外用</a:t>
            </a:r>
            <a:r>
              <a:rPr sz="16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双管齐下。同时给予多饮温水、忌辛辣刺激等饮食建议。</a:t>
            </a:r>
          </a:p>
        </p:txBody>
      </p:sp>
      <p:sp>
        <p:nvSpPr>
          <p:cNvPr id="26" name="scenario1-summary-surface">
            <a:extLst xmlns:a="http://schemas.openxmlformats.org/drawingml/2006/main">
              <a:ext uri="{FF2B5EF4-FFF2-40B4-BE49-F238E27FC236}">
                <a16:creationId xmlns:a16="http://schemas.microsoft.com/office/drawing/2014/main" id="{4F0FEA3C-66E0-4FFB-AE9E-1A405CD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86375"/>
            <a:ext cx="70485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1-summary">
            <a:extLst xmlns:a="http://schemas.openxmlformats.org/drawingml/2006/main">
              <a:ext uri="{FF2B5EF4-FFF2-40B4-BE49-F238E27FC236}">
                <a16:creationId xmlns:a16="http://schemas.microsoft.com/office/drawing/2014/main" id="{C383DE9B-5E55-4284-843A-266C314D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86375"/>
            <a:ext cx="678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413A"/>
                </a:solidFill>
              </a:defRPr>
            </a:pP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服务要点：辨证精准是前提，剂型优势是卖点，关联用药是增值，健康叮嘱是保障。</a:t>
            </a:r>
          </a:p>
        </p:txBody>
      </p:sp>
    </p:spTree>
    <p:extLst>
      <p:ext uri="{BB962C8B-B14F-4D97-AF65-F5344CB8AC3E}">
        <p14:creationId xmlns:p14="http://schemas.microsoft.com/office/powerpoint/2010/main" val="16542668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AB9D3F72-07D2-4BBC-917C-400E251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C48D3979-000F-4C90-82FA-6BF27BE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3.4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71451A43-3BE3-4504-AE9D-D9086F5A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场景篇——什么时候推荐穿心莲内酯滴丸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680B083E-92D6-45BD-BAD4-2448FE3C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7F038CEB-7EEB-41CC-BCEA-445463A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A2ED6101-1949-4614-A747-73CD8F04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F91D2DBF-F827-4B3E-A087-7AF25CB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E9BC3976-5D45-4DC9-AE7C-7F28451C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15 / 18</a:t>
            </a:r>
          </a:p>
        </p:txBody>
      </p:sp>
      <p:sp>
        <p:nvSpPr>
          <p:cNvPr id="9" name="scenario2-title">
            <a:extLst xmlns:a="http://schemas.openxmlformats.org/drawingml/2006/main">
              <a:ext uri="{FF2B5EF4-FFF2-40B4-BE49-F238E27FC236}">
                <a16:creationId xmlns:a16="http://schemas.microsoft.com/office/drawing/2014/main" id="{DED98C48-18E2-48BA-9BE3-14E9BC8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6A2F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场景2：顾客主诉“感冒了，发烧，有黄痰”</a:t>
            </a:r>
          </a:p>
        </p:txBody>
      </p:sp>
      <p:sp>
        <p:nvSpPr>
          <p:cNvPr id="10" name="scenario2-diagnosis-surface">
            <a:extLst xmlns:a="http://schemas.openxmlformats.org/drawingml/2006/main">
              <a:ext uri="{FF2B5EF4-FFF2-40B4-BE49-F238E27FC236}">
                <a16:creationId xmlns:a16="http://schemas.microsoft.com/office/drawing/2014/main" id="{F391974A-92C0-4434-8B16-3DE0A05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1" name="scenario2-diagnosis-accent">
            <a:extLst xmlns:a="http://schemas.openxmlformats.org/drawingml/2006/main">
              <a:ext uri="{FF2B5EF4-FFF2-40B4-BE49-F238E27FC236}">
                <a16:creationId xmlns:a16="http://schemas.microsoft.com/office/drawing/2014/main" id="{C9C35F15-D52E-4F8E-8D70-3C2015E2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2-diagnosis-title">
            <a:extLst xmlns:a="http://schemas.openxmlformats.org/drawingml/2006/main">
              <a:ext uri="{FF2B5EF4-FFF2-40B4-BE49-F238E27FC236}">
                <a16:creationId xmlns:a16="http://schemas.microsoft.com/office/drawing/2014/main" id="{6089D072-DFD9-445D-B5FF-083FAB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01 症状辨析</a:t>
            </a:r>
          </a:p>
        </p:txBody>
      </p:sp>
      <p:sp>
        <p:nvSpPr>
          <p:cNvPr id="13" name="scenario2-diagnosis-divider">
            <a:extLst xmlns:a="http://schemas.openxmlformats.org/drawingml/2006/main">
              <a:ext uri="{FF2B5EF4-FFF2-40B4-BE49-F238E27FC236}">
                <a16:creationId xmlns:a16="http://schemas.microsoft.com/office/drawing/2014/main" id="{FC840F27-8E28-4EB8-9B3C-9A2DE41E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4" name="scenario2-diagnosis-body">
            <a:extLst xmlns:a="http://schemas.openxmlformats.org/drawingml/2006/main">
              <a:ext uri="{FF2B5EF4-FFF2-40B4-BE49-F238E27FC236}">
                <a16:creationId xmlns:a16="http://schemas.microsoft.com/office/drawing/2014/main" id="{707413D7-73EF-44C9-8F59-2187850A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8194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顾客表现为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发烧38℃以上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、自觉身热不恶寒、咳嗽伴黄痰。这是典型的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风热感冒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症状，核心病机为风热之邪犯表，肺气失和，体内有热毒积聚。</a:t>
            </a:r>
          </a:p>
        </p:txBody>
      </p:sp>
      <p:sp>
        <p:nvSpPr>
          <p:cNvPr id="15" name="scenario2-core-surface">
            <a:extLst xmlns:a="http://schemas.openxmlformats.org/drawingml/2006/main">
              <a:ext uri="{FF2B5EF4-FFF2-40B4-BE49-F238E27FC236}">
                <a16:creationId xmlns:a16="http://schemas.microsoft.com/office/drawing/2014/main" id="{8743309B-233D-4FD0-A114-DD54600E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6" name="scenario2-core-accent">
            <a:extLst xmlns:a="http://schemas.openxmlformats.org/drawingml/2006/main">
              <a:ext uri="{FF2B5EF4-FFF2-40B4-BE49-F238E27FC236}">
                <a16:creationId xmlns:a16="http://schemas.microsoft.com/office/drawing/2014/main" id="{2CB5A5AC-FD61-4B3B-BDD6-86072920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2-core-title">
            <a:extLst xmlns:a="http://schemas.openxmlformats.org/drawingml/2006/main">
              <a:ext uri="{FF2B5EF4-FFF2-40B4-BE49-F238E27FC236}">
                <a16:creationId xmlns:a16="http://schemas.microsoft.com/office/drawing/2014/main" id="{0EFAF8E2-0F09-454C-8204-4C1680D9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33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02 核心推荐方案</a:t>
            </a:r>
          </a:p>
        </p:txBody>
      </p:sp>
      <p:sp>
        <p:nvSpPr>
          <p:cNvPr id="18" name="scenario2-core-divider">
            <a:extLst xmlns:a="http://schemas.openxmlformats.org/drawingml/2006/main">
              <a:ext uri="{FF2B5EF4-FFF2-40B4-BE49-F238E27FC236}">
                <a16:creationId xmlns:a16="http://schemas.microsoft.com/office/drawing/2014/main" id="{42CBC1EA-5F96-4D17-9C6A-70D48812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9" name="scenario2-core-body">
            <a:extLst xmlns:a="http://schemas.openxmlformats.org/drawingml/2006/main">
              <a:ext uri="{FF2B5EF4-FFF2-40B4-BE49-F238E27FC236}">
                <a16:creationId xmlns:a16="http://schemas.microsoft.com/office/drawing/2014/main" id="{5112AD07-EFAA-4ED0-B645-D09B15B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8194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推荐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穿心莲内酯滴丸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。它能直接清除体内热毒，从根源上解决发热、咽痛、咳黄痰等风热感冒症状；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药力集中、起效快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</a:t>
            </a:r>
          </a:p>
        </p:txBody>
      </p:sp>
      <p:sp>
        <p:nvSpPr>
          <p:cNvPr id="20" name="scenario2-combo-surface">
            <a:extLst xmlns:a="http://schemas.openxmlformats.org/drawingml/2006/main">
              <a:ext uri="{FF2B5EF4-FFF2-40B4-BE49-F238E27FC236}">
                <a16:creationId xmlns:a16="http://schemas.microsoft.com/office/drawing/2014/main" id="{13BB9B8B-9896-4175-9C4B-B03DE310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1" name="scenario2-combo-accent">
            <a:extLst xmlns:a="http://schemas.openxmlformats.org/drawingml/2006/main">
              <a:ext uri="{FF2B5EF4-FFF2-40B4-BE49-F238E27FC236}">
                <a16:creationId xmlns:a16="http://schemas.microsoft.com/office/drawing/2014/main" id="{8E0D7C17-DF7B-4AB3-9EC6-7AB31B36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2-combo-title">
            <a:extLst xmlns:a="http://schemas.openxmlformats.org/drawingml/2006/main">
              <a:ext uri="{FF2B5EF4-FFF2-40B4-BE49-F238E27FC236}">
                <a16:creationId xmlns:a16="http://schemas.microsoft.com/office/drawing/2014/main" id="{FB52ABE1-EFE7-4855-9A5D-9DDB8792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33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03 联合用药解惑</a:t>
            </a:r>
          </a:p>
        </p:txBody>
      </p:sp>
      <p:sp>
        <p:nvSpPr>
          <p:cNvPr id="23" name="scenario2-combo-divider">
            <a:extLst xmlns:a="http://schemas.openxmlformats.org/drawingml/2006/main">
              <a:ext uri="{FF2B5EF4-FFF2-40B4-BE49-F238E27FC236}">
                <a16:creationId xmlns:a16="http://schemas.microsoft.com/office/drawing/2014/main" id="{13F21B13-DFD2-4CB9-A1CD-7B5EAA0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4" name="scenario2-combo-body">
            <a:extLst xmlns:a="http://schemas.openxmlformats.org/drawingml/2006/main">
              <a:ext uri="{FF2B5EF4-FFF2-40B4-BE49-F238E27FC236}">
                <a16:creationId xmlns:a16="http://schemas.microsoft.com/office/drawing/2014/main" id="{22F75C36-F010-411F-B1D0-B9C4978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8194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3A"/>
                </a:solidFill>
              </a:defRPr>
            </a:pP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若顾客家中有复方氨酚烷胺片，可说明：西药缓解咳嗽、流涕等症状是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8A00"/>
                </a:solidFill>
              </a:rPr>
              <a:t>“治标”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；穿心莲清除热毒是</a:t>
            </a: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09900"/>
                </a:solidFill>
              </a:rPr>
              <a:t>“治本”</a:t>
            </a:r>
            <a:r>
              <a:rPr sz="17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，二者联用。</a:t>
            </a:r>
          </a:p>
        </p:txBody>
      </p:sp>
      <p:sp>
        <p:nvSpPr>
          <p:cNvPr id="25" name="scenario2-talktrack-surface">
            <a:extLst xmlns:a="http://schemas.openxmlformats.org/drawingml/2006/main">
              <a:ext uri="{FF2B5EF4-FFF2-40B4-BE49-F238E27FC236}">
                <a16:creationId xmlns:a16="http://schemas.microsoft.com/office/drawing/2014/main" id="{1A90CBAC-5E57-4EA0-962F-35B19F1A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2-talktrack">
            <a:extLst xmlns:a="http://schemas.openxmlformats.org/drawingml/2006/main">
              <a:ext uri="{FF2B5EF4-FFF2-40B4-BE49-F238E27FC236}">
                <a16:creationId xmlns:a16="http://schemas.microsoft.com/office/drawing/2014/main" id="{B0008E20-07C3-4F5F-894B-D971C668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040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关键话术：“您这是风热感冒，穿心莲内酯滴丸清除热毒是治本，复方氨酚烷胺片缓解症状是治标，一个治标一个治本，一起用效果更好。”</a:t>
            </a:r>
          </a:p>
        </p:txBody>
      </p:sp>
    </p:spTree>
    <p:extLst>
      <p:ext uri="{BB962C8B-B14F-4D97-AF65-F5344CB8AC3E}">
        <p14:creationId xmlns:p14="http://schemas.microsoft.com/office/powerpoint/2010/main" val="1771641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404283EC-B7FB-4902-B06C-2EBDEDDE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64727066-57E3-4689-8D4D-0246B44B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4.1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AC8C296F-1A88-488B-86BE-C2F919D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关怀篇——日常生活叮嘱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A3FF53AB-2920-4345-87DD-C1F20E2D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483B54A0-8652-408B-88D0-DD43B5B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846EE840-D512-4E19-9671-E3520170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04F15E30-220B-447A-BE68-4F27E667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4AD391A1-1A58-4877-9AC1-804C9E5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16 / 18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e436059374863"/>
          <a:stretch xmlns:a="http://schemas.openxmlformats.org/drawingml/2006/main"/>
        </p:blipFill>
        <p:spPr>
          <a:xfrm xmlns:a="http://schemas.openxmlformats.org/drawingml/2006/main">
            <a:off x="666750" y="1323947"/>
            <a:ext cx="2333625" cy="1638356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9825632d24b5c"/>
          <a:stretch xmlns:a="http://schemas.openxmlformats.org/drawingml/2006/main"/>
        </p:blipFill>
        <p:spPr>
          <a:xfrm xmlns:a="http://schemas.openxmlformats.org/drawingml/2006/main">
            <a:off x="3190875" y="1241497"/>
            <a:ext cx="2333625" cy="1803256"/>
          </a:xfrm>
          <a:prstGeom xmlns:a="http://schemas.openxmlformats.org/drawingml/2006/main" prst="rect">
            <a:avLst/>
          </a:prstGeom>
        </p:spPr>
      </p:pic>
      <p:sp>
        <p:nvSpPr>
          <p:cNvPr id="11" name="care-food-good-surface">
            <a:extLst xmlns:a="http://schemas.openxmlformats.org/drawingml/2006/main">
              <a:ext uri="{FF2B5EF4-FFF2-40B4-BE49-F238E27FC236}">
                <a16:creationId xmlns:a16="http://schemas.microsoft.com/office/drawing/2014/main" id="{B33FC04E-C78D-42A0-B62F-5C59CAFF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333625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CF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re-food-good">
            <a:extLst xmlns:a="http://schemas.openxmlformats.org/drawingml/2006/main">
              <a:ext uri="{FF2B5EF4-FFF2-40B4-BE49-F238E27FC236}">
                <a16:creationId xmlns:a16="http://schemas.microsoft.com/office/drawing/2014/main" id="{AE573D5F-05FF-4B45-AE52-73521829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0669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3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✓ 饮食之宜 · 清热生津</a:t>
            </a:r>
          </a:p>
          <a:p xmlns:a="http://schemas.openxmlformats.org/drawingml/2006/main">
            <a:pPr algn="l">
              <a:defRPr sz="1275" b="0">
                <a:solidFill>
                  <a:srgbClr val="33413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日常多喝水，可饮菊花茶、绿豆汤，适当食用梨、西瓜、苦瓜等寒凉性蔬果。</a:t>
            </a:r>
          </a:p>
        </p:txBody>
      </p:sp>
      <p:sp>
        <p:nvSpPr>
          <p:cNvPr id="13" name="care-food-bad-surface">
            <a:extLst xmlns:a="http://schemas.openxmlformats.org/drawingml/2006/main">
              <a:ext uri="{FF2B5EF4-FFF2-40B4-BE49-F238E27FC236}">
                <a16:creationId xmlns:a16="http://schemas.microsoft.com/office/drawing/2014/main" id="{4CAFA47F-80A7-4145-B2D1-317BE86B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33750"/>
            <a:ext cx="2333625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e-food-bad">
            <a:extLst xmlns:a="http://schemas.openxmlformats.org/drawingml/2006/main">
              <a:ext uri="{FF2B5EF4-FFF2-40B4-BE49-F238E27FC236}">
                <a16:creationId xmlns:a16="http://schemas.microsoft.com/office/drawing/2014/main" id="{3DB5B596-2B66-456D-BA2D-D82F0D49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29000"/>
            <a:ext cx="20669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3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✕ 饮食之忌 · 避热动火</a:t>
            </a:r>
          </a:p>
          <a:p xmlns:a="http://schemas.openxmlformats.org/drawingml/2006/main">
            <a:pPr algn="l">
              <a:defRPr sz="1275" b="0">
                <a:solidFill>
                  <a:srgbClr val="33413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避免辛辣刺激、油腻煎炸食物，同时慎食羊肉、人参、桂圆等温补食材。</a:t>
            </a:r>
          </a:p>
        </p:txBody>
      </p:sp>
      <p:sp>
        <p:nvSpPr>
          <p:cNvPr id="15" name="care-rest-surface">
            <a:extLst xmlns:a="http://schemas.openxmlformats.org/drawingml/2006/main">
              <a:ext uri="{FF2B5EF4-FFF2-40B4-BE49-F238E27FC236}">
                <a16:creationId xmlns:a16="http://schemas.microsoft.com/office/drawing/2014/main" id="{61B31DBA-B4B3-44D9-A436-969763B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238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6" name="care-rest-accent">
            <a:extLst xmlns:a="http://schemas.openxmlformats.org/drawingml/2006/main">
              <a:ext uri="{FF2B5EF4-FFF2-40B4-BE49-F238E27FC236}">
                <a16:creationId xmlns:a16="http://schemas.microsoft.com/office/drawing/2014/main" id="{44253804-E24D-480D-A425-39F163ED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763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e-rest-title">
            <a:extLst xmlns:a="http://schemas.openxmlformats.org/drawingml/2006/main">
              <a:ext uri="{FF2B5EF4-FFF2-40B4-BE49-F238E27FC236}">
                <a16:creationId xmlns:a16="http://schemas.microsoft.com/office/drawing/2014/main" id="{D22E3680-07D5-47EF-8BC5-9849E1D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573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保证充足休息，养足精神</a:t>
            </a:r>
          </a:p>
        </p:txBody>
      </p:sp>
      <p:sp>
        <p:nvSpPr>
          <p:cNvPr id="18" name="care-rest-divider">
            <a:extLst xmlns:a="http://schemas.openxmlformats.org/drawingml/2006/main">
              <a:ext uri="{FF2B5EF4-FFF2-40B4-BE49-F238E27FC236}">
                <a16:creationId xmlns:a16="http://schemas.microsoft.com/office/drawing/2014/main" id="{1EB7B0F1-C31B-4E01-8375-27881793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19" name="care-rest-body">
            <a:extLst xmlns:a="http://schemas.openxmlformats.org/drawingml/2006/main">
              <a:ext uri="{FF2B5EF4-FFF2-40B4-BE49-F238E27FC236}">
                <a16:creationId xmlns:a16="http://schemas.microsoft.com/office/drawing/2014/main" id="{0C78AEA0-DA09-4B78-9B97-FA41903D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819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建议保证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7–8小时高质量睡眠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，避免熬夜，让脏腑功能在夜间充分休养，促进津液恢复。</a:t>
            </a:r>
          </a:p>
        </p:txBody>
      </p:sp>
      <p:sp>
        <p:nvSpPr>
          <p:cNvPr id="20" name="care-air-surface">
            <a:extLst xmlns:a="http://schemas.openxmlformats.org/drawingml/2006/main">
              <a:ext uri="{FF2B5EF4-FFF2-40B4-BE49-F238E27FC236}">
                <a16:creationId xmlns:a16="http://schemas.microsoft.com/office/drawing/2014/main" id="{7231DF03-53E9-435D-83B4-68A9AD16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5238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1" name="care-air-accent">
            <a:extLst xmlns:a="http://schemas.openxmlformats.org/drawingml/2006/main">
              <a:ext uri="{FF2B5EF4-FFF2-40B4-BE49-F238E27FC236}">
                <a16:creationId xmlns:a16="http://schemas.microsoft.com/office/drawing/2014/main" id="{A10FD8FB-F040-4619-8F7E-1E730D15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4797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e-air-title">
            <a:extLst xmlns:a="http://schemas.openxmlformats.org/drawingml/2006/main">
              <a:ext uri="{FF2B5EF4-FFF2-40B4-BE49-F238E27FC236}">
                <a16:creationId xmlns:a16="http://schemas.microsoft.com/office/drawing/2014/main" id="{17AA78AB-472E-4A01-8942-E0F20F17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289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保持室内通风，空气清新</a:t>
            </a:r>
          </a:p>
        </p:txBody>
      </p:sp>
      <p:sp>
        <p:nvSpPr>
          <p:cNvPr id="23" name="care-air-divider">
            <a:extLst xmlns:a="http://schemas.openxmlformats.org/drawingml/2006/main">
              <a:ext uri="{FF2B5EF4-FFF2-40B4-BE49-F238E27FC236}">
                <a16:creationId xmlns:a16="http://schemas.microsoft.com/office/drawing/2014/main" id="{CA24A71B-692C-45AD-96A2-F9079586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075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4" name="care-air-body">
            <a:extLst xmlns:a="http://schemas.openxmlformats.org/drawingml/2006/main">
              <a:ext uri="{FF2B5EF4-FFF2-40B4-BE49-F238E27FC236}">
                <a16:creationId xmlns:a16="http://schemas.microsoft.com/office/drawing/2014/main" id="{508500A7-57BE-4FC4-AF2F-556D93A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4819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每日开窗通风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2–3次，每次30分钟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。新鲜空气有助于驱散室内浊气，保持呼吸道通畅。</a:t>
            </a:r>
          </a:p>
        </p:txBody>
      </p:sp>
      <p:sp>
        <p:nvSpPr>
          <p:cNvPr id="25" name="care-voice-surface">
            <a:extLst xmlns:a="http://schemas.openxmlformats.org/drawingml/2006/main">
              <a:ext uri="{FF2B5EF4-FFF2-40B4-BE49-F238E27FC236}">
                <a16:creationId xmlns:a16="http://schemas.microsoft.com/office/drawing/2014/main" id="{ED430E6A-C9B8-4C7B-AF48-49E2F66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238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6" name="care-voice-accent">
            <a:extLst xmlns:a="http://schemas.openxmlformats.org/drawingml/2006/main">
              <a:ext uri="{FF2B5EF4-FFF2-40B4-BE49-F238E27FC236}">
                <a16:creationId xmlns:a16="http://schemas.microsoft.com/office/drawing/2014/main" id="{16A962D9-86AD-43F7-A724-D83ECEF8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are-voice-title">
            <a:extLst xmlns:a="http://schemas.openxmlformats.org/drawingml/2006/main">
              <a:ext uri="{FF2B5EF4-FFF2-40B4-BE49-F238E27FC236}">
                <a16:creationId xmlns:a16="http://schemas.microsoft.com/office/drawing/2014/main" id="{73214CDB-9198-490E-8602-A0C00CB8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6A2F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66A2F"/>
                </a:solidFill>
              </a:rPr>
              <a:t>减少过度用嗓，静养咽喉</a:t>
            </a:r>
          </a:p>
        </p:txBody>
      </p:sp>
      <p:sp>
        <p:nvSpPr>
          <p:cNvPr id="28" name="care-voice-divider">
            <a:extLst xmlns:a="http://schemas.openxmlformats.org/drawingml/2006/main">
              <a:ext uri="{FF2B5EF4-FFF2-40B4-BE49-F238E27FC236}">
                <a16:creationId xmlns:a16="http://schemas.microsoft.com/office/drawing/2014/main" id="{A4F6E051-23E4-42B4-B7D8-81E48D35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29" name="care-voice-body">
            <a:extLst xmlns:a="http://schemas.openxmlformats.org/drawingml/2006/main">
              <a:ext uri="{FF2B5EF4-FFF2-40B4-BE49-F238E27FC236}">
                <a16:creationId xmlns:a16="http://schemas.microsoft.com/office/drawing/2014/main" id="{E4725E99-FEA0-4637-B666-341401FD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4819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3A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尽量少说话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，避免大声喊叫或长时间交谈，让咽喉、声带充分休息，减少外界刺激。</a:t>
            </a:r>
          </a:p>
        </p:txBody>
      </p:sp>
    </p:spTree>
    <p:extLst>
      <p:ext uri="{BB962C8B-B14F-4D97-AF65-F5344CB8AC3E}">
        <p14:creationId xmlns:p14="http://schemas.microsoft.com/office/powerpoint/2010/main" val="20223868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86EA710F-E82C-4D5D-8131-060E75B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68F2D7BC-B417-440C-BFFC-C9E4A3F3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5.1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4307D729-7A24-49EA-95FD-0FD52047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权重篇——广誉远安宫牛黄丸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D844FA96-07B2-4F27-B14A-94BB4858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4A89A8E1-88CF-4FB9-9A50-B0CDCC8B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48F20D59-3BB4-42C9-AEDB-508C907A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834ADDCD-9F36-46B4-9692-34520A7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3C852EBF-FE03-422D-AB78-191BDE02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17 / 18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441bcfe90472b"/>
          <a:stretch xmlns:a="http://schemas.openxmlformats.org/drawingml/2006/main"/>
        </p:blipFill>
        <p:spPr>
          <a:xfrm xmlns:a="http://schemas.openxmlformats.org/drawingml/2006/main">
            <a:off x="440817" y="1143000"/>
            <a:ext cx="4404740" cy="2714625"/>
          </a:xfrm>
          <a:prstGeom xmlns:a="http://schemas.openxmlformats.org/drawingml/2006/main" prst="rect">
            <a:avLst/>
          </a:prstGeom>
        </p:spPr>
      </p:pic>
      <p:sp>
        <p:nvSpPr>
          <p:cNvPr id="10" name="weighted-code-h-surface">
            <a:extLst xmlns:a="http://schemas.openxmlformats.org/drawingml/2006/main">
              <a:ext uri="{FF2B5EF4-FFF2-40B4-BE49-F238E27FC236}">
                <a16:creationId xmlns:a16="http://schemas.microsoft.com/office/drawing/2014/main" id="{E7CFA5E4-9724-4D20-B257-9AF65EF0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4812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1" name="weighted-code-h-text">
            <a:extLst xmlns:a="http://schemas.openxmlformats.org/drawingml/2006/main">
              <a:ext uri="{FF2B5EF4-FFF2-40B4-BE49-F238E27FC236}">
                <a16:creationId xmlns:a16="http://schemas.microsoft.com/office/drawing/2014/main" id="{403B9C7D-E130-4467-87F4-9B5E8CE6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481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编码</a:t>
            </a:r>
          </a:p>
        </p:txBody>
      </p:sp>
      <p:sp>
        <p:nvSpPr>
          <p:cNvPr id="12" name="weighted-priority-h-surface">
            <a:extLst xmlns:a="http://schemas.openxmlformats.org/drawingml/2006/main">
              <a:ext uri="{FF2B5EF4-FFF2-40B4-BE49-F238E27FC236}">
                <a16:creationId xmlns:a16="http://schemas.microsoft.com/office/drawing/2014/main" id="{D66E8BF2-B6B0-41AF-A9F9-AC36AF1E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4812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3" name="weighted-priority-h-text">
            <a:extLst xmlns:a="http://schemas.openxmlformats.org/drawingml/2006/main">
              <a:ext uri="{FF2B5EF4-FFF2-40B4-BE49-F238E27FC236}">
                <a16:creationId xmlns:a16="http://schemas.microsoft.com/office/drawing/2014/main" id="{AC728FB7-3C9E-49D5-B80B-899A2ECB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481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主推</a:t>
            </a:r>
          </a:p>
        </p:txBody>
      </p:sp>
      <p:sp>
        <p:nvSpPr>
          <p:cNvPr id="14" name="weighted-spec-h-surface">
            <a:extLst xmlns:a="http://schemas.openxmlformats.org/drawingml/2006/main">
              <a:ext uri="{FF2B5EF4-FFF2-40B4-BE49-F238E27FC236}">
                <a16:creationId xmlns:a16="http://schemas.microsoft.com/office/drawing/2014/main" id="{93091E48-DAF3-42BC-A611-35B8290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81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5" name="weighted-spec-h-text">
            <a:extLst xmlns:a="http://schemas.openxmlformats.org/drawingml/2006/main">
              <a:ext uri="{FF2B5EF4-FFF2-40B4-BE49-F238E27FC236}">
                <a16:creationId xmlns:a16="http://schemas.microsoft.com/office/drawing/2014/main" id="{CF98F3AA-3EC3-423F-885F-4EEBE81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0481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规格</a:t>
            </a:r>
          </a:p>
        </p:txBody>
      </p:sp>
      <p:sp>
        <p:nvSpPr>
          <p:cNvPr id="16" name="weighted-price-h-surface">
            <a:extLst xmlns:a="http://schemas.openxmlformats.org/drawingml/2006/main">
              <a:ext uri="{FF2B5EF4-FFF2-40B4-BE49-F238E27FC236}">
                <a16:creationId xmlns:a16="http://schemas.microsoft.com/office/drawing/2014/main" id="{3D640892-2D23-4C17-AF31-CED202A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481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7" name="weighted-price-h-text">
            <a:extLst xmlns:a="http://schemas.openxmlformats.org/drawingml/2006/main">
              <a:ext uri="{FF2B5EF4-FFF2-40B4-BE49-F238E27FC236}">
                <a16:creationId xmlns:a16="http://schemas.microsoft.com/office/drawing/2014/main" id="{E6BBEAB5-34A1-4DE1-9B81-D483E37D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4812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零售价</a:t>
            </a:r>
          </a:p>
        </p:txBody>
      </p:sp>
      <p:sp>
        <p:nvSpPr>
          <p:cNvPr id="18" name="weighted-code-surface">
            <a:extLst xmlns:a="http://schemas.openxmlformats.org/drawingml/2006/main">
              <a:ext uri="{FF2B5EF4-FFF2-40B4-BE49-F238E27FC236}">
                <a16:creationId xmlns:a16="http://schemas.microsoft.com/office/drawing/2014/main" id="{11639669-EB47-4409-BD97-E4570D3B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053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9" name="weighted-code-text">
            <a:extLst xmlns:a="http://schemas.openxmlformats.org/drawingml/2006/main">
              <a:ext uri="{FF2B5EF4-FFF2-40B4-BE49-F238E27FC236}">
                <a16:creationId xmlns:a16="http://schemas.microsoft.com/office/drawing/2014/main" id="{B4FEC104-1490-4F61-9C34-8494B5C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05325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A24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2205770</a:t>
            </a:r>
          </a:p>
        </p:txBody>
      </p:sp>
      <p:sp>
        <p:nvSpPr>
          <p:cNvPr id="20" name="weighted-priority-surface">
            <a:extLst xmlns:a="http://schemas.openxmlformats.org/drawingml/2006/main">
              <a:ext uri="{FF2B5EF4-FFF2-40B4-BE49-F238E27FC236}">
                <a16:creationId xmlns:a16="http://schemas.microsoft.com/office/drawing/2014/main" id="{F2BBF76B-22F9-4D61-BEAF-810E4B3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053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1" name="weighted-priority-text">
            <a:extLst xmlns:a="http://schemas.openxmlformats.org/drawingml/2006/main">
              <a:ext uri="{FF2B5EF4-FFF2-40B4-BE49-F238E27FC236}">
                <a16:creationId xmlns:a16="http://schemas.microsoft.com/office/drawing/2014/main" id="{9F8B0F8E-7435-4184-B874-F5945E2F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05325"/>
            <a:ext cx="70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A24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A</a:t>
            </a:r>
          </a:p>
        </p:txBody>
      </p:sp>
      <p:sp>
        <p:nvSpPr>
          <p:cNvPr id="22" name="weighted-spec-surface">
            <a:extLst xmlns:a="http://schemas.openxmlformats.org/drawingml/2006/main">
              <a:ext uri="{FF2B5EF4-FFF2-40B4-BE49-F238E27FC236}">
                <a16:creationId xmlns:a16="http://schemas.microsoft.com/office/drawing/2014/main" id="{BA02543E-C759-4017-8DD6-10A5BF93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053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3" name="weighted-spec-text">
            <a:extLst xmlns:a="http://schemas.openxmlformats.org/drawingml/2006/main">
              <a:ext uri="{FF2B5EF4-FFF2-40B4-BE49-F238E27FC236}">
                <a16:creationId xmlns:a16="http://schemas.microsoft.com/office/drawing/2014/main" id="{39987D73-336F-4EB5-B1E1-CF016F57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505325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3克/丸</a:t>
            </a:r>
          </a:p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（双天然）</a:t>
            </a:r>
          </a:p>
        </p:txBody>
      </p:sp>
      <p:sp>
        <p:nvSpPr>
          <p:cNvPr id="24" name="weighted-price-surface">
            <a:extLst xmlns:a="http://schemas.openxmlformats.org/drawingml/2006/main">
              <a:ext uri="{FF2B5EF4-FFF2-40B4-BE49-F238E27FC236}">
                <a16:creationId xmlns:a16="http://schemas.microsoft.com/office/drawing/2014/main" id="{1EC64379-C5A4-440B-BD0E-70B465CA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05325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5" name="weighted-price-text">
            <a:extLst xmlns:a="http://schemas.openxmlformats.org/drawingml/2006/main">
              <a:ext uri="{FF2B5EF4-FFF2-40B4-BE49-F238E27FC236}">
                <a16:creationId xmlns:a16="http://schemas.microsoft.com/office/drawing/2014/main" id="{0CEAAF66-24D4-4964-8D5E-4B4665B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05325"/>
            <a:ext cx="103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A24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880</a:t>
            </a:r>
          </a:p>
        </p:txBody>
      </p:sp>
      <p:sp>
        <p:nvSpPr>
          <p:cNvPr id="26" name="weighted-slogan-surface">
            <a:extLst xmlns:a="http://schemas.openxmlformats.org/drawingml/2006/main">
              <a:ext uri="{FF2B5EF4-FFF2-40B4-BE49-F238E27FC236}">
                <a16:creationId xmlns:a16="http://schemas.microsoft.com/office/drawing/2014/main" id="{4C8212F3-CB36-4B71-B5EC-A68C716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86375"/>
            <a:ext cx="4429125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eighted-slogan">
            <a:extLst xmlns:a="http://schemas.openxmlformats.org/drawingml/2006/main">
              <a:ext uri="{FF2B5EF4-FFF2-40B4-BE49-F238E27FC236}">
                <a16:creationId xmlns:a16="http://schemas.microsoft.com/office/drawing/2014/main" id="{51B50054-2CE4-468D-AB00-CCFD4A23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81625"/>
            <a:ext cx="4162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12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一句话卖点（员工宣传语）：</a:t>
            </a:r>
          </a:p>
          <a:p xmlns:a="http://schemas.openxmlformats.org/drawingml/2006/main">
            <a:pPr algn="l">
              <a:defRPr sz="1275" b="1">
                <a:solidFill>
                  <a:srgbClr val="E60012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安宫鼻祖，胆红素含量高于同品</a:t>
            </a:r>
          </a:p>
        </p:txBody>
      </p:sp>
      <p:sp>
        <p:nvSpPr>
          <p:cNvPr id="28" name="weighted-selling-points-surface">
            <a:extLst xmlns:a="http://schemas.openxmlformats.org/drawingml/2006/main">
              <a:ext uri="{FF2B5EF4-FFF2-40B4-BE49-F238E27FC236}">
                <a16:creationId xmlns:a16="http://schemas.microsoft.com/office/drawing/2014/main" id="{FD7A6738-FDF3-4FE1-BB49-EA6E3323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52500"/>
            <a:ext cx="6286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9" name="weighted-selling-points-accent">
            <a:extLst xmlns:a="http://schemas.openxmlformats.org/drawingml/2006/main">
              <a:ext uri="{FF2B5EF4-FFF2-40B4-BE49-F238E27FC236}">
                <a16:creationId xmlns:a16="http://schemas.microsoft.com/office/drawing/2014/main" id="{4FE75295-29AB-4CB1-9A34-7A63CB2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85850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eighted-selling-points-title">
            <a:extLst xmlns:a="http://schemas.openxmlformats.org/drawingml/2006/main">
              <a:ext uri="{FF2B5EF4-FFF2-40B4-BE49-F238E27FC236}">
                <a16:creationId xmlns:a16="http://schemas.microsoft.com/office/drawing/2014/main" id="{4A68C1E7-0810-4E16-82D6-EB3898B8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066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</a:defRPr>
            </a:pPr>
            <a:r>
              <a:rPr sz="18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一、核心卖点</a:t>
            </a:r>
          </a:p>
        </p:txBody>
      </p:sp>
      <p:sp>
        <p:nvSpPr>
          <p:cNvPr id="31" name="weighted-selling-points-divider">
            <a:extLst xmlns:a="http://schemas.openxmlformats.org/drawingml/2006/main">
              <a:ext uri="{FF2B5EF4-FFF2-40B4-BE49-F238E27FC236}">
                <a16:creationId xmlns:a16="http://schemas.microsoft.com/office/drawing/2014/main" id="{D0A7257C-341D-4A89-BA5B-F93A72B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04950"/>
            <a:ext cx="586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32" name="weighted-selling-points-body">
            <a:extLst xmlns:a="http://schemas.openxmlformats.org/drawingml/2006/main">
              <a:ext uri="{FF2B5EF4-FFF2-40B4-BE49-F238E27FC236}">
                <a16:creationId xmlns:a16="http://schemas.microsoft.com/office/drawing/2014/main" id="{FFC5151C-C1CD-41FF-A4AD-9D9AB250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19250"/>
            <a:ext cx="5867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广誉远安宫被誉为安宫鼻祖。广誉远是较早规模化炮制安宫牛黄丸的厂家，早在光绪11年（1885年）开始规模化炮制；2014年获得“国家级非物质文化遗产”荣誉。</a:t>
            </a:r>
          </a:p>
        </p:txBody>
      </p:sp>
      <p:sp>
        <p:nvSpPr>
          <p:cNvPr id="33" name="bilirubin-h1-surface">
            <a:extLst xmlns:a="http://schemas.openxmlformats.org/drawingml/2006/main">
              <a:ext uri="{FF2B5EF4-FFF2-40B4-BE49-F238E27FC236}">
                <a16:creationId xmlns:a16="http://schemas.microsoft.com/office/drawing/2014/main" id="{C3CAAA69-70F8-42B8-8981-235F2F93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0987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34" name="bilirubin-h1-text">
            <a:extLst xmlns:a="http://schemas.openxmlformats.org/drawingml/2006/main">
              <a:ext uri="{FF2B5EF4-FFF2-40B4-BE49-F238E27FC236}">
                <a16:creationId xmlns:a16="http://schemas.microsoft.com/office/drawing/2014/main" id="{5E3D874F-34BA-411D-B5F0-3D872499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098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品种</a:t>
            </a:r>
          </a:p>
        </p:txBody>
      </p:sp>
      <p:sp>
        <p:nvSpPr>
          <p:cNvPr id="35" name="bilirubin-h2-surface">
            <a:extLst xmlns:a="http://schemas.openxmlformats.org/drawingml/2006/main">
              <a:ext uri="{FF2B5EF4-FFF2-40B4-BE49-F238E27FC236}">
                <a16:creationId xmlns:a16="http://schemas.microsoft.com/office/drawing/2014/main" id="{CB48F60F-344C-4003-8BC6-109D7F1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0987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36" name="bilirubin-h2-text">
            <a:extLst xmlns:a="http://schemas.openxmlformats.org/drawingml/2006/main">
              <a:ext uri="{FF2B5EF4-FFF2-40B4-BE49-F238E27FC236}">
                <a16:creationId xmlns:a16="http://schemas.microsoft.com/office/drawing/2014/main" id="{6A07166E-6666-4824-B8EF-825DCA6D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9875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牛黄</a:t>
            </a:r>
          </a:p>
        </p:txBody>
      </p:sp>
      <p:sp>
        <p:nvSpPr>
          <p:cNvPr id="37" name="bilirubin-h3-surface">
            <a:extLst xmlns:a="http://schemas.openxmlformats.org/drawingml/2006/main">
              <a:ext uri="{FF2B5EF4-FFF2-40B4-BE49-F238E27FC236}">
                <a16:creationId xmlns:a16="http://schemas.microsoft.com/office/drawing/2014/main" id="{2FE73A42-561A-46AE-88E9-47456734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987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38" name="bilirubin-h3-text">
            <a:extLst xmlns:a="http://schemas.openxmlformats.org/drawingml/2006/main">
              <a:ext uri="{FF2B5EF4-FFF2-40B4-BE49-F238E27FC236}">
                <a16:creationId xmlns:a16="http://schemas.microsoft.com/office/drawing/2014/main" id="{9F615695-3D6B-4528-BF8F-4E01673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098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胆红素含量</a:t>
            </a:r>
          </a:p>
        </p:txBody>
      </p:sp>
      <p:sp>
        <p:nvSpPr>
          <p:cNvPr id="39" name="bilirubin-1-1-surface">
            <a:extLst xmlns:a="http://schemas.openxmlformats.org/drawingml/2006/main">
              <a:ext uri="{FF2B5EF4-FFF2-40B4-BE49-F238E27FC236}">
                <a16:creationId xmlns:a16="http://schemas.microsoft.com/office/drawing/2014/main" id="{9282990F-6BEA-484D-8D34-097CBC11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289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40" name="bilirubin-1-1-text">
            <a:extLst xmlns:a="http://schemas.openxmlformats.org/drawingml/2006/main">
              <a:ext uri="{FF2B5EF4-FFF2-40B4-BE49-F238E27FC236}">
                <a16:creationId xmlns:a16="http://schemas.microsoft.com/office/drawing/2014/main" id="{EF8611B2-04A9-4539-A209-6E65BC79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289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0012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安宫牛黄丸（广誉远）</a:t>
            </a:r>
          </a:p>
        </p:txBody>
      </p:sp>
      <p:sp>
        <p:nvSpPr>
          <p:cNvPr id="41" name="bilirubin-1-2-surface">
            <a:extLst xmlns:a="http://schemas.openxmlformats.org/drawingml/2006/main">
              <a:ext uri="{FF2B5EF4-FFF2-40B4-BE49-F238E27FC236}">
                <a16:creationId xmlns:a16="http://schemas.microsoft.com/office/drawing/2014/main" id="{12F7BDFD-3130-4419-9A42-A5E9E87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289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42" name="bilirubin-1-2-text">
            <a:extLst xmlns:a="http://schemas.openxmlformats.org/drawingml/2006/main">
              <a:ext uri="{FF2B5EF4-FFF2-40B4-BE49-F238E27FC236}">
                <a16:creationId xmlns:a16="http://schemas.microsoft.com/office/drawing/2014/main" id="{A39A99E8-9668-4CD2-A41C-E9B42FB3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289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0012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天然</a:t>
            </a:r>
          </a:p>
        </p:txBody>
      </p:sp>
      <p:sp>
        <p:nvSpPr>
          <p:cNvPr id="43" name="bilirubin-1-3-surface">
            <a:extLst xmlns:a="http://schemas.openxmlformats.org/drawingml/2006/main">
              <a:ext uri="{FF2B5EF4-FFF2-40B4-BE49-F238E27FC236}">
                <a16:creationId xmlns:a16="http://schemas.microsoft.com/office/drawing/2014/main" id="{A1F60B4C-D0BA-4F1F-ACB3-69D9AB52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289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44" name="bilirubin-1-3-text">
            <a:extLst xmlns:a="http://schemas.openxmlformats.org/drawingml/2006/main">
              <a:ext uri="{FF2B5EF4-FFF2-40B4-BE49-F238E27FC236}">
                <a16:creationId xmlns:a16="http://schemas.microsoft.com/office/drawing/2014/main" id="{B665D097-B36A-4BB0-A883-BB2C281F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289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0012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46.6mg/丸</a:t>
            </a:r>
          </a:p>
        </p:txBody>
      </p:sp>
      <p:sp>
        <p:nvSpPr>
          <p:cNvPr id="45" name="bilirubin-2-1-surface">
            <a:extLst xmlns:a="http://schemas.openxmlformats.org/drawingml/2006/main">
              <a:ext uri="{FF2B5EF4-FFF2-40B4-BE49-F238E27FC236}">
                <a16:creationId xmlns:a16="http://schemas.microsoft.com/office/drawing/2014/main" id="{AA4F9402-ED05-48D7-925E-036E912A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9092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5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46" name="bilirubin-2-1-text">
            <a:extLst xmlns:a="http://schemas.openxmlformats.org/drawingml/2006/main">
              <a:ext uri="{FF2B5EF4-FFF2-40B4-BE49-F238E27FC236}">
                <a16:creationId xmlns:a16="http://schemas.microsoft.com/office/drawing/2014/main" id="{F4BFC7BF-6072-4BCC-BF93-6DBC3921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9092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北京同仁堂安宫</a:t>
            </a:r>
          </a:p>
        </p:txBody>
      </p:sp>
      <p:sp>
        <p:nvSpPr>
          <p:cNvPr id="47" name="bilirubin-2-2-surface">
            <a:extLst xmlns:a="http://schemas.openxmlformats.org/drawingml/2006/main">
              <a:ext uri="{FF2B5EF4-FFF2-40B4-BE49-F238E27FC236}">
                <a16:creationId xmlns:a16="http://schemas.microsoft.com/office/drawing/2014/main" id="{4AE0071C-7715-402A-B910-D2BCF73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9092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5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48" name="bilirubin-2-2-text">
            <a:extLst xmlns:a="http://schemas.openxmlformats.org/drawingml/2006/main">
              <a:ext uri="{FF2B5EF4-FFF2-40B4-BE49-F238E27FC236}">
                <a16:creationId xmlns:a16="http://schemas.microsoft.com/office/drawing/2014/main" id="{9714C6F3-0324-4B25-867F-9B59C2FC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9092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天然</a:t>
            </a:r>
          </a:p>
        </p:txBody>
      </p:sp>
      <p:sp>
        <p:nvSpPr>
          <p:cNvPr id="49" name="bilirubin-2-3-surface">
            <a:extLst xmlns:a="http://schemas.openxmlformats.org/drawingml/2006/main">
              <a:ext uri="{FF2B5EF4-FFF2-40B4-BE49-F238E27FC236}">
                <a16:creationId xmlns:a16="http://schemas.microsoft.com/office/drawing/2014/main" id="{B4315A1E-ACC9-4736-9F2F-A9145E5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9092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5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50" name="bilirubin-2-3-text">
            <a:extLst xmlns:a="http://schemas.openxmlformats.org/drawingml/2006/main">
              <a:ext uri="{FF2B5EF4-FFF2-40B4-BE49-F238E27FC236}">
                <a16:creationId xmlns:a16="http://schemas.microsoft.com/office/drawing/2014/main" id="{5F917A75-2366-4F17-B43D-139524B5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9092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40.1mg/丸</a:t>
            </a:r>
          </a:p>
        </p:txBody>
      </p:sp>
      <p:sp>
        <p:nvSpPr>
          <p:cNvPr id="51" name="bilirubin-3-1-surface">
            <a:extLst xmlns:a="http://schemas.openxmlformats.org/drawingml/2006/main">
              <a:ext uri="{FF2B5EF4-FFF2-40B4-BE49-F238E27FC236}">
                <a16:creationId xmlns:a16="http://schemas.microsoft.com/office/drawing/2014/main" id="{7CE68B21-18E8-4005-8368-B8808DDC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52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52" name="bilirubin-3-1-text">
            <a:extLst xmlns:a="http://schemas.openxmlformats.org/drawingml/2006/main">
              <a:ext uri="{FF2B5EF4-FFF2-40B4-BE49-F238E27FC236}">
                <a16:creationId xmlns:a16="http://schemas.microsoft.com/office/drawing/2014/main" id="{8DC2889A-3612-4398-937C-3F65C317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528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安宫国家标准</a:t>
            </a:r>
          </a:p>
        </p:txBody>
      </p:sp>
      <p:sp>
        <p:nvSpPr>
          <p:cNvPr id="53" name="bilirubin-3-2-surface">
            <a:extLst xmlns:a="http://schemas.openxmlformats.org/drawingml/2006/main">
              <a:ext uri="{FF2B5EF4-FFF2-40B4-BE49-F238E27FC236}">
                <a16:creationId xmlns:a16="http://schemas.microsoft.com/office/drawing/2014/main" id="{45BEBEAF-E13D-49AC-8B61-2B074720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54" name="bilirubin-3-2-text">
            <a:extLst xmlns:a="http://schemas.openxmlformats.org/drawingml/2006/main">
              <a:ext uri="{FF2B5EF4-FFF2-40B4-BE49-F238E27FC236}">
                <a16:creationId xmlns:a16="http://schemas.microsoft.com/office/drawing/2014/main" id="{CA3F00D0-CD55-4B1D-B980-94519C1A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528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天然</a:t>
            </a:r>
          </a:p>
        </p:txBody>
      </p:sp>
      <p:sp>
        <p:nvSpPr>
          <p:cNvPr id="55" name="bilirubin-3-3-surface">
            <a:extLst xmlns:a="http://schemas.openxmlformats.org/drawingml/2006/main">
              <a:ext uri="{FF2B5EF4-FFF2-40B4-BE49-F238E27FC236}">
                <a16:creationId xmlns:a16="http://schemas.microsoft.com/office/drawing/2014/main" id="{8409E4C0-1E81-4DD0-9F07-96ACDCC3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528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56" name="bilirubin-3-3-text">
            <a:extLst xmlns:a="http://schemas.openxmlformats.org/drawingml/2006/main">
              <a:ext uri="{FF2B5EF4-FFF2-40B4-BE49-F238E27FC236}">
                <a16:creationId xmlns:a16="http://schemas.microsoft.com/office/drawing/2014/main" id="{66EE3BBD-15B7-4A4A-8CF8-C37436CB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9528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24"/>
                </a:solidFill>
              </a:defRPr>
            </a:pPr>
            <a:r>
              <a:rPr sz="12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≥18.5mg/丸</a:t>
            </a:r>
          </a:p>
        </p:txBody>
      </p:sp>
      <p:sp>
        <p:nvSpPr>
          <p:cNvPr id="57" name="weighted-indications">
            <a:extLst xmlns:a="http://schemas.openxmlformats.org/drawingml/2006/main">
              <a:ext uri="{FF2B5EF4-FFF2-40B4-BE49-F238E27FC236}">
                <a16:creationId xmlns:a16="http://schemas.microsoft.com/office/drawing/2014/main" id="{B77A86FB-61AF-4CD9-9058-7A8D001A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76750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二、适应症：</a:t>
            </a:r>
          </a:p>
          <a:p xmlns:a="http://schemas.openxmlformats.org/drawingml/2006/main">
            <a:pPr algn="l">
              <a:defRPr sz="1350" b="0">
                <a:solidFill>
                  <a:srgbClr val="33413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33413A"/>
                </a:solidFill>
              </a:rPr>
              <a:t>1. 中风或脑梗塞后遗症患者；2. 癫痫、惊厥、昏迷患者；3. 心血管疾病患者；4. 神经衰弱或失眠患者；5. 儿童高热惊厥；6. 严重感染性疾病伴高热神昏者。</a:t>
            </a:r>
          </a:p>
        </p:txBody>
      </p:sp>
    </p:spTree>
    <p:extLst>
      <p:ext uri="{BB962C8B-B14F-4D97-AF65-F5344CB8AC3E}">
        <p14:creationId xmlns:p14="http://schemas.microsoft.com/office/powerpoint/2010/main" val="8537130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hrome-left-number">
            <a:extLst xmlns:a="http://schemas.openxmlformats.org/drawingml/2006/main">
              <a:ext uri="{FF2B5EF4-FFF2-40B4-BE49-F238E27FC236}">
                <a16:creationId xmlns:a16="http://schemas.microsoft.com/office/drawing/2014/main" id="{74849B06-02C8-46F5-9766-B498755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66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rome-page-number">
            <a:extLst xmlns:a="http://schemas.openxmlformats.org/drawingml/2006/main">
              <a:ext uri="{FF2B5EF4-FFF2-40B4-BE49-F238E27FC236}">
                <a16:creationId xmlns:a16="http://schemas.microsoft.com/office/drawing/2014/main" id="{921C7306-8DC4-468F-BFD9-25270F75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5.2</a:t>
            </a:r>
          </a:p>
        </p:txBody>
      </p:sp>
      <p:sp>
        <p:nvSpPr>
          <p:cNvPr id="3" name="chrome-title">
            <a:extLst xmlns:a="http://schemas.openxmlformats.org/drawingml/2006/main">
              <a:ext uri="{FF2B5EF4-FFF2-40B4-BE49-F238E27FC236}">
                <a16:creationId xmlns:a16="http://schemas.microsoft.com/office/drawing/2014/main" id="{F21CCD98-B238-4B5D-AA56-8CF9B9B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3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A24"/>
                </a:solidFill>
              </a:defRPr>
            </a:pPr>
            <a:r>
              <a:rPr sz="20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权重篇——白云山安宫＋宏济堂安宫</a:t>
            </a:r>
          </a:p>
        </p:txBody>
      </p:sp>
      <p:sp>
        <p:nvSpPr>
          <p:cNvPr id="4" name="chrome-hairline">
            <a:extLst xmlns:a="http://schemas.openxmlformats.org/drawingml/2006/main">
              <a:ext uri="{FF2B5EF4-FFF2-40B4-BE49-F238E27FC236}">
                <a16:creationId xmlns:a16="http://schemas.microsoft.com/office/drawing/2014/main" id="{BD5A5CF6-2F2F-4557-8728-ED916C73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95325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DF"/>
          </a:solidFill>
          <a:ln xmlns:a="http://schemas.openxmlformats.org/drawingml/2006/main" w="0">
            <a:solidFill>
              <a:srgbClr val="D9E9DF"/>
            </a:solidFill>
            <a:prstDash val="solid"/>
          </a:ln>
        </p:spPr>
      </p:sp>
      <p:sp>
        <p:nvSpPr>
          <p:cNvPr id="5" name="chrome-rule-accent">
            <a:extLst xmlns:a="http://schemas.openxmlformats.org/drawingml/2006/main">
              <a:ext uri="{FF2B5EF4-FFF2-40B4-BE49-F238E27FC236}">
                <a16:creationId xmlns:a16="http://schemas.microsoft.com/office/drawing/2014/main" id="{49B101C3-D9D1-43EB-87B5-457075CC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rome-brand">
            <a:extLst xmlns:a="http://schemas.openxmlformats.org/drawingml/2006/main">
              <a:ext uri="{FF2B5EF4-FFF2-40B4-BE49-F238E27FC236}">
                <a16:creationId xmlns:a16="http://schemas.microsoft.com/office/drawing/2014/main" id="{ED401230-E05A-484B-9ED4-5C1261B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A817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43A817"/>
                </a:solidFill>
              </a:rPr>
              <a:t>大参林 dashenlin</a:t>
            </a:r>
          </a:p>
        </p:txBody>
      </p:sp>
      <p:sp>
        <p:nvSpPr>
          <p:cNvPr id="7" name="chrome-internal-notice">
            <a:extLst xmlns:a="http://schemas.openxmlformats.org/drawingml/2006/main">
              <a:ext uri="{FF2B5EF4-FFF2-40B4-BE49-F238E27FC236}">
                <a16:creationId xmlns:a16="http://schemas.microsoft.com/office/drawing/2014/main" id="{DC26ED23-A299-4053-9B49-ACB42D1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仅限于内部学习</a:t>
            </a:r>
          </a:p>
        </p:txBody>
      </p:sp>
      <p:sp>
        <p:nvSpPr>
          <p:cNvPr id="8" name="chrome-page-index">
            <a:extLst xmlns:a="http://schemas.openxmlformats.org/drawingml/2006/main">
              <a:ext uri="{FF2B5EF4-FFF2-40B4-BE49-F238E27FC236}">
                <a16:creationId xmlns:a16="http://schemas.microsoft.com/office/drawing/2014/main" id="{3F055723-3BB2-4D1D-9D6E-3E8185B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6B61"/>
                </a:solidFill>
              </a:defRPr>
            </a:pPr>
            <a:r>
              <a:rPr sz="90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6B61"/>
                </a:solidFill>
              </a:rPr>
              <a:t>18 / 18</a:t>
            </a:r>
          </a:p>
        </p:txBody>
      </p:sp>
      <p:sp>
        <p:nvSpPr>
          <p:cNvPr id="9" name="compare-dim-surface">
            <a:extLst xmlns:a="http://schemas.openxmlformats.org/drawingml/2006/main">
              <a:ext uri="{FF2B5EF4-FFF2-40B4-BE49-F238E27FC236}">
                <a16:creationId xmlns:a16="http://schemas.microsoft.com/office/drawing/2014/main" id="{DB23EA82-71D6-49A3-9952-6E949636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0" name="compare-dim-text">
            <a:extLst xmlns:a="http://schemas.openxmlformats.org/drawingml/2006/main">
              <a:ext uri="{FF2B5EF4-FFF2-40B4-BE49-F238E27FC236}">
                <a16:creationId xmlns:a16="http://schemas.microsoft.com/office/drawing/2014/main" id="{74DAEE0A-4BB2-4D64-92FC-9D216315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对比维度</a:t>
            </a:r>
          </a:p>
        </p:txBody>
      </p:sp>
      <p:sp>
        <p:nvSpPr>
          <p:cNvPr id="11" name="compare-product-a-surface">
            <a:extLst xmlns:a="http://schemas.openxmlformats.org/drawingml/2006/main">
              <a:ext uri="{FF2B5EF4-FFF2-40B4-BE49-F238E27FC236}">
                <a16:creationId xmlns:a16="http://schemas.microsoft.com/office/drawing/2014/main" id="{48E22699-A5BF-4019-9FBA-23F07291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52500"/>
            <a:ext cx="4333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2" name="compare-product-a-text">
            <a:extLst xmlns:a="http://schemas.openxmlformats.org/drawingml/2006/main">
              <a:ext uri="{FF2B5EF4-FFF2-40B4-BE49-F238E27FC236}">
                <a16:creationId xmlns:a16="http://schemas.microsoft.com/office/drawing/2014/main" id="{AF1F9ED1-98F4-41E8-A912-B0CAA6C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52500"/>
            <a:ext cx="4181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安宫牛黄丸（白云山中一）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8202533（人工体培）</a:t>
            </a:r>
          </a:p>
        </p:txBody>
      </p:sp>
      <p:sp>
        <p:nvSpPr>
          <p:cNvPr id="13" name="compare-product-b-surface">
            <a:extLst xmlns:a="http://schemas.openxmlformats.org/drawingml/2006/main">
              <a:ext uri="{FF2B5EF4-FFF2-40B4-BE49-F238E27FC236}">
                <a16:creationId xmlns:a16="http://schemas.microsoft.com/office/drawing/2014/main" id="{6CC2B0EB-D335-4B70-A663-14A163F3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952500"/>
            <a:ext cx="557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6A2F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4" name="compare-product-b-text">
            <a:extLst xmlns:a="http://schemas.openxmlformats.org/drawingml/2006/main">
              <a:ext uri="{FF2B5EF4-FFF2-40B4-BE49-F238E27FC236}">
                <a16:creationId xmlns:a16="http://schemas.microsoft.com/office/drawing/2014/main" id="{FAD75CCC-6ED1-452F-9D74-0F55978E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952500"/>
            <a:ext cx="541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安宫牛黄丸（宏济堂）1185781（单天然）、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1185783（人工体培）2373089（单天然包金衣）</a:t>
            </a:r>
          </a:p>
        </p:txBody>
      </p:sp>
      <p:sp>
        <p:nvSpPr>
          <p:cNvPr id="15" name="compare-image-label-surface">
            <a:extLst xmlns:a="http://schemas.openxmlformats.org/drawingml/2006/main">
              <a:ext uri="{FF2B5EF4-FFF2-40B4-BE49-F238E27FC236}">
                <a16:creationId xmlns:a16="http://schemas.microsoft.com/office/drawing/2014/main" id="{37273F23-4544-4D0C-847D-DC477FD9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811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16" name="compare-image-label-text">
            <a:extLst xmlns:a="http://schemas.openxmlformats.org/drawingml/2006/main">
              <a:ext uri="{FF2B5EF4-FFF2-40B4-BE49-F238E27FC236}">
                <a16:creationId xmlns:a16="http://schemas.microsoft.com/office/drawing/2014/main" id="{99E1F4A6-FCCD-483F-8390-DD607CD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276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A24"/>
                </a:solidFill>
              </a:defRPr>
            </a:pPr>
            <a:r>
              <a:rPr sz="12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产品图片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f0be895ab4af6"/>
          <a:stretch xmlns:a="http://schemas.openxmlformats.org/drawingml/2006/main"/>
        </p:blipFill>
        <p:spPr>
          <a:xfrm xmlns:a="http://schemas.openxmlformats.org/drawingml/2006/main">
            <a:off x="2619375" y="1886917"/>
            <a:ext cx="2476500" cy="331441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c35b4cb5c495d"/>
          <a:stretch xmlns:a="http://schemas.openxmlformats.org/drawingml/2006/main"/>
        </p:blipFill>
        <p:spPr>
          <a:xfrm xmlns:a="http://schemas.openxmlformats.org/drawingml/2006/main">
            <a:off x="6572250" y="1811919"/>
            <a:ext cx="4619625" cy="481436"/>
          </a:xfrm>
          <a:prstGeom xmlns:a="http://schemas.openxmlformats.org/drawingml/2006/main" prst="rect">
            <a:avLst/>
          </a:prstGeom>
        </p:spPr>
      </p:pic>
      <p:sp>
        <p:nvSpPr>
          <p:cNvPr id="19" name="compare-selling-label-surface">
            <a:extLst xmlns:a="http://schemas.openxmlformats.org/drawingml/2006/main">
              <a:ext uri="{FF2B5EF4-FFF2-40B4-BE49-F238E27FC236}">
                <a16:creationId xmlns:a16="http://schemas.microsoft.com/office/drawing/2014/main" id="{00711A42-24E0-4CDE-9232-AEA37D79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33650"/>
            <a:ext cx="1428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0" name="compare-selling-label-text">
            <a:extLst xmlns:a="http://schemas.openxmlformats.org/drawingml/2006/main">
              <a:ext uri="{FF2B5EF4-FFF2-40B4-BE49-F238E27FC236}">
                <a16:creationId xmlns:a16="http://schemas.microsoft.com/office/drawing/2014/main" id="{C6FA2373-AC23-47ED-A487-437129FD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276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24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核心卖点</a:t>
            </a:r>
          </a:p>
        </p:txBody>
      </p:sp>
      <p:sp>
        <p:nvSpPr>
          <p:cNvPr id="21" name="compare-selling-a-surface">
            <a:extLst xmlns:a="http://schemas.openxmlformats.org/drawingml/2006/main">
              <a:ext uri="{FF2B5EF4-FFF2-40B4-BE49-F238E27FC236}">
                <a16:creationId xmlns:a16="http://schemas.microsoft.com/office/drawing/2014/main" id="{A3A7FB79-696D-4F55-B55F-17E13234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3650"/>
            <a:ext cx="4333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2" name="compare-selling-a-text">
            <a:extLst xmlns:a="http://schemas.openxmlformats.org/drawingml/2006/main">
              <a:ext uri="{FF2B5EF4-FFF2-40B4-BE49-F238E27FC236}">
                <a16:creationId xmlns:a16="http://schemas.microsoft.com/office/drawing/2014/main" id="{2B10A936-B72E-431A-98CB-7D6214C6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33650"/>
            <a:ext cx="41814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4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1. 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药材道地：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胆红素含量是国家标准2倍；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2. 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古法手工：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166年老手艺纯手工制丸；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3. 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广药白云山品牌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，质量保证。</a:t>
            </a:r>
          </a:p>
        </p:txBody>
      </p:sp>
      <p:sp>
        <p:nvSpPr>
          <p:cNvPr id="23" name="compare-selling-b-surface">
            <a:extLst xmlns:a="http://schemas.openxmlformats.org/drawingml/2006/main">
              <a:ext uri="{FF2B5EF4-FFF2-40B4-BE49-F238E27FC236}">
                <a16:creationId xmlns:a16="http://schemas.microsoft.com/office/drawing/2014/main" id="{957AB8F3-B3F7-44CC-85A4-421997B0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33650"/>
            <a:ext cx="5572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4" name="compare-selling-b-text">
            <a:extLst xmlns:a="http://schemas.openxmlformats.org/drawingml/2006/main">
              <a:ext uri="{FF2B5EF4-FFF2-40B4-BE49-F238E27FC236}">
                <a16:creationId xmlns:a16="http://schemas.microsoft.com/office/drawing/2014/main" id="{74275CF5-A779-4D1A-B87C-A165AF8A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33650"/>
            <a:ext cx="54197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24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1. 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系出名门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，与北京同仁同宗同源，百年老号；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2. 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道地选材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，自研国家一类新药麝香酮，急救效果更快更安全；</a:t>
            </a:r>
          </a:p>
          <a:p xmlns:a="http://schemas.openxmlformats.org/drawingml/2006/main">
            <a:pPr algn="l">
              <a:defRPr sz="1575" b="0">
                <a:solidFill>
                  <a:srgbClr val="1F2A24"/>
                </a:solidFill>
              </a:defRPr>
            </a:pP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3. </a:t>
            </a:r>
            <a:r>
              <a:rPr sz="15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优质优价</a:t>
            </a:r>
            <a:r>
              <a:rPr sz="15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，性价比高。</a:t>
            </a:r>
          </a:p>
        </p:txBody>
      </p:sp>
      <p:sp>
        <p:nvSpPr>
          <p:cNvPr id="25" name="compare-audience-label-surface">
            <a:extLst xmlns:a="http://schemas.openxmlformats.org/drawingml/2006/main">
              <a:ext uri="{FF2B5EF4-FFF2-40B4-BE49-F238E27FC236}">
                <a16:creationId xmlns:a16="http://schemas.microsoft.com/office/drawing/2014/main" id="{C5A83962-D6EC-4780-B480-1F22A6B9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52900"/>
            <a:ext cx="1428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6" name="compare-audience-label-text">
            <a:extLst xmlns:a="http://schemas.openxmlformats.org/drawingml/2006/main">
              <a:ext uri="{FF2B5EF4-FFF2-40B4-BE49-F238E27FC236}">
                <a16:creationId xmlns:a16="http://schemas.microsoft.com/office/drawing/2014/main" id="{1117E04F-1BCE-45CE-AC9E-DEBF9B0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1276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24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适宜人群</a:t>
            </a:r>
          </a:p>
        </p:txBody>
      </p:sp>
      <p:sp>
        <p:nvSpPr>
          <p:cNvPr id="27" name="compare-audience-surface">
            <a:extLst xmlns:a="http://schemas.openxmlformats.org/drawingml/2006/main">
              <a:ext uri="{FF2B5EF4-FFF2-40B4-BE49-F238E27FC236}">
                <a16:creationId xmlns:a16="http://schemas.microsoft.com/office/drawing/2014/main" id="{73E391A5-C5C6-47E2-817E-E16094BD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5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28" name="compare-audience-text">
            <a:extLst xmlns:a="http://schemas.openxmlformats.org/drawingml/2006/main">
              <a:ext uri="{FF2B5EF4-FFF2-40B4-BE49-F238E27FC236}">
                <a16:creationId xmlns:a16="http://schemas.microsoft.com/office/drawing/2014/main" id="{E6A93110-1EBF-4825-BC46-7BD8671A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52900"/>
            <a:ext cx="975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A24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1. 高血压、中风病史等心脑血管高风险人群家庭备用；</a:t>
            </a:r>
          </a:p>
          <a:p xmlns:a="http://schemas.openxmlformats.org/drawingml/2006/main">
            <a:pPr algn="l">
              <a:defRPr sz="1425" b="0">
                <a:solidFill>
                  <a:srgbClr val="1F2A24"/>
                </a:solidFill>
              </a:defRPr>
            </a:pPr>
            <a:r>
              <a:rPr sz="14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2. 用于中风（热闭证）及高热神昏的急救。</a:t>
            </a:r>
          </a:p>
        </p:txBody>
      </p:sp>
      <p:sp>
        <p:nvSpPr>
          <p:cNvPr id="29" name="compare-combo-label-surface">
            <a:extLst xmlns:a="http://schemas.openxmlformats.org/drawingml/2006/main">
              <a:ext uri="{FF2B5EF4-FFF2-40B4-BE49-F238E27FC236}">
                <a16:creationId xmlns:a16="http://schemas.microsoft.com/office/drawing/2014/main" id="{F49BF325-AF93-4903-8233-06D67B02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62525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30" name="compare-combo-label-text">
            <a:extLst xmlns:a="http://schemas.openxmlformats.org/drawingml/2006/main">
              <a:ext uri="{FF2B5EF4-FFF2-40B4-BE49-F238E27FC236}">
                <a16:creationId xmlns:a16="http://schemas.microsoft.com/office/drawing/2014/main" id="{0A9B79C6-7B95-4547-A34C-577BE350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1276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A24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F2A24"/>
                </a:solidFill>
              </a:rPr>
              <a:t>联合用药</a:t>
            </a:r>
          </a:p>
        </p:txBody>
      </p:sp>
      <p:sp>
        <p:nvSpPr>
          <p:cNvPr id="31" name="compare-combo-surface">
            <a:extLst xmlns:a="http://schemas.openxmlformats.org/drawingml/2006/main">
              <a:ext uri="{FF2B5EF4-FFF2-40B4-BE49-F238E27FC236}">
                <a16:creationId xmlns:a16="http://schemas.microsoft.com/office/drawing/2014/main" id="{BBF0ED64-DE30-46DD-AA90-09D809A1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62525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D9E9DF"/>
            </a:solidFill>
            <a:prstDash val="solid"/>
          </a:ln>
        </p:spPr>
      </p:sp>
      <p:sp>
        <p:nvSpPr>
          <p:cNvPr id="32" name="compare-combo-text">
            <a:extLst xmlns:a="http://schemas.openxmlformats.org/drawingml/2006/main">
              <a:ext uri="{FF2B5EF4-FFF2-40B4-BE49-F238E27FC236}">
                <a16:creationId xmlns:a16="http://schemas.microsoft.com/office/drawing/2014/main" id="{9C3FD846-2E01-48BA-A41A-C05A2CAB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62525"/>
            <a:ext cx="9753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0012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1. 针对三高人群：按内部审核话术说明节气前备用逻辑；</a:t>
            </a:r>
          </a:p>
          <a:p xmlns:a="http://schemas.openxmlformats.org/drawingml/2006/main">
            <a:pPr algn="l">
              <a:defRPr sz="1350" b="0">
                <a:solidFill>
                  <a:srgbClr val="E60012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2. 针对急救：出现疑似急症应立即呼叫急救并遵循专业人员指导；</a:t>
            </a:r>
          </a:p>
          <a:p xmlns:a="http://schemas.openxmlformats.org/drawingml/2006/main">
            <a:pPr algn="l">
              <a:defRPr sz="1350" b="0">
                <a:solidFill>
                  <a:srgbClr val="E60012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3. 小儿高热：必须严格按内部审核和专业人员指导使用。</a:t>
            </a:r>
          </a:p>
          <a:p xmlns:a="http://schemas.openxmlformats.org/drawingml/2006/main">
            <a:pPr algn="l">
              <a:defRPr sz="1350" b="0">
                <a:solidFill>
                  <a:srgbClr val="E60012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E60012"/>
                </a:solidFill>
              </a:rPr>
              <a:t>严格辨证：仅用于“热闭”，绝对禁用于“寒闭”和“脱证”。</a:t>
            </a:r>
          </a:p>
        </p:txBody>
      </p:sp>
    </p:spTree>
    <p:extLst>
      <p:ext uri="{BB962C8B-B14F-4D97-AF65-F5344CB8AC3E}">
        <p14:creationId xmlns:p14="http://schemas.microsoft.com/office/powerpoint/2010/main" val="1296313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2026-08-04T00:41:05.6110000Z</dcterms:created>
  <dcterms:modified xsi:type="dcterms:W3CDTF">2026-08-04T00:41:05.6110000Z</dcterms:modified>
</coreProperties>
</file>