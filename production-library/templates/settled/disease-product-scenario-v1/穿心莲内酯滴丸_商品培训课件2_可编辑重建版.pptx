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0040005ecb4e79" /><Relationship Type="http://schemas.openxmlformats.org/officeDocument/2006/relationships/extended-properties" Target="/docProps/app.xml" Id="Rac28ad07149841e3" /><Relationship Type="http://schemas.openxmlformats.org/officeDocument/2006/relationships/officeDocument" Target="/ppt/presentation.xml" Id="Re1863aa71ad54c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576bbcc5734d4f"/>
  </p:sldMasterIdLst>
  <p:notesMasterIdLst>
    <p:notesMasterId xmlns:r="http://schemas.openxmlformats.org/officeDocument/2006/relationships" r:id="Rf66a7842bac14a7c"/>
  </p:notesMasterIdLst>
  <p:sldIdLst>
    <p:sldId xmlns:r="http://schemas.openxmlformats.org/officeDocument/2006/relationships" id="256" r:id="R6e11dc0bdbe64a09"/>
    <p:sldId xmlns:r="http://schemas.openxmlformats.org/officeDocument/2006/relationships" id="257" r:id="R5ca545b0da1a4bd2"/>
    <p:sldId xmlns:r="http://schemas.openxmlformats.org/officeDocument/2006/relationships" id="258" r:id="R9a14381b7a434f45"/>
    <p:sldId xmlns:r="http://schemas.openxmlformats.org/officeDocument/2006/relationships" id="259" r:id="R5c9153522590465a"/>
    <p:sldId xmlns:r="http://schemas.openxmlformats.org/officeDocument/2006/relationships" id="260" r:id="R4b544586f6fc4bf5"/>
    <p:sldId xmlns:r="http://schemas.openxmlformats.org/officeDocument/2006/relationships" id="261" r:id="R1503e8386b364d41"/>
    <p:sldId xmlns:r="http://schemas.openxmlformats.org/officeDocument/2006/relationships" id="262" r:id="R0dbc9b377a04453d"/>
    <p:sldId xmlns:r="http://schemas.openxmlformats.org/officeDocument/2006/relationships" id="263" r:id="Rdb7977aeab9246cf"/>
    <p:sldId xmlns:r="http://schemas.openxmlformats.org/officeDocument/2006/relationships" id="264" r:id="R868495df4daa4389"/>
    <p:sldId xmlns:r="http://schemas.openxmlformats.org/officeDocument/2006/relationships" id="265" r:id="Rc88dfd6393cc45cb"/>
    <p:sldId xmlns:r="http://schemas.openxmlformats.org/officeDocument/2006/relationships" id="266" r:id="R79a17a769d1e4396"/>
    <p:sldId xmlns:r="http://schemas.openxmlformats.org/officeDocument/2006/relationships" id="267" r:id="Rb137d4e1709b47c1"/>
    <p:sldId xmlns:r="http://schemas.openxmlformats.org/officeDocument/2006/relationships" id="268" r:id="R87fe318415e44e90"/>
    <p:sldId xmlns:r="http://schemas.openxmlformats.org/officeDocument/2006/relationships" id="269" r:id="R29a496ca88ea4f96"/>
    <p:sldId xmlns:r="http://schemas.openxmlformats.org/officeDocument/2006/relationships" id="270" r:id="R10929ecd66a74951"/>
    <p:sldId xmlns:r="http://schemas.openxmlformats.org/officeDocument/2006/relationships" id="271" r:id="R0c536e6704154277"/>
    <p:sldId xmlns:r="http://schemas.openxmlformats.org/officeDocument/2006/relationships" id="272" r:id="R18f27e424142433f"/>
    <p:sldId xmlns:r="http://schemas.openxmlformats.org/officeDocument/2006/relationships" id="273" r:id="R763cb43c0aca44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8b3869e6d2417f" /><Relationship Type="http://schemas.openxmlformats.org/officeDocument/2006/relationships/slideMaster" Target="/ppt/slideMasters/slideMaster1.xml" Id="Rdb576bbcc5734d4f" /><Relationship Type="http://schemas.openxmlformats.org/officeDocument/2006/relationships/notesMaster" Target="/ppt/notesMasters/notesMaster1.xml" Id="Rf66a7842bac14a7c" /><Relationship Type="http://schemas.openxmlformats.org/officeDocument/2006/relationships/presProps" Target="/ppt/presProps.xml" Id="R6d1caf3dcea54d96" /><Relationship Type="http://schemas.openxmlformats.org/officeDocument/2006/relationships/tableStyles" Target="/ppt/tableStyles.xml" Id="R68d7bdfb8d11424d" /><Relationship Type="http://schemas.openxmlformats.org/officeDocument/2006/relationships/slide" Target="/ppt/slides/slide1.xml" Id="R6e11dc0bdbe64a09" /><Relationship Type="http://schemas.openxmlformats.org/officeDocument/2006/relationships/slide" Target="/ppt/slides/slide2.xml" Id="R5ca545b0da1a4bd2" /><Relationship Type="http://schemas.openxmlformats.org/officeDocument/2006/relationships/slide" Target="/ppt/slides/slide3.xml" Id="R9a14381b7a434f45" /><Relationship Type="http://schemas.openxmlformats.org/officeDocument/2006/relationships/slide" Target="/ppt/slides/slide4.xml" Id="R5c9153522590465a" /><Relationship Type="http://schemas.openxmlformats.org/officeDocument/2006/relationships/slide" Target="/ppt/slides/slide5.xml" Id="R4b544586f6fc4bf5" /><Relationship Type="http://schemas.openxmlformats.org/officeDocument/2006/relationships/slide" Target="/ppt/slides/slide6.xml" Id="R1503e8386b364d41" /><Relationship Type="http://schemas.openxmlformats.org/officeDocument/2006/relationships/slide" Target="/ppt/slides/slide7.xml" Id="R0dbc9b377a04453d" /><Relationship Type="http://schemas.openxmlformats.org/officeDocument/2006/relationships/slide" Target="/ppt/slides/slide8.xml" Id="Rdb7977aeab9246cf" /><Relationship Type="http://schemas.openxmlformats.org/officeDocument/2006/relationships/slide" Target="/ppt/slides/slide9.xml" Id="R868495df4daa4389" /><Relationship Type="http://schemas.openxmlformats.org/officeDocument/2006/relationships/slide" Target="/ppt/slides/slide10.xml" Id="Rc88dfd6393cc45cb" /><Relationship Type="http://schemas.openxmlformats.org/officeDocument/2006/relationships/slide" Target="/ppt/slides/slide11.xml" Id="R79a17a769d1e4396" /><Relationship Type="http://schemas.openxmlformats.org/officeDocument/2006/relationships/slide" Target="/ppt/slides/slide12.xml" Id="Rb137d4e1709b47c1" /><Relationship Type="http://schemas.openxmlformats.org/officeDocument/2006/relationships/slide" Target="/ppt/slides/slide13.xml" Id="R87fe318415e44e90" /><Relationship Type="http://schemas.openxmlformats.org/officeDocument/2006/relationships/slide" Target="/ppt/slides/slide14.xml" Id="R29a496ca88ea4f96" /><Relationship Type="http://schemas.openxmlformats.org/officeDocument/2006/relationships/slide" Target="/ppt/slides/slide15.xml" Id="R10929ecd66a74951" /><Relationship Type="http://schemas.openxmlformats.org/officeDocument/2006/relationships/slide" Target="/ppt/slides/slide16.xml" Id="R0c536e6704154277" /><Relationship Type="http://schemas.openxmlformats.org/officeDocument/2006/relationships/slide" Target="/ppt/slides/slide17.xml" Id="R18f27e424142433f" /><Relationship Type="http://schemas.openxmlformats.org/officeDocument/2006/relationships/slide" Target="/ppt/slides/slide18.xml" Id="R763cb43c0aca44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5a4fb1efa641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7f8d06058a4d56" /><Relationship Type="http://schemas.openxmlformats.org/officeDocument/2006/relationships/notesMaster" Target="/ppt/notesMasters/notesMaster1.xml" Id="R18c02a1f0a0646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f4f9178fef4fc8" /><Relationship Type="http://schemas.openxmlformats.org/officeDocument/2006/relationships/notesMaster" Target="/ppt/notesMasters/notesMaster1.xml" Id="Rc252785b833d4e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3a5dc9f15f46a9" /><Relationship Type="http://schemas.openxmlformats.org/officeDocument/2006/relationships/notesMaster" Target="/ppt/notesMasters/notesMaster1.xml" Id="R13b7e55d7c1747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6bba5bad5c4ceb" /><Relationship Type="http://schemas.openxmlformats.org/officeDocument/2006/relationships/notesMaster" Target="/ppt/notesMasters/notesMaster1.xml" Id="R112ae337215a4d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8861d66b2546a9" /><Relationship Type="http://schemas.openxmlformats.org/officeDocument/2006/relationships/notesMaster" Target="/ppt/notesMasters/notesMaster1.xml" Id="R96682b2bf4c542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f48f8f504564836" /><Relationship Type="http://schemas.openxmlformats.org/officeDocument/2006/relationships/notesMaster" Target="/ppt/notesMasters/notesMaster1.xml" Id="R00733aa9464e4d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20f31beebb4283" /><Relationship Type="http://schemas.openxmlformats.org/officeDocument/2006/relationships/notesMaster" Target="/ppt/notesMasters/notesMaster1.xml" Id="Re9e466b6697844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661779f51a4c45" /><Relationship Type="http://schemas.openxmlformats.org/officeDocument/2006/relationships/notesMaster" Target="/ppt/notesMasters/notesMaster1.xml" Id="R8cd5ffe5ced54f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cd9dd59cbe4a2a" /><Relationship Type="http://schemas.openxmlformats.org/officeDocument/2006/relationships/notesMaster" Target="/ppt/notesMasters/notesMaster1.xml" Id="R27cbed8e48d348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ca14a895234934" /><Relationship Type="http://schemas.openxmlformats.org/officeDocument/2006/relationships/notesMaster" Target="/ppt/notesMasters/notesMaster1.xml" Id="R3d25b4be6f6b43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61e19175ca4949" /><Relationship Type="http://schemas.openxmlformats.org/officeDocument/2006/relationships/notesMaster" Target="/ppt/notesMasters/notesMaster1.xml" Id="R448de1ee1d834f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977b9c3b7134167" /><Relationship Type="http://schemas.openxmlformats.org/officeDocument/2006/relationships/notesMaster" Target="/ppt/notesMasters/notesMaster1.xml" Id="R45f5fc5826d1474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d1d1e02a52418f" /><Relationship Type="http://schemas.openxmlformats.org/officeDocument/2006/relationships/notesMaster" Target="/ppt/notesMasters/notesMaster1.xml" Id="Rd63dcb0ead8f45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8ca78779d34e87" /><Relationship Type="http://schemas.openxmlformats.org/officeDocument/2006/relationships/notesMaster" Target="/ppt/notesMasters/notesMaster1.xml" Id="Rd1f270b785dc4b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f9d5e3719cf4d44" /><Relationship Type="http://schemas.openxmlformats.org/officeDocument/2006/relationships/notesMaster" Target="/ppt/notesMasters/notesMaster1.xml" Id="R7f27b9c8ac024a3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e47660f24c34c9b" /><Relationship Type="http://schemas.openxmlformats.org/officeDocument/2006/relationships/notesMaster" Target="/ppt/notesMasters/notesMaster1.xml" Id="R2de8b27a8f724d7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bcf27ce7b54fbc" /><Relationship Type="http://schemas.openxmlformats.org/officeDocument/2006/relationships/notesMaster" Target="/ppt/notesMasters/notesMaster1.xml" Id="Rc0891c22104943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da33e0ba9b94aa9" /><Relationship Type="http://schemas.openxmlformats.org/officeDocument/2006/relationships/notesMaster" Target="/ppt/notesMasters/notesMaster1.xml" Id="R3b8383eaf03e42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</a:t>
            </a:r>
          </a:p>
          <a:p xmlns:a="http://schemas.openxmlformats.org/drawingml/2006/main">
            <a:r>
              <a:t>- Full-slide source PDF image reused because the company cover is locked.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2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3</a:t>
            </a:r>
          </a:p>
          <a:p xmlns:a="http://schemas.openxmlformats.org/drawingml/2006/main">
            <a:r>
              <a:t>- PDF slide 3 left-side building photograph reused as an internal source crop.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4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5</a:t>
            </a:r>
          </a:p>
          <a:p xmlns:a="http://schemas.openxmlformats.org/drawingml/2006/main">
            <a:r>
              <a:t>- Four medical symptom images are cropped from flattened PDF slide 5.</a:t>
            </a:r>
          </a:p>
          <a:p xmlns:a="http://schemas.openxmlformats.org/drawingml/2006/main">
            <a:r>
              <a:t>- These crops remain internal-source assets and should be replaced by approved high-resolution originals when available.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6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7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8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9</a:t>
            </a:r>
          </a:p>
          <a:p xmlns:a="http://schemas.openxmlformats.org/drawingml/2006/main">
            <a:r>
              <a:t>- Product packshot is cropped from flattened PDF slide 9.</a:t>
            </a:r>
          </a:p>
          <a:p xmlns:a="http://schemas.openxmlformats.org/drawingml/2006/main">
            <a:r>
              <a:t>- Replace with an authorized high-resolution packshot before production validation.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10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11</a:t>
            </a:r>
          </a:p>
          <a:p xmlns:a="http://schemas.openxmlformats.org/drawingml/2006/main">
            <a:r>
              <a:t>- Product packshot is cropped from flattened PDF slide 11.</a:t>
            </a:r>
          </a:p>
          <a:p xmlns:a="http://schemas.openxmlformats.org/drawingml/2006/main">
            <a:r>
              <a:t>- Replace with an authorized high-resolution packshot before production validation.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12</a:t>
            </a:r>
          </a:p>
          <a:p xmlns:a="http://schemas.openxmlformats.org/drawingml/2006/main">
            <a:r>
              <a:t>- Product packshot is cropped from flattened PDF slide 12.</a:t>
            </a:r>
          </a:p>
          <a:p xmlns:a="http://schemas.openxmlformats.org/drawingml/2006/main">
            <a:r>
              <a:t>- Child, adult, and senior illustrations are cropped from flattened PDF slide 12 and reused as internal-source assets.</a:t>
            </a:r>
          </a:p>
          <a:p xmlns:a="http://schemas.openxmlformats.org/drawingml/2006/main">
            <a:r>
              <a:t>- Replace all four slide-12 crops with approved high-resolution originals when available.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13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14</a:t>
            </a:r>
          </a:p>
          <a:p xmlns:a="http://schemas.openxmlformats.org/drawingml/2006/main">
            <a:r>
              <a:t>- Customer throat-pain photograph is cropped from flattened PDF slide 14.</a:t>
            </a:r>
          </a:p>
          <a:p xmlns:a="http://schemas.openxmlformats.org/drawingml/2006/main">
            <a:r>
              <a:t>- Replace with the approved original photograph if available.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15</a:t>
            </a:r>
          </a:p>
          <a:p xmlns:a="http://schemas.openxmlformats.org/drawingml/2006/main">
            <a:r>
              <a:t>- No source-PDF image crop reused on this editable page.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16</a:t>
            </a:r>
          </a:p>
          <a:p xmlns:a="http://schemas.openxmlformats.org/drawingml/2006/main">
            <a:r>
              <a:t>- Chrysanthemum and mung-bean soup images are cropped from flattened PDF slide 16.</a:t>
            </a:r>
          </a:p>
          <a:p xmlns:a="http://schemas.openxmlformats.org/drawingml/2006/main">
            <a:r>
              <a:t>- Replace with approved high-resolution originals if available.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17</a:t>
            </a:r>
          </a:p>
          <a:p xmlns:a="http://schemas.openxmlformats.org/drawingml/2006/main">
            <a:r>
              <a:t>- The product presentation crop is reused from flattened PDF slide 17.</a:t>
            </a:r>
          </a:p>
          <a:p xmlns:a="http://schemas.openxmlformats.org/drawingml/2006/main">
            <a:r>
              <a:t>- All product data and claims are transcribed from the supplied internal courseware and require the normal internal review.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internal PDF: /Users/liminrong/Downloads/商品培训课件2.pdf</a:t>
            </a:r>
          </a:p>
          <a:p xmlns:a="http://schemas.openxmlformats.org/drawingml/2006/main">
            <a:r>
              <a:t>- Source slide: 18</a:t>
            </a:r>
          </a:p>
          <a:p xmlns:a="http://schemas.openxmlformats.org/drawingml/2006/main">
            <a:r>
              <a:t>- Product images are cropped from flattened PDF slide 18.</a:t>
            </a:r>
          </a:p>
          <a:p xmlns:a="http://schemas.openxmlformats.org/drawingml/2006/main">
            <a:r>
              <a:t>- The editable wording keeps the source structure; high-risk usage wording must be confirmed by the user's pharmacist/compliance team before production use.</a:t>
            </a:r>
          </a:p>
          <a:p xmlns:a="http://schemas.openxmlformats.org/drawingml/2006/main">
            <a:r>
              <a:t>- Visible medical/product copy is transcribed from the supplied internal courseware and still requires the user's normal pharmacist/compliance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cf86ba2bfe45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c98ef2bd6045a6" /><Relationship Type="http://schemas.openxmlformats.org/officeDocument/2006/relationships/slideLayout" Target="/ppt/slideLayouts/slideLayout1.xml" Id="Rd72f6f8cf8c746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2f6f8cf8c746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e2e436dd154cbe" /><Relationship Type="http://schemas.openxmlformats.org/officeDocument/2006/relationships/image" Target="/ppt/media/image.png" Id="R5f89f6450cce45bb" /><Relationship Type="http://schemas.openxmlformats.org/officeDocument/2006/relationships/notesSlide" Target="/ppt/notesSlides/notesSlide1.xml" Id="Rcc7467939c7e47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e838ec66f43df" /><Relationship Type="http://schemas.openxmlformats.org/officeDocument/2006/relationships/notesSlide" Target="/ppt/notesSlides/notesSlide2.xml" Id="R3af5b794c56b4f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703262606469a" /><Relationship Type="http://schemas.openxmlformats.org/officeDocument/2006/relationships/image" Target="/ppt/media/image2.png" Id="Ra9ee0894f1824960" /><Relationship Type="http://schemas.openxmlformats.org/officeDocument/2006/relationships/notesSlide" Target="/ppt/notesSlides/notesSlide3.xml" Id="R69c14b67f2d840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813ee88ed40d1" /><Relationship Type="http://schemas.openxmlformats.org/officeDocument/2006/relationships/notesSlide" Target="/ppt/notesSlides/notesSlide4.xml" Id="R6c0d255a974b4a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31c55448e45e2" /><Relationship Type="http://schemas.openxmlformats.org/officeDocument/2006/relationships/image" Target="/ppt/media/image3.png" Id="R984f0d024fdc4610" /><Relationship Type="http://schemas.openxmlformats.org/officeDocument/2006/relationships/image" Target="/ppt/media/image4.png" Id="Rb2c94c29dee84f4f" /><Relationship Type="http://schemas.openxmlformats.org/officeDocument/2006/relationships/image" Target="/ppt/media/image5.png" Id="R55fc416c22a4436e" /><Relationship Type="http://schemas.openxmlformats.org/officeDocument/2006/relationships/image" Target="/ppt/media/image6.png" Id="Re2b2ad402bdb49ee" /><Relationship Type="http://schemas.openxmlformats.org/officeDocument/2006/relationships/notesSlide" Target="/ppt/notesSlides/notesSlide5.xml" Id="R2a3e63c4449144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758e941dd47bc" /><Relationship Type="http://schemas.openxmlformats.org/officeDocument/2006/relationships/notesSlide" Target="/ppt/notesSlides/notesSlide6.xml" Id="Rd5231318d77d41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fad901fb94649" /><Relationship Type="http://schemas.openxmlformats.org/officeDocument/2006/relationships/notesSlide" Target="/ppt/notesSlides/notesSlide7.xml" Id="R7d372758b4ee4f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97fc8c908467d" /><Relationship Type="http://schemas.openxmlformats.org/officeDocument/2006/relationships/notesSlide" Target="/ppt/notesSlides/notesSlide8.xml" Id="R96680dccbdac48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06930386d4bd8" /><Relationship Type="http://schemas.openxmlformats.org/officeDocument/2006/relationships/image" Target="/ppt/media/image7.png" Id="R0b39cb99ceae477f" /><Relationship Type="http://schemas.openxmlformats.org/officeDocument/2006/relationships/notesSlide" Target="/ppt/notesSlides/notesSlide9.xml" Id="Rc61a3b32d9104c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254f53d2a409d" /><Relationship Type="http://schemas.openxmlformats.org/officeDocument/2006/relationships/notesSlide" Target="/ppt/notesSlides/notesSlide10.xml" Id="R322b8a76b93141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e1a0d77df46d4" /><Relationship Type="http://schemas.openxmlformats.org/officeDocument/2006/relationships/image" Target="/ppt/media/image8.png" Id="R7075560222b849b1" /><Relationship Type="http://schemas.openxmlformats.org/officeDocument/2006/relationships/notesSlide" Target="/ppt/notesSlides/notesSlide11.xml" Id="R02310b1a793648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854ed926849bf" /><Relationship Type="http://schemas.openxmlformats.org/officeDocument/2006/relationships/image" Target="/ppt/media/image9.png" Id="R3f314e08fb504e81" /><Relationship Type="http://schemas.openxmlformats.org/officeDocument/2006/relationships/image" Target="/ppt/media/image10.png" Id="R2ae5924eb6294bff" /><Relationship Type="http://schemas.openxmlformats.org/officeDocument/2006/relationships/image" Target="/ppt/media/image11.png" Id="R994b40b627c54fa6" /><Relationship Type="http://schemas.openxmlformats.org/officeDocument/2006/relationships/image" Target="/ppt/media/image12.png" Id="R780b062f258e4154" /><Relationship Type="http://schemas.openxmlformats.org/officeDocument/2006/relationships/notesSlide" Target="/ppt/notesSlides/notesSlide12.xml" Id="Rf3c5002de8e046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4ba9d60c547a5" /><Relationship Type="http://schemas.openxmlformats.org/officeDocument/2006/relationships/notesSlide" Target="/ppt/notesSlides/notesSlide13.xml" Id="Rc11ffb6adb854b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9034285d5472c" /><Relationship Type="http://schemas.openxmlformats.org/officeDocument/2006/relationships/image" Target="/ppt/media/image13.png" Id="Re41e477689ed4f0c" /><Relationship Type="http://schemas.openxmlformats.org/officeDocument/2006/relationships/notesSlide" Target="/ppt/notesSlides/notesSlide14.xml" Id="Rfc4b92547a7048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f84ee0a0c4705" /><Relationship Type="http://schemas.openxmlformats.org/officeDocument/2006/relationships/notesSlide" Target="/ppt/notesSlides/notesSlide15.xml" Id="R773fb74865874a2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98f4e6acb4c17" /><Relationship Type="http://schemas.openxmlformats.org/officeDocument/2006/relationships/image" Target="/ppt/media/image14.png" Id="R3ee02f7e988042b0" /><Relationship Type="http://schemas.openxmlformats.org/officeDocument/2006/relationships/image" Target="/ppt/media/image15.png" Id="R8b494a0087d14dbd" /><Relationship Type="http://schemas.openxmlformats.org/officeDocument/2006/relationships/notesSlide" Target="/ppt/notesSlides/notesSlide16.xml" Id="R0590c42fe74e46f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19549b1f84fa3" /><Relationship Type="http://schemas.openxmlformats.org/officeDocument/2006/relationships/image" Target="/ppt/media/image16.png" Id="Rcc78de770379444d" /><Relationship Type="http://schemas.openxmlformats.org/officeDocument/2006/relationships/notesSlide" Target="/ppt/notesSlides/notesSlide17.xml" Id="R52bc2e2894f943d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81d44fed84776" /><Relationship Type="http://schemas.openxmlformats.org/officeDocument/2006/relationships/image" Target="/ppt/media/image17.png" Id="R1f25db9206c3412e" /><Relationship Type="http://schemas.openxmlformats.org/officeDocument/2006/relationships/image" Target="/ppt/media/image18.png" Id="Rebce131bc7924d5e" /><Relationship Type="http://schemas.openxmlformats.org/officeDocument/2006/relationships/notesSlide" Target="/ppt/notesSlides/notesSlide18.xml" Id="R0191494e885f45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9f6450cce45bb"/>
          <a:stretch xmlns:a="http://schemas.openxmlformats.org/drawingml/2006/main"/>
        </p:blipFill>
        <p:spPr>
          <a:xfrm xmlns:a="http://schemas.openxmlformats.org/drawingml/2006/main">
            <a:off x="233107" y="0"/>
            <a:ext cx="11725786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624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058BAD72-D1F0-4668-A449-65D8FEAB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714BF81B-FE0E-4464-B35C-0218EC17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14501A18-0525-46D0-8AC0-A7DAD781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精准辨证是中医临床的基石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B5A80D2D-900A-4371-ABCE-31837378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319DC577-E979-477E-B985-A5358F93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8531A75C-D855-4218-B946-3AE12D59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opening-thesis">
            <a:extLst xmlns:a="http://schemas.openxmlformats.org/drawingml/2006/main">
              <a:ext uri="{FF2B5EF4-FFF2-40B4-BE49-F238E27FC236}">
                <a16:creationId xmlns:a16="http://schemas.microsoft.com/office/drawing/2014/main" id="{3A6917B7-0A9A-40B1-A326-B961134D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66800"/>
            <a:ext cx="10477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1">
                <a:solidFill>
                  <a:srgbClr val="E60012"/>
                </a:solidFill>
              </a:rPr>
              <a:t>辨证论治</a:t>
            </a:r>
            <a:r>
              <a:rPr sz="1650" b="0">
                <a:solidFill>
                  <a:srgbClr val="FFFFFF"/>
                </a:solidFill>
              </a:rPr>
              <a:t>是中医的灵魂，而</a:t>
            </a:r>
            <a:r>
              <a:rPr sz="1650" b="1">
                <a:solidFill>
                  <a:srgbClr val="E60012"/>
                </a:solidFill>
              </a:rPr>
              <a:t>精准辨证</a:t>
            </a:r>
            <a:r>
              <a:rPr sz="1650" b="0">
                <a:solidFill>
                  <a:srgbClr val="FFFFFF"/>
                </a:solidFill>
              </a:rPr>
              <a:t>则是临床疗效的根本保障。唯有在纷繁复杂的症状中</a:t>
            </a:r>
          </a:p>
          <a:p xmlns:a="http://schemas.openxmlformats.org/drawingml/2006/main"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抓住证候本质，才能实现</a:t>
            </a:r>
            <a:r>
              <a:rPr sz="1650" b="1">
                <a:solidFill>
                  <a:srgbClr val="E60012"/>
                </a:solidFill>
              </a:rPr>
              <a:t>理、法、方、药</a:t>
            </a:r>
            <a:r>
              <a:rPr sz="1650" b="0">
                <a:solidFill>
                  <a:srgbClr val="FFFFFF"/>
                </a:solidFill>
              </a:rPr>
              <a:t>的一脉贯通。</a:t>
            </a:r>
          </a:p>
        </p:txBody>
      </p:sp>
      <p:sp>
        <p:nvSpPr>
          <p:cNvPr id="8" name="opening-focus-surface">
            <a:extLst xmlns:a="http://schemas.openxmlformats.org/drawingml/2006/main">
              <a:ext uri="{FF2B5EF4-FFF2-40B4-BE49-F238E27FC236}">
                <a16:creationId xmlns:a16="http://schemas.microsoft.com/office/drawing/2014/main" id="{E43A1807-FA2D-4CAA-A69A-19D7E5B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9" name="opening-focus-accent">
            <a:extLst xmlns:a="http://schemas.openxmlformats.org/drawingml/2006/main">
              <a:ext uri="{FF2B5EF4-FFF2-40B4-BE49-F238E27FC236}">
                <a16:creationId xmlns:a16="http://schemas.microsoft.com/office/drawing/2014/main" id="{5ADC402C-BC27-4E76-84C0-3B8D4AE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pening-focus-title">
            <a:extLst xmlns:a="http://schemas.openxmlformats.org/drawingml/2006/main">
              <a:ext uri="{FF2B5EF4-FFF2-40B4-BE49-F238E27FC236}">
                <a16:creationId xmlns:a16="http://schemas.microsoft.com/office/drawing/2014/main" id="{FF435AF7-AF25-48B1-918C-C59EED06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聚焦核心：风热证</a:t>
            </a:r>
          </a:p>
        </p:txBody>
      </p:sp>
      <p:sp>
        <p:nvSpPr>
          <p:cNvPr id="11" name="opening-focus-divider">
            <a:extLst xmlns:a="http://schemas.openxmlformats.org/drawingml/2006/main">
              <a:ext uri="{FF2B5EF4-FFF2-40B4-BE49-F238E27FC236}">
                <a16:creationId xmlns:a16="http://schemas.microsoft.com/office/drawing/2014/main" id="{F7279492-D5EC-4781-8600-D11BE722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194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2" name="opening-focus-body">
            <a:extLst xmlns:a="http://schemas.openxmlformats.org/drawingml/2006/main">
              <a:ext uri="{FF2B5EF4-FFF2-40B4-BE49-F238E27FC236}">
                <a16:creationId xmlns:a16="http://schemas.microsoft.com/office/drawing/2014/main" id="{6719EDA6-BF74-4154-A268-03F8C56D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33700"/>
            <a:ext cx="2895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深入剖析风热证的核心临床表现，从</a:t>
            </a:r>
            <a:r>
              <a:rPr sz="1575" b="1">
                <a:solidFill>
                  <a:srgbClr val="303741"/>
                </a:solidFill>
              </a:rPr>
              <a:t>发热、咽痛、舌象</a:t>
            </a:r>
            <a:r>
              <a:rPr sz="1575" b="0">
                <a:solidFill>
                  <a:srgbClr val="303741"/>
                </a:solidFill>
              </a:rPr>
              <a:t>等维度，提炼其最具代表性的辨证要点。</a:t>
            </a:r>
          </a:p>
        </p:txBody>
      </p:sp>
      <p:sp>
        <p:nvSpPr>
          <p:cNvPr id="13" name="opening-compare-surface">
            <a:extLst xmlns:a="http://schemas.openxmlformats.org/drawingml/2006/main">
              <a:ext uri="{FF2B5EF4-FFF2-40B4-BE49-F238E27FC236}">
                <a16:creationId xmlns:a16="http://schemas.microsoft.com/office/drawing/2014/main" id="{4B735624-83F7-4D05-B1B5-776651A5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4" name="opening-compare-accent">
            <a:extLst xmlns:a="http://schemas.openxmlformats.org/drawingml/2006/main">
              <a:ext uri="{FF2B5EF4-FFF2-40B4-BE49-F238E27FC236}">
                <a16:creationId xmlns:a16="http://schemas.microsoft.com/office/drawing/2014/main" id="{2DC078DF-2690-4129-9395-07FEC5DB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pening-compare-title">
            <a:extLst xmlns:a="http://schemas.openxmlformats.org/drawingml/2006/main">
              <a:ext uri="{FF2B5EF4-FFF2-40B4-BE49-F238E27FC236}">
                <a16:creationId xmlns:a16="http://schemas.microsoft.com/office/drawing/2014/main" id="{DB46FC48-591E-475A-B979-13B0FAA7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003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关键鉴别：异于风寒</a:t>
            </a:r>
          </a:p>
        </p:txBody>
      </p:sp>
      <p:sp>
        <p:nvSpPr>
          <p:cNvPr id="16" name="opening-compare-divider">
            <a:extLst xmlns:a="http://schemas.openxmlformats.org/drawingml/2006/main">
              <a:ext uri="{FF2B5EF4-FFF2-40B4-BE49-F238E27FC236}">
                <a16:creationId xmlns:a16="http://schemas.microsoft.com/office/drawing/2014/main" id="{48A36D01-CFFB-48AC-84CB-6FC75EB8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194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7" name="opening-compare-body">
            <a:extLst xmlns:a="http://schemas.openxmlformats.org/drawingml/2006/main">
              <a:ext uri="{FF2B5EF4-FFF2-40B4-BE49-F238E27FC236}">
                <a16:creationId xmlns:a16="http://schemas.microsoft.com/office/drawing/2014/main" id="{030D8F49-F186-4E24-BF4E-67B038FD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33700"/>
            <a:ext cx="2895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对比风热与风寒证在</a:t>
            </a:r>
            <a:r>
              <a:rPr sz="1575" b="1">
                <a:solidFill>
                  <a:srgbClr val="303741"/>
                </a:solidFill>
              </a:rPr>
              <a:t>寒热轻重、口渴与否、鼻涕性质</a:t>
            </a:r>
            <a:r>
              <a:rPr sz="1575" b="0">
                <a:solidFill>
                  <a:srgbClr val="303741"/>
                </a:solidFill>
              </a:rPr>
              <a:t>的关键差异，厘清易混淆症状，避免辨证失误。</a:t>
            </a:r>
          </a:p>
        </p:txBody>
      </p:sp>
      <p:sp>
        <p:nvSpPr>
          <p:cNvPr id="18" name="opening-apply-surface">
            <a:extLst xmlns:a="http://schemas.openxmlformats.org/drawingml/2006/main">
              <a:ext uri="{FF2B5EF4-FFF2-40B4-BE49-F238E27FC236}">
                <a16:creationId xmlns:a16="http://schemas.microsoft.com/office/drawing/2014/main" id="{3664858D-83DB-4FAA-8E6E-EFC96B3D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66950"/>
            <a:ext cx="3238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9" name="opening-apply-accent">
            <a:extLst xmlns:a="http://schemas.openxmlformats.org/drawingml/2006/main">
              <a:ext uri="{FF2B5EF4-FFF2-40B4-BE49-F238E27FC236}">
                <a16:creationId xmlns:a16="http://schemas.microsoft.com/office/drawing/2014/main" id="{67359E59-A251-4D75-8C52-B7A3CFEC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66950"/>
            <a:ext cx="571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pening-apply-title">
            <a:extLst xmlns:a="http://schemas.openxmlformats.org/drawingml/2006/main">
              <a:ext uri="{FF2B5EF4-FFF2-40B4-BE49-F238E27FC236}">
                <a16:creationId xmlns:a16="http://schemas.microsoft.com/office/drawing/2014/main" id="{AE91DF82-12BE-4968-8E06-17FD33BB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知行合一：分型用药</a:t>
            </a:r>
          </a:p>
        </p:txBody>
      </p:sp>
      <p:sp>
        <p:nvSpPr>
          <p:cNvPr id="21" name="opening-apply-divider">
            <a:extLst xmlns:a="http://schemas.openxmlformats.org/drawingml/2006/main">
              <a:ext uri="{FF2B5EF4-FFF2-40B4-BE49-F238E27FC236}">
                <a16:creationId xmlns:a16="http://schemas.microsoft.com/office/drawing/2014/main" id="{DE7B19CE-6A2C-4166-B367-BF9581CE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194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2" name="opening-apply-body">
            <a:extLst xmlns:a="http://schemas.openxmlformats.org/drawingml/2006/main">
              <a:ext uri="{FF2B5EF4-FFF2-40B4-BE49-F238E27FC236}">
                <a16:creationId xmlns:a16="http://schemas.microsoft.com/office/drawing/2014/main" id="{A61B1065-C028-4CCE-960D-FD1C50DF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33700"/>
            <a:ext cx="2895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细化风热证的不同</a:t>
            </a:r>
            <a:r>
              <a:rPr sz="1575" b="1">
                <a:solidFill>
                  <a:srgbClr val="303741"/>
                </a:solidFill>
              </a:rPr>
              <a:t>分型</a:t>
            </a:r>
            <a:r>
              <a:rPr sz="1575" b="0">
                <a:solidFill>
                  <a:srgbClr val="303741"/>
                </a:solidFill>
              </a:rPr>
              <a:t>，结合经典方剂，讲解如何根据具体兼证灵活化裁，将辨证结果转化为</a:t>
            </a:r>
            <a:r>
              <a:rPr sz="1575" b="1">
                <a:solidFill>
                  <a:srgbClr val="303741"/>
                </a:solidFill>
              </a:rPr>
              <a:t>精准用药方案</a:t>
            </a:r>
            <a:r>
              <a:rPr sz="1575" b="0">
                <a:solidFill>
                  <a:srgbClr val="303741"/>
                </a:solidFill>
              </a:rPr>
              <a:t>。</a:t>
            </a:r>
          </a:p>
        </p:txBody>
      </p:sp>
      <p:sp>
        <p:nvSpPr>
          <p:cNvPr id="23" name="opening-conclusion">
            <a:extLst xmlns:a="http://schemas.openxmlformats.org/drawingml/2006/main">
              <a:ext uri="{FF2B5EF4-FFF2-40B4-BE49-F238E27FC236}">
                <a16:creationId xmlns:a16="http://schemas.microsoft.com/office/drawing/2014/main" id="{7108C57F-200F-446A-AD6D-9E5847CF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1047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愿诸位练就一双辨证的</a:t>
            </a:r>
            <a:r>
              <a:rPr sz="1500" b="1">
                <a:solidFill>
                  <a:srgbClr val="FFFFFF"/>
                </a:solidFill>
              </a:rPr>
              <a:t>“慧眼”</a:t>
            </a:r>
            <a:r>
              <a:rPr sz="1500" b="0">
                <a:solidFill>
                  <a:srgbClr val="FFFFFF"/>
                </a:solidFill>
              </a:rPr>
              <a:t>，于细微处见真章，在临床中</a:t>
            </a:r>
            <a:r>
              <a:rPr sz="1500" b="1">
                <a:solidFill>
                  <a:srgbClr val="FFFFFF"/>
                </a:solidFill>
              </a:rPr>
              <a:t>精准识证、果敢用药</a:t>
            </a:r>
            <a:r>
              <a:rPr sz="1500" b="0">
                <a:solidFill>
                  <a:srgbClr val="FFFFFF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99381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ee0894f1824960"/>
          <a:srcRect xmlns:a="http://schemas.openxmlformats.org/drawingml/2006/main" l="0" t="1763" r="0" b="17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524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agenda-title">
            <a:extLst xmlns:a="http://schemas.openxmlformats.org/drawingml/2006/main">
              <a:ext uri="{FF2B5EF4-FFF2-40B4-BE49-F238E27FC236}">
                <a16:creationId xmlns:a16="http://schemas.microsoft.com/office/drawing/2014/main" id="{B5991B1B-B393-47B0-9E6A-E232199C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62000"/>
            <a:ext cx="381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9900"/>
                </a:solidFill>
              </a:defRPr>
            </a:pPr>
            <a:r>
              <a:rPr sz="4350" b="1">
                <a:solidFill>
                  <a:srgbClr val="009900"/>
                </a:solidFill>
              </a:rPr>
              <a:t>目 录</a:t>
            </a:r>
          </a:p>
        </p:txBody>
      </p:sp>
      <p:sp>
        <p:nvSpPr>
          <p:cNvPr id="3" name="agenda-rule">
            <a:extLst xmlns:a="http://schemas.openxmlformats.org/drawingml/2006/main">
              <a:ext uri="{FF2B5EF4-FFF2-40B4-BE49-F238E27FC236}">
                <a16:creationId xmlns:a16="http://schemas.microsoft.com/office/drawing/2014/main" id="{F6B3A24D-7A48-4E0B-A627-DFA20B50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666875"/>
            <a:ext cx="495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A817"/>
          </a:solidFill>
          <a:ln xmlns:a="http://schemas.openxmlformats.org/drawingml/2006/main" w="0">
            <a:solidFill>
              <a:srgbClr val="43A817"/>
            </a:solidFill>
            <a:prstDash val="solid"/>
          </a:ln>
        </p:spPr>
      </p:sp>
      <p:sp>
        <p:nvSpPr>
          <p:cNvPr id="4" name="agenda-item-1">
            <a:extLst xmlns:a="http://schemas.openxmlformats.org/drawingml/2006/main">
              <a:ext uri="{FF2B5EF4-FFF2-40B4-BE49-F238E27FC236}">
                <a16:creationId xmlns:a16="http://schemas.microsoft.com/office/drawing/2014/main" id="{AF20D350-83B3-4C91-9792-C997EC07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955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E7378"/>
                </a:solidFill>
              </a:defRPr>
            </a:pPr>
            <a:r>
              <a:rPr sz="1800" b="1">
                <a:solidFill>
                  <a:srgbClr val="6E7378"/>
                </a:solidFill>
              </a:rPr>
              <a:t>一  疾病篇—风热证</a:t>
            </a:r>
          </a:p>
        </p:txBody>
      </p:sp>
      <p:sp>
        <p:nvSpPr>
          <p:cNvPr id="5" name="agenda-item-2">
            <a:extLst xmlns:a="http://schemas.openxmlformats.org/drawingml/2006/main">
              <a:ext uri="{FF2B5EF4-FFF2-40B4-BE49-F238E27FC236}">
                <a16:creationId xmlns:a16="http://schemas.microsoft.com/office/drawing/2014/main" id="{F81C0A19-6229-461F-B38B-F9AA5637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622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E7378"/>
                </a:solidFill>
              </a:defRPr>
            </a:pPr>
            <a:r>
              <a:rPr sz="1800" b="1">
                <a:solidFill>
                  <a:srgbClr val="6E7378"/>
                </a:solidFill>
              </a:rPr>
              <a:t>二  商品篇—穿心莲内酯滴丸的核心优势</a:t>
            </a:r>
          </a:p>
        </p:txBody>
      </p:sp>
      <p:sp>
        <p:nvSpPr>
          <p:cNvPr id="6" name="agenda-item-3">
            <a:extLst xmlns:a="http://schemas.openxmlformats.org/drawingml/2006/main">
              <a:ext uri="{FF2B5EF4-FFF2-40B4-BE49-F238E27FC236}">
                <a16:creationId xmlns:a16="http://schemas.microsoft.com/office/drawing/2014/main" id="{40A11ECD-71C2-4424-B8D4-FDAFBFAA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290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E7378"/>
                </a:solidFill>
              </a:defRPr>
            </a:pPr>
            <a:r>
              <a:rPr sz="1800" b="1">
                <a:solidFill>
                  <a:srgbClr val="6E7378"/>
                </a:solidFill>
              </a:rPr>
              <a:t>三  场景篇—什么时候推荐穿心莲内酯滴丸</a:t>
            </a:r>
          </a:p>
        </p:txBody>
      </p:sp>
      <p:sp>
        <p:nvSpPr>
          <p:cNvPr id="7" name="agenda-item-4">
            <a:extLst xmlns:a="http://schemas.openxmlformats.org/drawingml/2006/main">
              <a:ext uri="{FF2B5EF4-FFF2-40B4-BE49-F238E27FC236}">
                <a16:creationId xmlns:a16="http://schemas.microsoft.com/office/drawing/2014/main" id="{59B385F4-549E-4C77-A3A7-02249B3E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95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E7378"/>
                </a:solidFill>
              </a:defRPr>
            </a:pPr>
            <a:r>
              <a:rPr sz="1800" b="1">
                <a:solidFill>
                  <a:srgbClr val="6E7378"/>
                </a:solidFill>
              </a:rPr>
              <a:t>四  关怀篇—日常生活叮嘱</a:t>
            </a:r>
          </a:p>
        </p:txBody>
      </p:sp>
      <p:sp>
        <p:nvSpPr>
          <p:cNvPr id="8" name="agenda-item-5">
            <a:extLst xmlns:a="http://schemas.openxmlformats.org/drawingml/2006/main">
              <a:ext uri="{FF2B5EF4-FFF2-40B4-BE49-F238E27FC236}">
                <a16:creationId xmlns:a16="http://schemas.microsoft.com/office/drawing/2014/main" id="{B2D4388A-F1C2-46B3-98E7-C27039B2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625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E7378"/>
                </a:solidFill>
              </a:defRPr>
            </a:pPr>
            <a:r>
              <a:rPr sz="1800" b="1">
                <a:solidFill>
                  <a:srgbClr val="6E7378"/>
                </a:solidFill>
              </a:rPr>
              <a:t>五  权重篇—活动权重</a:t>
            </a:r>
          </a:p>
        </p:txBody>
      </p:sp>
      <p:sp>
        <p:nvSpPr>
          <p:cNvPr id="9" name="agenda-internal-notice">
            <a:extLst xmlns:a="http://schemas.openxmlformats.org/drawingml/2006/main">
              <a:ext uri="{FF2B5EF4-FFF2-40B4-BE49-F238E27FC236}">
                <a16:creationId xmlns:a16="http://schemas.microsoft.com/office/drawing/2014/main" id="{3E1B5E5A-81AD-4167-907C-C78E01A8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293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</p:spTree>
    <p:extLst>
      <p:ext uri="{BB962C8B-B14F-4D97-AF65-F5344CB8AC3E}">
        <p14:creationId xmlns:p14="http://schemas.microsoft.com/office/powerpoint/2010/main" val="17029544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B1169B63-E37A-45DE-A515-93F2C49B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BFE94C0C-D310-4B43-8DCA-6CED076C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1.1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2F96A82B-3B58-4354-8460-9674F004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疾病篇——风热证的定义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641DB6E5-164E-4849-94D0-CBB6CE7E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48E718E3-0936-4F3F-8C76-2C8B1C41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B93E7266-57DA-4508-A9DF-11E998B2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definition-surface">
            <a:extLst xmlns:a="http://schemas.openxmlformats.org/drawingml/2006/main">
              <a:ext uri="{FF2B5EF4-FFF2-40B4-BE49-F238E27FC236}">
                <a16:creationId xmlns:a16="http://schemas.microsoft.com/office/drawing/2014/main" id="{ACFD1265-54D1-4DB4-8205-8A9708EA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52500"/>
            <a:ext cx="1047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8" name="definition-accent">
            <a:extLst xmlns:a="http://schemas.openxmlformats.org/drawingml/2006/main">
              <a:ext uri="{FF2B5EF4-FFF2-40B4-BE49-F238E27FC236}">
                <a16:creationId xmlns:a16="http://schemas.microsoft.com/office/drawing/2014/main" id="{8DEA78FD-AF40-4469-955F-2A248005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52500"/>
            <a:ext cx="571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finition-title">
            <a:extLst xmlns:a="http://schemas.openxmlformats.org/drawingml/2006/main">
              <a:ext uri="{FF2B5EF4-FFF2-40B4-BE49-F238E27FC236}">
                <a16:creationId xmlns:a16="http://schemas.microsoft.com/office/drawing/2014/main" id="{D4A8BEED-5027-49F9-8A70-DE2E0AFA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85850"/>
            <a:ext cx="1017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什么是风热证？</a:t>
            </a:r>
          </a:p>
        </p:txBody>
      </p:sp>
      <p:sp>
        <p:nvSpPr>
          <p:cNvPr id="10" name="definition-divider">
            <a:extLst xmlns:a="http://schemas.openxmlformats.org/drawingml/2006/main">
              <a:ext uri="{FF2B5EF4-FFF2-40B4-BE49-F238E27FC236}">
                <a16:creationId xmlns:a16="http://schemas.microsoft.com/office/drawing/2014/main" id="{EC96926D-C80A-46D7-8F2A-B4882450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50495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1" name="definition-body">
            <a:extLst xmlns:a="http://schemas.openxmlformats.org/drawingml/2006/main">
              <a:ext uri="{FF2B5EF4-FFF2-40B4-BE49-F238E27FC236}">
                <a16:creationId xmlns:a16="http://schemas.microsoft.com/office/drawing/2014/main" id="{436C5700-AE46-48B4-A5FB-E9C8CD2A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19250"/>
            <a:ext cx="10134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03741"/>
                </a:solidFill>
              </a:defRPr>
            </a:pPr>
            <a:r>
              <a:rPr sz="1950" b="0">
                <a:solidFill>
                  <a:srgbClr val="303741"/>
                </a:solidFill>
              </a:rPr>
              <a:t>指风热之邪侵袭人体肌表，导致卫气被遏、肺失宣肃所表现出的证候。通俗而言，即身体受到</a:t>
            </a:r>
            <a:r>
              <a:rPr sz="1950" b="1">
                <a:solidFill>
                  <a:srgbClr val="303741"/>
                </a:solidFill>
              </a:rPr>
              <a:t>“热风”侵袭</a:t>
            </a:r>
            <a:r>
              <a:rPr sz="1950" b="0">
                <a:solidFill>
                  <a:srgbClr val="303741"/>
                </a:solidFill>
              </a:rPr>
              <a:t>，引发</a:t>
            </a:r>
            <a:r>
              <a:rPr sz="1950" b="1">
                <a:solidFill>
                  <a:srgbClr val="303741"/>
                </a:solidFill>
              </a:rPr>
              <a:t>发热、咽痛、口干</a:t>
            </a:r>
            <a:r>
              <a:rPr sz="1950" b="0">
                <a:solidFill>
                  <a:srgbClr val="303741"/>
                </a:solidFill>
              </a:rPr>
              <a:t>等一系列“热”性症状，是中医外感表证中常见的证型之一。</a:t>
            </a:r>
          </a:p>
        </p:txBody>
      </p:sp>
      <p:sp>
        <p:nvSpPr>
          <p:cNvPr id="12" name="cause-surface">
            <a:extLst xmlns:a="http://schemas.openxmlformats.org/drawingml/2006/main">
              <a:ext uri="{FF2B5EF4-FFF2-40B4-BE49-F238E27FC236}">
                <a16:creationId xmlns:a16="http://schemas.microsoft.com/office/drawing/2014/main" id="{0B02E19F-8E39-416D-B1D3-0C6A727C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4953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3" name="cause-accent">
            <a:extLst xmlns:a="http://schemas.openxmlformats.org/drawingml/2006/main">
              <a:ext uri="{FF2B5EF4-FFF2-40B4-BE49-F238E27FC236}">
                <a16:creationId xmlns:a16="http://schemas.microsoft.com/office/drawing/2014/main" id="{AF1DC081-D152-4C19-AF3E-72F71178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use-title">
            <a:extLst xmlns:a="http://schemas.openxmlformats.org/drawingml/2006/main">
              <a:ext uri="{FF2B5EF4-FFF2-40B4-BE49-F238E27FC236}">
                <a16:creationId xmlns:a16="http://schemas.microsoft.com/office/drawing/2014/main" id="{C590EA97-B032-46DA-9486-8FF3012E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核心病因：内外合邪，热邪入侵</a:t>
            </a:r>
          </a:p>
        </p:txBody>
      </p:sp>
      <p:sp>
        <p:nvSpPr>
          <p:cNvPr id="15" name="cause-divider">
            <a:extLst xmlns:a="http://schemas.openxmlformats.org/drawingml/2006/main">
              <a:ext uri="{FF2B5EF4-FFF2-40B4-BE49-F238E27FC236}">
                <a16:creationId xmlns:a16="http://schemas.microsoft.com/office/drawing/2014/main" id="{8D38C4AD-8E43-487B-9FD5-5CEEA788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9950"/>
            <a:ext cx="4610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6" name="cause-body">
            <a:extLst xmlns:a="http://schemas.openxmlformats.org/drawingml/2006/main">
              <a:ext uri="{FF2B5EF4-FFF2-40B4-BE49-F238E27FC236}">
                <a16:creationId xmlns:a16="http://schemas.microsoft.com/office/drawing/2014/main" id="{8A75B15A-73C1-4262-A85A-FA41276F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46101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外感风邪：</a:t>
            </a:r>
            <a:r>
              <a:rPr sz="1725" b="0">
                <a:solidFill>
                  <a:srgbClr val="303741"/>
                </a:solidFill>
              </a:rPr>
              <a:t>多发于春季或气温骤升时节，风热之邪从口鼻、皮毛而入，侵犯肌表。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内生积热：</a:t>
            </a:r>
            <a:r>
              <a:rPr sz="1725" b="0">
                <a:solidFill>
                  <a:srgbClr val="303741"/>
                </a:solidFill>
              </a:rPr>
              <a:t>过食</a:t>
            </a:r>
            <a:r>
              <a:rPr sz="1725" b="1">
                <a:solidFill>
                  <a:srgbClr val="303741"/>
                </a:solidFill>
              </a:rPr>
              <a:t>辛辣、油腻、温补</a:t>
            </a:r>
            <a:r>
              <a:rPr sz="1725" b="0">
                <a:solidFill>
                  <a:srgbClr val="303741"/>
                </a:solidFill>
              </a:rPr>
              <a:t>之品，或情志不畅化火，致体内“火气”过旺。</a:t>
            </a:r>
          </a:p>
        </p:txBody>
      </p:sp>
      <p:sp>
        <p:nvSpPr>
          <p:cNvPr id="17" name="pathogenesis-surface">
            <a:extLst xmlns:a="http://schemas.openxmlformats.org/drawingml/2006/main">
              <a:ext uri="{FF2B5EF4-FFF2-40B4-BE49-F238E27FC236}">
                <a16:creationId xmlns:a16="http://schemas.microsoft.com/office/drawing/2014/main" id="{5607751A-5DE7-48BF-82B5-5BAD279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5143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8" name="pathogenesis-accent">
            <a:extLst xmlns:a="http://schemas.openxmlformats.org/drawingml/2006/main">
              <a:ext uri="{FF2B5EF4-FFF2-40B4-BE49-F238E27FC236}">
                <a16:creationId xmlns:a16="http://schemas.microsoft.com/office/drawing/2014/main" id="{039F4DEA-ABE9-4501-9951-61921687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athogenesis-title">
            <a:extLst xmlns:a="http://schemas.openxmlformats.org/drawingml/2006/main">
              <a:ext uri="{FF2B5EF4-FFF2-40B4-BE49-F238E27FC236}">
                <a16:creationId xmlns:a16="http://schemas.microsoft.com/office/drawing/2014/main" id="{32F9167A-B2D0-4A5A-A0B9-07ACC98A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90850"/>
            <a:ext cx="4838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关键病机：正邪交争，肺卫失和</a:t>
            </a:r>
          </a:p>
        </p:txBody>
      </p:sp>
      <p:sp>
        <p:nvSpPr>
          <p:cNvPr id="20" name="pathogenesis-divider">
            <a:extLst xmlns:a="http://schemas.openxmlformats.org/drawingml/2006/main">
              <a:ext uri="{FF2B5EF4-FFF2-40B4-BE49-F238E27FC236}">
                <a16:creationId xmlns:a16="http://schemas.microsoft.com/office/drawing/2014/main" id="{450E5B1C-5580-4C2D-AFC8-AACF5E8A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09950"/>
            <a:ext cx="480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1" name="pathogenesis-body">
            <a:extLst xmlns:a="http://schemas.openxmlformats.org/drawingml/2006/main">
              <a:ext uri="{FF2B5EF4-FFF2-40B4-BE49-F238E27FC236}">
                <a16:creationId xmlns:a16="http://schemas.microsoft.com/office/drawing/2014/main" id="{25C6B1A4-C84F-4740-AAD6-841E45F1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24250"/>
            <a:ext cx="48006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正邪相争：</a:t>
            </a:r>
            <a:r>
              <a:rPr sz="1725" b="0">
                <a:solidFill>
                  <a:srgbClr val="303741"/>
                </a:solidFill>
              </a:rPr>
              <a:t>风热犯表，卫阳被遏，正邪交争于肌表则发热。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津伤肺逆：</a:t>
            </a:r>
            <a:r>
              <a:rPr sz="1725" b="0">
                <a:solidFill>
                  <a:srgbClr val="303741"/>
                </a:solidFill>
              </a:rPr>
              <a:t>热邪易灼伤津液，故见</a:t>
            </a:r>
            <a:r>
              <a:rPr sz="1725" b="1">
                <a:solidFill>
                  <a:srgbClr val="303741"/>
                </a:solidFill>
              </a:rPr>
              <a:t>口干、口渴</a:t>
            </a:r>
            <a:r>
              <a:rPr sz="1725" b="0">
                <a:solidFill>
                  <a:srgbClr val="303741"/>
                </a:solidFill>
              </a:rPr>
              <a:t>；肺失宣肃，气逆于上，则引发</a:t>
            </a:r>
            <a:r>
              <a:rPr sz="1725" b="1">
                <a:solidFill>
                  <a:srgbClr val="303741"/>
                </a:solidFill>
              </a:rPr>
              <a:t>咳嗽、咽喉肿痛</a:t>
            </a:r>
            <a:r>
              <a:rPr sz="1725" b="0">
                <a:solidFill>
                  <a:srgbClr val="303741"/>
                </a:solidFill>
              </a:rPr>
              <a:t>。</a:t>
            </a:r>
          </a:p>
        </p:txBody>
      </p:sp>
      <p:sp>
        <p:nvSpPr>
          <p:cNvPr id="22" name="definition-summary">
            <a:extLst xmlns:a="http://schemas.openxmlformats.org/drawingml/2006/main">
              <a:ext uri="{FF2B5EF4-FFF2-40B4-BE49-F238E27FC236}">
                <a16:creationId xmlns:a16="http://schemas.microsoft.com/office/drawing/2014/main" id="{4BF49C9B-6843-4DFF-912F-76B8050D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15000"/>
            <a:ext cx="10477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总结：风热证以“发热重、恶寒轻、咽痛、口渴、苔薄黄”为主要辨证要点。</a:t>
            </a:r>
          </a:p>
        </p:txBody>
      </p:sp>
    </p:spTree>
    <p:extLst>
      <p:ext uri="{BB962C8B-B14F-4D97-AF65-F5344CB8AC3E}">
        <p14:creationId xmlns:p14="http://schemas.microsoft.com/office/powerpoint/2010/main" val="6652843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E77C8F3F-E955-4DB4-80EB-60F0ADAE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C6A3BBCA-404D-41A6-92A6-211A4227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1.2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C0AA3322-A8B7-4637-93F1-93753B0C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疾病篇——风热证的典型症状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603E513C-7B8D-4796-82C2-0625ED95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690EF7BC-6E35-45E0-936A-A8825A8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655E86C7-A185-4444-A435-0DE0C3BE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4f0d024fdc4610"/>
          <a:srcRect xmlns:a="http://schemas.openxmlformats.org/drawingml/2006/main" l="0" t="385" r="0" b="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066800"/>
            <a:ext cx="3048000" cy="1762125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94c29dee84f4f"/>
          <a:srcRect xmlns:a="http://schemas.openxmlformats.org/drawingml/2006/main" l="0" t="385" r="0" b="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38625" y="1066800"/>
            <a:ext cx="3048000" cy="1762125"/>
          </a:xfrm>
          <a:prstGeom xmlns:a="http://schemas.openxmlformats.org/drawingml/2006/main" prst="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c416c22a4436e"/>
          <a:srcRect xmlns:a="http://schemas.openxmlformats.org/drawingml/2006/main" l="0" t="385" r="0" b="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1066800"/>
            <a:ext cx="3048000" cy="1762125"/>
          </a:xfrm>
          <a:prstGeom xmlns:a="http://schemas.openxmlformats.org/drawingml/2006/main" prst="rect">
            <a:avLst/>
          </a:prstGeom>
        </p:spPr>
      </p:pic>
      <p:sp>
        <p:nvSpPr>
          <p:cNvPr id="10" name="symptom-throat-surface">
            <a:extLst xmlns:a="http://schemas.openxmlformats.org/drawingml/2006/main">
              <a:ext uri="{FF2B5EF4-FFF2-40B4-BE49-F238E27FC236}">
                <a16:creationId xmlns:a16="http://schemas.microsoft.com/office/drawing/2014/main" id="{650A804F-D288-448B-8970-78E6AD2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1" name="symptom-throat-accent">
            <a:extLst xmlns:a="http://schemas.openxmlformats.org/drawingml/2006/main">
              <a:ext uri="{FF2B5EF4-FFF2-40B4-BE49-F238E27FC236}">
                <a16:creationId xmlns:a16="http://schemas.microsoft.com/office/drawing/2014/main" id="{1CF39CF5-A36C-4686-BC8C-4D89BA5BB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ymptom-throat-title">
            <a:extLst xmlns:a="http://schemas.openxmlformats.org/drawingml/2006/main">
              <a:ext uri="{FF2B5EF4-FFF2-40B4-BE49-F238E27FC236}">
                <a16:creationId xmlns:a16="http://schemas.microsoft.com/office/drawing/2014/main" id="{5AF52B25-DF08-4585-8762-18E80FBF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咽喉红肿疼痛</a:t>
            </a:r>
          </a:p>
        </p:txBody>
      </p:sp>
      <p:sp>
        <p:nvSpPr>
          <p:cNvPr id="13" name="symptom-throat-divider">
            <a:extLst xmlns:a="http://schemas.openxmlformats.org/drawingml/2006/main">
              <a:ext uri="{FF2B5EF4-FFF2-40B4-BE49-F238E27FC236}">
                <a16:creationId xmlns:a16="http://schemas.microsoft.com/office/drawing/2014/main" id="{10FD00BA-AD45-4986-B4D4-356F733D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4" name="symptom-throat-body">
            <a:extLst xmlns:a="http://schemas.openxmlformats.org/drawingml/2006/main">
              <a:ext uri="{FF2B5EF4-FFF2-40B4-BE49-F238E27FC236}">
                <a16:creationId xmlns:a16="http://schemas.microsoft.com/office/drawing/2014/main" id="{8DE674CE-6388-4469-8079-746963D3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2705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最典型的特征之一，</a:t>
            </a:r>
            <a:r>
              <a:rPr sz="1350" b="1">
                <a:solidFill>
                  <a:srgbClr val="303741"/>
                </a:solidFill>
              </a:rPr>
              <a:t>咽喉黏膜充血明显</a:t>
            </a:r>
            <a:r>
              <a:rPr sz="1350" b="0">
                <a:solidFill>
                  <a:srgbClr val="303741"/>
                </a:solidFill>
              </a:rPr>
              <a:t>，吞咽时痛感加剧，是风热之邪侵犯肺卫的直接表现。</a:t>
            </a:r>
          </a:p>
        </p:txBody>
      </p:sp>
      <p:sp>
        <p:nvSpPr>
          <p:cNvPr id="15" name="symptom-nose-surface">
            <a:extLst xmlns:a="http://schemas.openxmlformats.org/drawingml/2006/main">
              <a:ext uri="{FF2B5EF4-FFF2-40B4-BE49-F238E27FC236}">
                <a16:creationId xmlns:a16="http://schemas.microsoft.com/office/drawing/2014/main" id="{99A604E6-3754-4FD0-8563-3D088787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337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6" name="symptom-nose-accent">
            <a:extLst xmlns:a="http://schemas.openxmlformats.org/drawingml/2006/main">
              <a:ext uri="{FF2B5EF4-FFF2-40B4-BE49-F238E27FC236}">
                <a16:creationId xmlns:a16="http://schemas.microsoft.com/office/drawing/2014/main" id="{BED8DEF9-C3C8-4DCD-8ADB-C893FF57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3370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ymptom-nose-title">
            <a:extLst xmlns:a="http://schemas.openxmlformats.org/drawingml/2006/main">
              <a:ext uri="{FF2B5EF4-FFF2-40B4-BE49-F238E27FC236}">
                <a16:creationId xmlns:a16="http://schemas.microsoft.com/office/drawing/2014/main" id="{548D1158-8354-4BD6-8B36-DE5ED4F7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67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流黄稠涕，咳黄黏痰</a:t>
            </a:r>
          </a:p>
        </p:txBody>
      </p:sp>
      <p:sp>
        <p:nvSpPr>
          <p:cNvPr id="18" name="symptom-nose-divider">
            <a:extLst xmlns:a="http://schemas.openxmlformats.org/drawingml/2006/main">
              <a:ext uri="{FF2B5EF4-FFF2-40B4-BE49-F238E27FC236}">
                <a16:creationId xmlns:a16="http://schemas.microsoft.com/office/drawing/2014/main" id="{12F9E981-03B5-46CE-BE85-62352A4A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48615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9" name="symptom-nose-body">
            <a:extLst xmlns:a="http://schemas.openxmlformats.org/drawingml/2006/main">
              <a:ext uri="{FF2B5EF4-FFF2-40B4-BE49-F238E27FC236}">
                <a16:creationId xmlns:a16="http://schemas.microsoft.com/office/drawing/2014/main" id="{ED629005-AE22-4EB7-B3ED-863023A0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600450"/>
            <a:ext cx="2705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鼻腔与呼吸道分泌物颜色</a:t>
            </a:r>
            <a:r>
              <a:rPr sz="1350" b="1">
                <a:solidFill>
                  <a:srgbClr val="303741"/>
                </a:solidFill>
              </a:rPr>
              <a:t>发黄且质地黏稠</a:t>
            </a:r>
            <a:r>
              <a:rPr sz="1350" b="0">
                <a:solidFill>
                  <a:srgbClr val="303741"/>
                </a:solidFill>
              </a:rPr>
              <a:t>，是热邪煎灼津液所致，与风寒证清稀分泌物形成鲜明对比。</a:t>
            </a:r>
          </a:p>
        </p:txBody>
      </p:sp>
      <p:sp>
        <p:nvSpPr>
          <p:cNvPr id="20" name="symptom-fever-surface">
            <a:extLst xmlns:a="http://schemas.openxmlformats.org/drawingml/2006/main">
              <a:ext uri="{FF2B5EF4-FFF2-40B4-BE49-F238E27FC236}">
                <a16:creationId xmlns:a16="http://schemas.microsoft.com/office/drawing/2014/main" id="{EEA25E3E-80C9-485E-A5A7-F680ED9F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33700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1" name="symptom-fever-accent">
            <a:extLst xmlns:a="http://schemas.openxmlformats.org/drawingml/2006/main">
              <a:ext uri="{FF2B5EF4-FFF2-40B4-BE49-F238E27FC236}">
                <a16:creationId xmlns:a16="http://schemas.microsoft.com/office/drawing/2014/main" id="{843FC6DB-5D33-4C09-911A-7A7215D5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3370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ymptom-fever-title">
            <a:extLst xmlns:a="http://schemas.openxmlformats.org/drawingml/2006/main">
              <a:ext uri="{FF2B5EF4-FFF2-40B4-BE49-F238E27FC236}">
                <a16:creationId xmlns:a16="http://schemas.microsoft.com/office/drawing/2014/main" id="{CAA141CE-AD50-489B-B107-13B13EEB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67050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发热重，微恶风</a:t>
            </a:r>
          </a:p>
        </p:txBody>
      </p:sp>
      <p:sp>
        <p:nvSpPr>
          <p:cNvPr id="23" name="symptom-fever-divider">
            <a:extLst xmlns:a="http://schemas.openxmlformats.org/drawingml/2006/main">
              <a:ext uri="{FF2B5EF4-FFF2-40B4-BE49-F238E27FC236}">
                <a16:creationId xmlns:a16="http://schemas.microsoft.com/office/drawing/2014/main" id="{84D2C466-20F7-489F-818F-089DF53E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2705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4" name="symptom-fever-body">
            <a:extLst xmlns:a="http://schemas.openxmlformats.org/drawingml/2006/main">
              <a:ext uri="{FF2B5EF4-FFF2-40B4-BE49-F238E27FC236}">
                <a16:creationId xmlns:a16="http://schemas.microsoft.com/office/drawing/2014/main" id="{900DAAD4-A486-4016-99C4-03C503AB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00450"/>
            <a:ext cx="2705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患者自觉身体</a:t>
            </a:r>
            <a:r>
              <a:rPr sz="1350" b="1">
                <a:solidFill>
                  <a:srgbClr val="303741"/>
                </a:solidFill>
              </a:rPr>
              <a:t>发烫，体温较高</a:t>
            </a:r>
            <a:r>
              <a:rPr sz="1350" b="0">
                <a:solidFill>
                  <a:srgbClr val="303741"/>
                </a:solidFill>
              </a:rPr>
              <a:t>，但怕冷感觉不明显，仅稍有怕风，是风热证在体温上的核心表现。</a:t>
            </a:r>
          </a:p>
        </p:txBody>
      </p:sp>
      <p:sp>
        <p:nvSpPr>
          <p:cNvPr id="25" name="symptom-thirst">
            <a:extLst xmlns:a="http://schemas.openxmlformats.org/drawingml/2006/main">
              <a:ext uri="{FF2B5EF4-FFF2-40B4-BE49-F238E27FC236}">
                <a16:creationId xmlns:a16="http://schemas.microsoft.com/office/drawing/2014/main" id="{197CF088-03EE-414D-B32A-B7F6CBF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口干口渴，喜冷饮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热邪耗伤津液，导致口渴，且偏好凉水。</a:t>
            </a:r>
          </a:p>
        </p:txBody>
      </p:sp>
      <p:sp>
        <p:nvSpPr>
          <p:cNvPr id="26" name="symptom-tongue">
            <a:extLst xmlns:a="http://schemas.openxmlformats.org/drawingml/2006/main">
              <a:ext uri="{FF2B5EF4-FFF2-40B4-BE49-F238E27FC236}">
                <a16:creationId xmlns:a16="http://schemas.microsoft.com/office/drawing/2014/main" id="{D2B7997D-902D-40F3-8126-5F47E3D7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53000"/>
            <a:ext cx="3333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舌尖红，苔薄黄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舌尖红为热象；薄黄苔提示病邪尚在表浅。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2ad402bdb49ee"/>
          <a:srcRect xmlns:a="http://schemas.openxmlformats.org/drawingml/2006/main" l="0" t="411" r="0" b="4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8625" y="4810125"/>
            <a:ext cx="200025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2023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FC905D2E-5583-4620-8A8F-6006D844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F1DBE330-4C91-4AA8-B02F-3987BE00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1.3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C0A64380-CA60-40C0-8AA1-81301FC5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疾病篇——风热证的鉴别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AC0305A0-A165-46D2-B611-E780F9A7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FE6705BD-EEE3-4B5C-86F4-22F2C4C6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E675F10E-EED8-4EEB-8CFB-BF0DC31F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风热证 · 热象显著-surface">
            <a:extLst xmlns:a="http://schemas.openxmlformats.org/drawingml/2006/main">
              <a:ext uri="{FF2B5EF4-FFF2-40B4-BE49-F238E27FC236}">
                <a16:creationId xmlns:a16="http://schemas.microsoft.com/office/drawing/2014/main" id="{4309BD31-4A9F-452B-8A2F-A4085D27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5238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98F"/>
            </a:solidFill>
            <a:prstDash val="solid"/>
          </a:ln>
        </p:spPr>
      </p:sp>
      <p:sp>
        <p:nvSpPr>
          <p:cNvPr id="8" name="风热证 · 热象显著-header">
            <a:extLst xmlns:a="http://schemas.openxmlformats.org/drawingml/2006/main">
              <a:ext uri="{FF2B5EF4-FFF2-40B4-BE49-F238E27FC236}">
                <a16:creationId xmlns:a16="http://schemas.microsoft.com/office/drawing/2014/main" id="{6719C808-260D-4819-A3D6-EAF47736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0125"/>
            <a:ext cx="523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8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风热证 · 热象显著-title">
            <a:extLst xmlns:a="http://schemas.openxmlformats.org/drawingml/2006/main">
              <a:ext uri="{FF2B5EF4-FFF2-40B4-BE49-F238E27FC236}">
                <a16:creationId xmlns:a16="http://schemas.microsoft.com/office/drawing/2014/main" id="{27515A48-3874-49DE-930A-3B2FA23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143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03741"/>
                </a:solidFill>
              </a:defRPr>
            </a:pPr>
            <a:r>
              <a:rPr sz="2025" b="1">
                <a:solidFill>
                  <a:srgbClr val="303741"/>
                </a:solidFill>
              </a:rPr>
              <a:t>风热证 · 热象显著</a:t>
            </a:r>
          </a:p>
        </p:txBody>
      </p:sp>
      <p:sp>
        <p:nvSpPr>
          <p:cNvPr id="10" name="风热证 · 热象显著-left">
            <a:extLst xmlns:a="http://schemas.openxmlformats.org/drawingml/2006/main">
              <a:ext uri="{FF2B5EF4-FFF2-40B4-BE49-F238E27FC236}">
                <a16:creationId xmlns:a16="http://schemas.microsoft.com/office/drawing/2014/main" id="{0EDF4119-FDD1-4C88-AF38-ADFB3CD1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2286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00B98F"/>
                </a:solidFill>
              </a:rPr>
              <a:t>01 寒热汗出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发热重，恶寒轻；有汗出，体表疏松。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00B98F"/>
                </a:solidFill>
              </a:rPr>
              <a:t>02 鼻痰色泽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流黄稠涕，咳痰黄黏，里热灼津。</a:t>
            </a:r>
          </a:p>
        </p:txBody>
      </p:sp>
      <p:sp>
        <p:nvSpPr>
          <p:cNvPr id="11" name="风热证 · 热象显著-middle-rule">
            <a:extLst xmlns:a="http://schemas.openxmlformats.org/drawingml/2006/main">
              <a:ext uri="{FF2B5EF4-FFF2-40B4-BE49-F238E27FC236}">
                <a16:creationId xmlns:a16="http://schemas.microsoft.com/office/drawing/2014/main" id="{CAD5FFBE-13A8-4D28-A0AF-8F5D390A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52625"/>
            <a:ext cx="95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DE3"/>
          </a:solidFill>
          <a:ln xmlns:a="http://schemas.openxmlformats.org/drawingml/2006/main" w="0">
            <a:solidFill>
              <a:srgbClr val="C8DDE3"/>
            </a:solidFill>
            <a:prstDash val="solid"/>
          </a:ln>
        </p:spPr>
      </p:sp>
      <p:sp>
        <p:nvSpPr>
          <p:cNvPr id="12" name="风热证 · 热象显著-right">
            <a:extLst xmlns:a="http://schemas.openxmlformats.org/drawingml/2006/main">
              <a:ext uri="{FF2B5EF4-FFF2-40B4-BE49-F238E27FC236}">
                <a16:creationId xmlns:a16="http://schemas.microsoft.com/office/drawing/2014/main" id="{02E71CDC-DAF4-453F-8869-CB07CE36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952625"/>
            <a:ext cx="219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00B98F"/>
                </a:solidFill>
              </a:rPr>
              <a:t>03 咽喉症状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咽喉红肿疼痛，热邪上攻。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00B98F"/>
                </a:solidFill>
              </a:rPr>
              <a:t>04 口渴喜饮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口干渴明显，偏好冷饮。</a:t>
            </a:r>
          </a:p>
        </p:txBody>
      </p:sp>
      <p:sp>
        <p:nvSpPr>
          <p:cNvPr id="13" name="风热证 · 热象显著-bottom">
            <a:extLst xmlns:a="http://schemas.openxmlformats.org/drawingml/2006/main">
              <a:ext uri="{FF2B5EF4-FFF2-40B4-BE49-F238E27FC236}">
                <a16:creationId xmlns:a16="http://schemas.microsoft.com/office/drawing/2014/main" id="{42224161-2052-4622-B62A-A174D4FC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00B98F"/>
                </a:solidFill>
              </a:rPr>
              <a:t>05 舌脉特征</a:t>
            </a:r>
            <a:r>
              <a:rPr sz="1650" b="0">
                <a:solidFill>
                  <a:srgbClr val="303741"/>
                </a:solidFill>
              </a:rPr>
              <a:t>  舌红、苔薄黄，脉浮数。</a:t>
            </a:r>
          </a:p>
        </p:txBody>
      </p:sp>
      <p:sp>
        <p:nvSpPr>
          <p:cNvPr id="14" name="风寒证 · 寒象突出-surface">
            <a:extLst xmlns:a="http://schemas.openxmlformats.org/drawingml/2006/main">
              <a:ext uri="{FF2B5EF4-FFF2-40B4-BE49-F238E27FC236}">
                <a16:creationId xmlns:a16="http://schemas.microsoft.com/office/drawing/2014/main" id="{596AFBE2-3390-4D73-9BDF-1C83498B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00125"/>
            <a:ext cx="5238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8AFF"/>
            </a:solidFill>
            <a:prstDash val="solid"/>
          </a:ln>
        </p:spPr>
      </p:sp>
      <p:sp>
        <p:nvSpPr>
          <p:cNvPr id="15" name="风寒证 · 寒象突出-header">
            <a:extLst xmlns:a="http://schemas.openxmlformats.org/drawingml/2006/main">
              <a:ext uri="{FF2B5EF4-FFF2-40B4-BE49-F238E27FC236}">
                <a16:creationId xmlns:a16="http://schemas.microsoft.com/office/drawing/2014/main" id="{403A80DF-6C4A-458B-B392-CB418431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00125"/>
            <a:ext cx="523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风寒证 · 寒象突出-title">
            <a:extLst xmlns:a="http://schemas.openxmlformats.org/drawingml/2006/main">
              <a:ext uri="{FF2B5EF4-FFF2-40B4-BE49-F238E27FC236}">
                <a16:creationId xmlns:a16="http://schemas.microsoft.com/office/drawing/2014/main" id="{17DE1503-C014-47B2-B927-DD8E4E11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143000"/>
            <a:ext cx="466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03741"/>
                </a:solidFill>
              </a:defRPr>
            </a:pPr>
            <a:r>
              <a:rPr sz="2025" b="1">
                <a:solidFill>
                  <a:srgbClr val="303741"/>
                </a:solidFill>
              </a:rPr>
              <a:t>风寒证 · 寒象突出</a:t>
            </a:r>
          </a:p>
        </p:txBody>
      </p:sp>
      <p:sp>
        <p:nvSpPr>
          <p:cNvPr id="17" name="风寒证 · 寒象突出-left">
            <a:extLst xmlns:a="http://schemas.openxmlformats.org/drawingml/2006/main">
              <a:ext uri="{FF2B5EF4-FFF2-40B4-BE49-F238E27FC236}">
                <a16:creationId xmlns:a16="http://schemas.microsoft.com/office/drawing/2014/main" id="{3CED421D-415A-4F5D-9464-DF4D4D77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52625"/>
            <a:ext cx="2286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2F8AFF"/>
                </a:solidFill>
              </a:rPr>
              <a:t>01 寒热汗出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恶寒重，发热轻；无汗出，寒束肌表。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2F8AFF"/>
                </a:solidFill>
              </a:rPr>
              <a:t>02 鼻痰色泽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流清稀涕，咳痰白稀，寒邪未化热。</a:t>
            </a:r>
          </a:p>
        </p:txBody>
      </p:sp>
      <p:sp>
        <p:nvSpPr>
          <p:cNvPr id="18" name="风寒证 · 寒象突出-middle-rule">
            <a:extLst xmlns:a="http://schemas.openxmlformats.org/drawingml/2006/main">
              <a:ext uri="{FF2B5EF4-FFF2-40B4-BE49-F238E27FC236}">
                <a16:creationId xmlns:a16="http://schemas.microsoft.com/office/drawing/2014/main" id="{C1ADD53B-E202-4B62-8152-26A6E4A9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52625"/>
            <a:ext cx="9525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DE3"/>
          </a:solidFill>
          <a:ln xmlns:a="http://schemas.openxmlformats.org/drawingml/2006/main" w="0">
            <a:solidFill>
              <a:srgbClr val="C8DDE3"/>
            </a:solidFill>
            <a:prstDash val="solid"/>
          </a:ln>
        </p:spPr>
      </p:sp>
      <p:sp>
        <p:nvSpPr>
          <p:cNvPr id="19" name="风寒证 · 寒象突出-right">
            <a:extLst xmlns:a="http://schemas.openxmlformats.org/drawingml/2006/main">
              <a:ext uri="{FF2B5EF4-FFF2-40B4-BE49-F238E27FC236}">
                <a16:creationId xmlns:a16="http://schemas.microsoft.com/office/drawing/2014/main" id="{3184936F-6F2E-444E-9499-4B1E8ABE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52625"/>
            <a:ext cx="219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2F8AFF"/>
                </a:solidFill>
              </a:rPr>
              <a:t>03 咽喉症状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咽喉发痒，不红不痛，寒邪客于咽喉。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2F8AFF"/>
                </a:solidFill>
              </a:rPr>
              <a:t>04 口渴情况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口不渴或喜热饮，体内无明显热邪。</a:t>
            </a:r>
          </a:p>
        </p:txBody>
      </p:sp>
      <p:sp>
        <p:nvSpPr>
          <p:cNvPr id="20" name="风寒证 · 寒象突出-bottom">
            <a:extLst xmlns:a="http://schemas.openxmlformats.org/drawingml/2006/main">
              <a:ext uri="{FF2B5EF4-FFF2-40B4-BE49-F238E27FC236}">
                <a16:creationId xmlns:a16="http://schemas.microsoft.com/office/drawing/2014/main" id="{EC90D8A5-1E7E-4DC2-B5BD-AD9C38A8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14750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1">
                <a:solidFill>
                  <a:srgbClr val="2F8AFF"/>
                </a:solidFill>
              </a:rPr>
              <a:t>05 舌脉特征</a:t>
            </a:r>
            <a:r>
              <a:rPr sz="1650" b="0">
                <a:solidFill>
                  <a:srgbClr val="303741"/>
                </a:solidFill>
              </a:rPr>
              <a:t>  舌淡、苔薄白，脉浮紧。</a:t>
            </a:r>
          </a:p>
        </p:txBody>
      </p:sp>
      <p:sp>
        <p:nvSpPr>
          <p:cNvPr id="21" name="memory-1">
            <a:extLst xmlns:a="http://schemas.openxmlformats.org/drawingml/2006/main">
              <a:ext uri="{FF2B5EF4-FFF2-40B4-BE49-F238E27FC236}">
                <a16:creationId xmlns:a16="http://schemas.microsoft.com/office/drawing/2014/main" id="{3BA2D9A8-9C12-4141-B1B2-D50CA73A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FAE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1">
                <a:solidFill>
                  <a:srgbClr val="303741"/>
                </a:solidFill>
              </a:rPr>
              <a:t>辨证核心口诀</a:t>
            </a:r>
          </a:p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热重寒轻是风热，寒重热轻是风寒；有汗无汗要分清。</a:t>
            </a:r>
          </a:p>
        </p:txBody>
      </p:sp>
      <p:sp>
        <p:nvSpPr>
          <p:cNvPr id="22" name="memory-2">
            <a:extLst xmlns:a="http://schemas.openxmlformats.org/drawingml/2006/main">
              <a:ext uri="{FF2B5EF4-FFF2-40B4-BE49-F238E27FC236}">
                <a16:creationId xmlns:a16="http://schemas.microsoft.com/office/drawing/2014/main" id="{1E44D695-D5E8-4275-B546-C090CE0A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62500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FAE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1">
                <a:solidFill>
                  <a:srgbClr val="303741"/>
                </a:solidFill>
              </a:rPr>
              <a:t>分泌物色诊口诀</a:t>
            </a:r>
          </a:p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黄浊黄痰是风热，清涕白痰属风寒；红肿热痛辨咽喉。</a:t>
            </a:r>
          </a:p>
        </p:txBody>
      </p:sp>
      <p:sp>
        <p:nvSpPr>
          <p:cNvPr id="23" name="memory-3">
            <a:extLst xmlns:a="http://schemas.openxmlformats.org/drawingml/2006/main">
              <a:ext uri="{FF2B5EF4-FFF2-40B4-BE49-F238E27FC236}">
                <a16:creationId xmlns:a16="http://schemas.microsoft.com/office/drawing/2014/main" id="{321C3B6A-D3B1-417A-A4A0-601C1EEA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62500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FAE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1">
                <a:solidFill>
                  <a:srgbClr val="303741"/>
                </a:solidFill>
              </a:rPr>
              <a:t>津液喜恶口诀</a:t>
            </a:r>
          </a:p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口渴喜凉为风热，口不渴属风寒；喜热饮者寒象真。</a:t>
            </a:r>
          </a:p>
        </p:txBody>
      </p:sp>
      <p:sp>
        <p:nvSpPr>
          <p:cNvPr id="24" name="change-note">
            <a:extLst xmlns:a="http://schemas.openxmlformats.org/drawingml/2006/main">
              <a:ext uri="{FF2B5EF4-FFF2-40B4-BE49-F238E27FC236}">
                <a16:creationId xmlns:a16="http://schemas.microsoft.com/office/drawing/2014/main" id="{3C6F77D1-FAB7-4210-B136-F7F150E6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病情演变：清涕转黄涕，应紧扣当前主症及时调整治法，不拘泥于初期寒象。</a:t>
            </a:r>
          </a:p>
        </p:txBody>
      </p:sp>
    </p:spTree>
    <p:extLst>
      <p:ext uri="{BB962C8B-B14F-4D97-AF65-F5344CB8AC3E}">
        <p14:creationId xmlns:p14="http://schemas.microsoft.com/office/powerpoint/2010/main" val="4078965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6034B09B-3FC1-4CAA-8C64-0404E006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D478A778-7A43-43FA-B931-B7098340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1.4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20DD906F-10BE-4828-A84A-291466015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疾病篇——风热证的治疗：辨证用药总原则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DB04A508-81D8-47C2-A715-9681107E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294E34D4-575D-44DA-ACE9-17BEAE3A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C91DABE7-BDD0-4D8F-9C84-ACD1B9FE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principle-1-surface">
            <a:extLst xmlns:a="http://schemas.openxmlformats.org/drawingml/2006/main">
              <a:ext uri="{FF2B5EF4-FFF2-40B4-BE49-F238E27FC236}">
                <a16:creationId xmlns:a16="http://schemas.microsoft.com/office/drawing/2014/main" id="{812EE8F2-EF3C-4136-A3AE-38E3653B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3333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8" name="principle-1-accent">
            <a:extLst xmlns:a="http://schemas.openxmlformats.org/drawingml/2006/main">
              <a:ext uri="{FF2B5EF4-FFF2-40B4-BE49-F238E27FC236}">
                <a16:creationId xmlns:a16="http://schemas.microsoft.com/office/drawing/2014/main" id="{092BA9E8-7175-4295-84CD-4A1D0AF0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33500"/>
            <a:ext cx="571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inciple-1-title">
            <a:extLst xmlns:a="http://schemas.openxmlformats.org/drawingml/2006/main">
              <a:ext uri="{FF2B5EF4-FFF2-40B4-BE49-F238E27FC236}">
                <a16:creationId xmlns:a16="http://schemas.microsoft.com/office/drawing/2014/main" id="{0B42E87F-4023-47A8-BE2E-87A87569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01. 禁用辛温，勿助热</a:t>
            </a:r>
          </a:p>
        </p:txBody>
      </p:sp>
      <p:sp>
        <p:nvSpPr>
          <p:cNvPr id="10" name="principle-1-divider">
            <a:extLst xmlns:a="http://schemas.openxmlformats.org/drawingml/2006/main">
              <a:ext uri="{FF2B5EF4-FFF2-40B4-BE49-F238E27FC236}">
                <a16:creationId xmlns:a16="http://schemas.microsoft.com/office/drawing/2014/main" id="{550E77D6-150D-4F15-AD0F-2982C33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859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1" name="principle-1-body">
            <a:extLst xmlns:a="http://schemas.openxmlformats.org/drawingml/2006/main">
              <a:ext uri="{FF2B5EF4-FFF2-40B4-BE49-F238E27FC236}">
                <a16:creationId xmlns:a16="http://schemas.microsoft.com/office/drawing/2014/main" id="{60334308-BB7A-48A6-A58B-2E687093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990850" cy="28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核心原则：</a:t>
            </a:r>
            <a:r>
              <a:rPr sz="1725" b="0">
                <a:solidFill>
                  <a:srgbClr val="303741"/>
                </a:solidFill>
              </a:rPr>
              <a:t>风热证为“阳热”之证，</a:t>
            </a:r>
            <a:r>
              <a:rPr sz="1725" b="1">
                <a:solidFill>
                  <a:srgbClr val="E60012"/>
                </a:solidFill>
              </a:rPr>
              <a:t>绝对禁用</a:t>
            </a:r>
            <a:r>
              <a:rPr sz="1725" b="0">
                <a:solidFill>
                  <a:srgbClr val="303741"/>
                </a:solidFill>
              </a:rPr>
              <a:t>麻黄、桂枝等辛温发汗药。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机理警示：</a:t>
            </a:r>
            <a:r>
              <a:rPr sz="1725" b="0">
                <a:solidFill>
                  <a:srgbClr val="303741"/>
                </a:solidFill>
              </a:rPr>
              <a:t>温药入体如同</a:t>
            </a:r>
            <a:r>
              <a:rPr sz="1725" b="1">
                <a:solidFill>
                  <a:srgbClr val="303741"/>
                </a:solidFill>
              </a:rPr>
              <a:t>“火上浇油”</a:t>
            </a:r>
            <a:r>
              <a:rPr sz="1725" b="0">
                <a:solidFill>
                  <a:srgbClr val="303741"/>
                </a:solidFill>
              </a:rPr>
              <a:t>，会加重内热，灼伤津液，导致病情由表入里。</a:t>
            </a:r>
          </a:p>
        </p:txBody>
      </p:sp>
      <p:sp>
        <p:nvSpPr>
          <p:cNvPr id="12" name="principle-2-surface">
            <a:extLst xmlns:a="http://schemas.openxmlformats.org/drawingml/2006/main">
              <a:ext uri="{FF2B5EF4-FFF2-40B4-BE49-F238E27FC236}">
                <a16:creationId xmlns:a16="http://schemas.microsoft.com/office/drawing/2014/main" id="{307B4E99-A750-45D0-8CFB-C04527E3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333500"/>
            <a:ext cx="3333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3" name="principle-2-accent">
            <a:extLst xmlns:a="http://schemas.openxmlformats.org/drawingml/2006/main">
              <a:ext uri="{FF2B5EF4-FFF2-40B4-BE49-F238E27FC236}">
                <a16:creationId xmlns:a16="http://schemas.microsoft.com/office/drawing/2014/main" id="{7C7176D6-2E81-414F-AEAC-629AF947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333500"/>
            <a:ext cx="571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rinciple-2-title">
            <a:extLst xmlns:a="http://schemas.openxmlformats.org/drawingml/2006/main">
              <a:ext uri="{FF2B5EF4-FFF2-40B4-BE49-F238E27FC236}">
                <a16:creationId xmlns:a16="http://schemas.microsoft.com/office/drawing/2014/main" id="{E955FAE8-C2FB-4401-BE86-F404F8E3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46685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02. 分清主次，随证施方</a:t>
            </a:r>
          </a:p>
        </p:txBody>
      </p:sp>
      <p:sp>
        <p:nvSpPr>
          <p:cNvPr id="15" name="principle-2-divider">
            <a:extLst xmlns:a="http://schemas.openxmlformats.org/drawingml/2006/main">
              <a:ext uri="{FF2B5EF4-FFF2-40B4-BE49-F238E27FC236}">
                <a16:creationId xmlns:a16="http://schemas.microsoft.com/office/drawing/2014/main" id="{32F85CEF-CE93-4E40-88AE-B6726CEA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8859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6" name="principle-2-body">
            <a:extLst xmlns:a="http://schemas.openxmlformats.org/drawingml/2006/main">
              <a:ext uri="{FF2B5EF4-FFF2-40B4-BE49-F238E27FC236}">
                <a16:creationId xmlns:a16="http://schemas.microsoft.com/office/drawing/2014/main" id="{6C2A9A37-AEE8-45AD-8CF7-558A305F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00250"/>
            <a:ext cx="2990850" cy="28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根据病程阶段与兼症针对性加减药物，不拘泥于一方一药。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表热轻症</a:t>
            </a:r>
            <a:r>
              <a:rPr sz="1725" b="0">
                <a:solidFill>
                  <a:srgbClr val="303741"/>
                </a:solidFill>
              </a:rPr>
              <a:t>单用辛凉解表；</a:t>
            </a:r>
            <a:r>
              <a:rPr sz="1725" b="1">
                <a:solidFill>
                  <a:srgbClr val="303741"/>
                </a:solidFill>
              </a:rPr>
              <a:t>肺热偏重</a:t>
            </a:r>
            <a:r>
              <a:rPr sz="1725" b="0">
                <a:solidFill>
                  <a:srgbClr val="303741"/>
                </a:solidFill>
              </a:rPr>
              <a:t>佐以清热化痰；</a:t>
            </a:r>
            <a:r>
              <a:rPr sz="1725" b="1">
                <a:solidFill>
                  <a:srgbClr val="303741"/>
                </a:solidFill>
              </a:rPr>
              <a:t>咽喉肿痛</a:t>
            </a:r>
            <a:r>
              <a:rPr sz="1725" b="0">
                <a:solidFill>
                  <a:srgbClr val="303741"/>
                </a:solidFill>
              </a:rPr>
              <a:t>则重加板蓝根、桔梗等解毒利咽之品。</a:t>
            </a:r>
          </a:p>
        </p:txBody>
      </p:sp>
      <p:sp>
        <p:nvSpPr>
          <p:cNvPr id="17" name="principle-3-surface">
            <a:extLst xmlns:a="http://schemas.openxmlformats.org/drawingml/2006/main">
              <a:ext uri="{FF2B5EF4-FFF2-40B4-BE49-F238E27FC236}">
                <a16:creationId xmlns:a16="http://schemas.microsoft.com/office/drawing/2014/main" id="{3F295CA1-4F01-4CBB-8820-A39A75076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333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8" name="principle-3-accent">
            <a:extLst xmlns:a="http://schemas.openxmlformats.org/drawingml/2006/main">
              <a:ext uri="{FF2B5EF4-FFF2-40B4-BE49-F238E27FC236}">
                <a16:creationId xmlns:a16="http://schemas.microsoft.com/office/drawing/2014/main" id="{7E108023-1538-416D-A9C7-02B1DE7F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571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rinciple-3-title">
            <a:extLst xmlns:a="http://schemas.openxmlformats.org/drawingml/2006/main">
              <a:ext uri="{FF2B5EF4-FFF2-40B4-BE49-F238E27FC236}">
                <a16:creationId xmlns:a16="http://schemas.microsoft.com/office/drawing/2014/main" id="{1B4E2230-6841-40B4-A9F8-51CBA20B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6685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03. 兼顾兼证，不可偏颇</a:t>
            </a:r>
          </a:p>
        </p:txBody>
      </p:sp>
      <p:sp>
        <p:nvSpPr>
          <p:cNvPr id="20" name="principle-3-divider">
            <a:extLst xmlns:a="http://schemas.openxmlformats.org/drawingml/2006/main">
              <a:ext uri="{FF2B5EF4-FFF2-40B4-BE49-F238E27FC236}">
                <a16:creationId xmlns:a16="http://schemas.microsoft.com/office/drawing/2014/main" id="{E9EE508B-F48C-485A-97E2-F7100629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1" name="principle-3-body">
            <a:extLst xmlns:a="http://schemas.openxmlformats.org/drawingml/2006/main">
              <a:ext uri="{FF2B5EF4-FFF2-40B4-BE49-F238E27FC236}">
                <a16:creationId xmlns:a16="http://schemas.microsoft.com/office/drawing/2014/main" id="{6A1BA92D-C834-4BB5-9F58-2AECC2E9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2990850" cy="28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临床多见</a:t>
            </a:r>
            <a:r>
              <a:rPr sz="1725" b="1">
                <a:solidFill>
                  <a:srgbClr val="303741"/>
                </a:solidFill>
              </a:rPr>
              <a:t>风热夹湿</a:t>
            </a:r>
            <a:r>
              <a:rPr sz="1725" b="0">
                <a:solidFill>
                  <a:srgbClr val="303741"/>
                </a:solidFill>
              </a:rPr>
              <a:t>等兼证，治疗时切忌只清热而不顾湿邪。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在辛凉清热基础上，需酌情配伍</a:t>
            </a:r>
            <a:r>
              <a:rPr sz="1725" b="1">
                <a:solidFill>
                  <a:srgbClr val="303741"/>
                </a:solidFill>
              </a:rPr>
              <a:t>藿香、佩兰、薏苡仁</a:t>
            </a:r>
            <a:r>
              <a:rPr sz="1725" b="0">
                <a:solidFill>
                  <a:srgbClr val="303741"/>
                </a:solidFill>
              </a:rPr>
              <a:t>等化湿药物，使热得清解、湿得化除。</a:t>
            </a:r>
          </a:p>
        </p:txBody>
      </p:sp>
      <p:sp>
        <p:nvSpPr>
          <p:cNvPr id="22" name="principle-summary">
            <a:extLst xmlns:a="http://schemas.openxmlformats.org/drawingml/2006/main">
              <a:ext uri="{FF2B5EF4-FFF2-40B4-BE49-F238E27FC236}">
                <a16:creationId xmlns:a16="http://schemas.microsoft.com/office/drawing/2014/main" id="{98B40423-D414-4898-8386-F52A1DA7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85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1">
                <a:solidFill>
                  <a:srgbClr val="303741"/>
                </a:solidFill>
              </a:rPr>
              <a:t>总结：</a:t>
            </a:r>
            <a:r>
              <a:rPr sz="1575" b="0">
                <a:solidFill>
                  <a:srgbClr val="303741"/>
                </a:solidFill>
              </a:rPr>
              <a:t>风热证治疗核心在于</a:t>
            </a:r>
            <a:r>
              <a:rPr sz="1575" b="1">
                <a:solidFill>
                  <a:srgbClr val="303741"/>
                </a:solidFill>
              </a:rPr>
              <a:t>“辛凉解表、清热解毒”</a:t>
            </a:r>
            <a:r>
              <a:rPr sz="1575" b="0">
                <a:solidFill>
                  <a:srgbClr val="303741"/>
                </a:solidFill>
              </a:rPr>
              <a:t>，同时严守禁忌，辨明主次兼证。</a:t>
            </a:r>
          </a:p>
        </p:txBody>
      </p:sp>
    </p:spTree>
    <p:extLst>
      <p:ext uri="{BB962C8B-B14F-4D97-AF65-F5344CB8AC3E}">
        <p14:creationId xmlns:p14="http://schemas.microsoft.com/office/powerpoint/2010/main" val="946588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75A7F1E8-E15E-4CF3-8BFA-7AA8DFE5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6E0436A4-6D54-4F27-8C47-5FAB9740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1.5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5AC530DB-7AFF-4BDE-8018-5D0555B4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疾病篇——风热证的证候细分（常见）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C7077B40-A64A-4D71-8CB0-2E0CC03A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B2B60CFC-3E8B-437D-8848-D39A57ED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953B53FE-8EAE-4BB4-8BF4-2AF82029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subtype-1-surface">
            <a:extLst xmlns:a="http://schemas.openxmlformats.org/drawingml/2006/main">
              <a:ext uri="{FF2B5EF4-FFF2-40B4-BE49-F238E27FC236}">
                <a16:creationId xmlns:a16="http://schemas.microsoft.com/office/drawing/2014/main" id="{ED490848-FC51-4FAF-A9BF-4DEBF657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47750"/>
            <a:ext cx="5238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8" name="subtype-1-accent">
            <a:extLst xmlns:a="http://schemas.openxmlformats.org/drawingml/2006/main">
              <a:ext uri="{FF2B5EF4-FFF2-40B4-BE49-F238E27FC236}">
                <a16:creationId xmlns:a16="http://schemas.microsoft.com/office/drawing/2014/main" id="{481F0062-1715-4603-B236-D542BE9B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477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ubtype-1-title">
            <a:extLst xmlns:a="http://schemas.openxmlformats.org/drawingml/2006/main">
              <a:ext uri="{FF2B5EF4-FFF2-40B4-BE49-F238E27FC236}">
                <a16:creationId xmlns:a16="http://schemas.microsoft.com/office/drawing/2014/main" id="{B51673D6-CA16-47CA-910D-1AF2208C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43000"/>
            <a:ext cx="489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01. 风热感冒（表热轻症）</a:t>
            </a:r>
          </a:p>
        </p:txBody>
      </p:sp>
      <p:sp>
        <p:nvSpPr>
          <p:cNvPr id="10" name="subtype-1-rule">
            <a:extLst xmlns:a="http://schemas.openxmlformats.org/drawingml/2006/main">
              <a:ext uri="{FF2B5EF4-FFF2-40B4-BE49-F238E27FC236}">
                <a16:creationId xmlns:a16="http://schemas.microsoft.com/office/drawing/2014/main" id="{4CBE152E-6A67-4E66-8DD3-45D9E6A9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1" name="subtype-1-clinical">
            <a:extLst xmlns:a="http://schemas.openxmlformats.org/drawingml/2006/main">
              <a:ext uri="{FF2B5EF4-FFF2-40B4-BE49-F238E27FC236}">
                <a16:creationId xmlns:a16="http://schemas.microsoft.com/office/drawing/2014/main" id="{6D827433-1F46-4191-829D-B3DC4178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2333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临床表现：</a:t>
            </a:r>
            <a:r>
              <a:rPr sz="1725" b="0">
                <a:solidFill>
                  <a:srgbClr val="303741"/>
                </a:solidFill>
              </a:rPr>
              <a:t>发热、微恶风、咽痛、黄涕、薄黄苔、脉浮数。</a:t>
            </a:r>
          </a:p>
        </p:txBody>
      </p:sp>
      <p:sp>
        <p:nvSpPr>
          <p:cNvPr id="12" name="subtype-1-column-rule">
            <a:extLst xmlns:a="http://schemas.openxmlformats.org/drawingml/2006/main">
              <a:ext uri="{FF2B5EF4-FFF2-40B4-BE49-F238E27FC236}">
                <a16:creationId xmlns:a16="http://schemas.microsoft.com/office/drawing/2014/main" id="{15271577-6F64-4EA8-B019-5B6006D5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71650"/>
            <a:ext cx="95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5E7"/>
          </a:solidFill>
          <a:ln xmlns:a="http://schemas.openxmlformats.org/drawingml/2006/main" w="0">
            <a:solidFill>
              <a:srgbClr val="D5E5E7"/>
            </a:solidFill>
            <a:prstDash val="solid"/>
          </a:ln>
        </p:spPr>
      </p:sp>
      <p:sp>
        <p:nvSpPr>
          <p:cNvPr id="13" name="subtype-1-treatment">
            <a:extLst xmlns:a="http://schemas.openxmlformats.org/drawingml/2006/main">
              <a:ext uri="{FF2B5EF4-FFF2-40B4-BE49-F238E27FC236}">
                <a16:creationId xmlns:a16="http://schemas.microsoft.com/office/drawing/2014/main" id="{1332B1F2-B85E-4D64-9772-3B6E4B85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771650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治则与方药：</a:t>
            </a:r>
            <a:r>
              <a:rPr sz="1725" b="0">
                <a:solidFill>
                  <a:srgbClr val="303741"/>
                </a:solidFill>
              </a:rPr>
              <a:t>辛凉解表。方用银翘散、桑菊饮；中成药可选维C银翘片、银翘解毒片。</a:t>
            </a:r>
          </a:p>
        </p:txBody>
      </p:sp>
      <p:sp>
        <p:nvSpPr>
          <p:cNvPr id="14" name="subtype-2-surface">
            <a:extLst xmlns:a="http://schemas.openxmlformats.org/drawingml/2006/main">
              <a:ext uri="{FF2B5EF4-FFF2-40B4-BE49-F238E27FC236}">
                <a16:creationId xmlns:a16="http://schemas.microsoft.com/office/drawing/2014/main" id="{68CD87E6-0810-48EB-86A7-18193073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47750"/>
            <a:ext cx="5238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5" name="subtype-2-accent">
            <a:extLst xmlns:a="http://schemas.openxmlformats.org/drawingml/2006/main">
              <a:ext uri="{FF2B5EF4-FFF2-40B4-BE49-F238E27FC236}">
                <a16:creationId xmlns:a16="http://schemas.microsoft.com/office/drawing/2014/main" id="{3066BB6F-68C1-4942-AE7C-453396B9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477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ubtype-2-title">
            <a:extLst xmlns:a="http://schemas.openxmlformats.org/drawingml/2006/main">
              <a:ext uri="{FF2B5EF4-FFF2-40B4-BE49-F238E27FC236}">
                <a16:creationId xmlns:a16="http://schemas.microsoft.com/office/drawing/2014/main" id="{786591E8-E0BA-4F90-AC3C-F1B220D6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143000"/>
            <a:ext cx="489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02. 风热犯肺（咳嗽为主）</a:t>
            </a:r>
          </a:p>
        </p:txBody>
      </p:sp>
      <p:sp>
        <p:nvSpPr>
          <p:cNvPr id="17" name="subtype-2-rule">
            <a:extLst xmlns:a="http://schemas.openxmlformats.org/drawingml/2006/main">
              <a:ext uri="{FF2B5EF4-FFF2-40B4-BE49-F238E27FC236}">
                <a16:creationId xmlns:a16="http://schemas.microsoft.com/office/drawing/2014/main" id="{4223BC39-CF31-4123-8E51-0EF11882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58115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8" name="subtype-2-clinical">
            <a:extLst xmlns:a="http://schemas.openxmlformats.org/drawingml/2006/main">
              <a:ext uri="{FF2B5EF4-FFF2-40B4-BE49-F238E27FC236}">
                <a16:creationId xmlns:a16="http://schemas.microsoft.com/office/drawing/2014/main" id="{DDA5CFBD-DA47-4170-814D-0E099DA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2333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临床表现：</a:t>
            </a:r>
            <a:r>
              <a:rPr sz="1725" b="0">
                <a:solidFill>
                  <a:srgbClr val="303741"/>
                </a:solidFill>
              </a:rPr>
              <a:t>咳嗽频作、咳痰黏稠、咽痛、胸闷，或伴鼻流黄涕。</a:t>
            </a:r>
          </a:p>
        </p:txBody>
      </p:sp>
      <p:sp>
        <p:nvSpPr>
          <p:cNvPr id="19" name="subtype-2-column-rule">
            <a:extLst xmlns:a="http://schemas.openxmlformats.org/drawingml/2006/main">
              <a:ext uri="{FF2B5EF4-FFF2-40B4-BE49-F238E27FC236}">
                <a16:creationId xmlns:a16="http://schemas.microsoft.com/office/drawing/2014/main" id="{4CD8EEA6-4252-4C0E-8902-94777382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771650"/>
            <a:ext cx="95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5E7"/>
          </a:solidFill>
          <a:ln xmlns:a="http://schemas.openxmlformats.org/drawingml/2006/main" w="0">
            <a:solidFill>
              <a:srgbClr val="D5E5E7"/>
            </a:solidFill>
            <a:prstDash val="solid"/>
          </a:ln>
        </p:spPr>
      </p:sp>
      <p:sp>
        <p:nvSpPr>
          <p:cNvPr id="20" name="subtype-2-treatment">
            <a:extLst xmlns:a="http://schemas.openxmlformats.org/drawingml/2006/main">
              <a:ext uri="{FF2B5EF4-FFF2-40B4-BE49-F238E27FC236}">
                <a16:creationId xmlns:a16="http://schemas.microsoft.com/office/drawing/2014/main" id="{EC495C60-5599-4BA4-9397-BF60954E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771650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治则与方药：</a:t>
            </a:r>
            <a:r>
              <a:rPr sz="1725" b="0">
                <a:solidFill>
                  <a:srgbClr val="303741"/>
                </a:solidFill>
              </a:rPr>
              <a:t>疏风清热、宣肺止咳。方用桑菊饮；中成药如急支糖浆、川贝枇杷膏。</a:t>
            </a:r>
          </a:p>
        </p:txBody>
      </p:sp>
      <p:sp>
        <p:nvSpPr>
          <p:cNvPr id="21" name="subtype-3-surface">
            <a:extLst xmlns:a="http://schemas.openxmlformats.org/drawingml/2006/main">
              <a:ext uri="{FF2B5EF4-FFF2-40B4-BE49-F238E27FC236}">
                <a16:creationId xmlns:a16="http://schemas.microsoft.com/office/drawing/2014/main" id="{F25C0E89-DA3C-484B-A474-2DDBFC11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238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2" name="subtype-3-accent">
            <a:extLst xmlns:a="http://schemas.openxmlformats.org/drawingml/2006/main">
              <a:ext uri="{FF2B5EF4-FFF2-40B4-BE49-F238E27FC236}">
                <a16:creationId xmlns:a16="http://schemas.microsoft.com/office/drawing/2014/main" id="{AA37BC19-B667-444B-BC3F-3FD54A00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ubtype-3-title">
            <a:extLst xmlns:a="http://schemas.openxmlformats.org/drawingml/2006/main">
              <a:ext uri="{FF2B5EF4-FFF2-40B4-BE49-F238E27FC236}">
                <a16:creationId xmlns:a16="http://schemas.microsoft.com/office/drawing/2014/main" id="{FB762498-A7C3-4A14-BCD6-FBEB2F5B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489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03. 风热上攻（头面热象偏重）</a:t>
            </a:r>
          </a:p>
        </p:txBody>
      </p:sp>
      <p:sp>
        <p:nvSpPr>
          <p:cNvPr id="24" name="subtype-3-rule">
            <a:extLst xmlns:a="http://schemas.openxmlformats.org/drawingml/2006/main">
              <a:ext uri="{FF2B5EF4-FFF2-40B4-BE49-F238E27FC236}">
                <a16:creationId xmlns:a16="http://schemas.microsoft.com/office/drawing/2014/main" id="{95B84923-28A0-4766-9D6B-9FCA6528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290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5" name="subtype-3-clinical">
            <a:extLst xmlns:a="http://schemas.openxmlformats.org/drawingml/2006/main">
              <a:ext uri="{FF2B5EF4-FFF2-40B4-BE49-F238E27FC236}">
                <a16:creationId xmlns:a16="http://schemas.microsoft.com/office/drawing/2014/main" id="{81E05A89-ACDE-42FE-8C9B-D5BF3918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2333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临床表现：</a:t>
            </a:r>
            <a:r>
              <a:rPr sz="1725" b="0">
                <a:solidFill>
                  <a:srgbClr val="303741"/>
                </a:solidFill>
              </a:rPr>
              <a:t>头痛剧烈、面红目赤、咽喉肿痛、口舌生疮，或牙龈肿痛。</a:t>
            </a:r>
          </a:p>
        </p:txBody>
      </p:sp>
      <p:sp>
        <p:nvSpPr>
          <p:cNvPr id="26" name="subtype-3-column-rule">
            <a:extLst xmlns:a="http://schemas.openxmlformats.org/drawingml/2006/main">
              <a:ext uri="{FF2B5EF4-FFF2-40B4-BE49-F238E27FC236}">
                <a16:creationId xmlns:a16="http://schemas.microsoft.com/office/drawing/2014/main" id="{955E4674-ABF9-4F89-BEB6-25828513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43400"/>
            <a:ext cx="95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5E7"/>
          </a:solidFill>
          <a:ln xmlns:a="http://schemas.openxmlformats.org/drawingml/2006/main" w="0">
            <a:solidFill>
              <a:srgbClr val="D5E5E7"/>
            </a:solidFill>
            <a:prstDash val="solid"/>
          </a:ln>
        </p:spPr>
      </p:sp>
      <p:sp>
        <p:nvSpPr>
          <p:cNvPr id="27" name="subtype-3-treatment">
            <a:extLst xmlns:a="http://schemas.openxmlformats.org/drawingml/2006/main">
              <a:ext uri="{FF2B5EF4-FFF2-40B4-BE49-F238E27FC236}">
                <a16:creationId xmlns:a16="http://schemas.microsoft.com/office/drawing/2014/main" id="{DD06F133-F07A-4005-BF88-87137B20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343400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治则与方药：</a:t>
            </a:r>
            <a:r>
              <a:rPr sz="1725" b="0">
                <a:solidFill>
                  <a:srgbClr val="303741"/>
                </a:solidFill>
              </a:rPr>
              <a:t>疏风清热、清利头目；可选黄连上清片、板蓝根颗粒、穿心莲内酯滴丸。</a:t>
            </a:r>
          </a:p>
        </p:txBody>
      </p:sp>
      <p:sp>
        <p:nvSpPr>
          <p:cNvPr id="28" name="subtype-4-surface">
            <a:extLst xmlns:a="http://schemas.openxmlformats.org/drawingml/2006/main">
              <a:ext uri="{FF2B5EF4-FFF2-40B4-BE49-F238E27FC236}">
                <a16:creationId xmlns:a16="http://schemas.microsoft.com/office/drawing/2014/main" id="{728B8762-FE0F-4BD2-A599-A0C551C0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19500"/>
            <a:ext cx="5238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9" name="subtype-4-accent">
            <a:extLst xmlns:a="http://schemas.openxmlformats.org/drawingml/2006/main">
              <a:ext uri="{FF2B5EF4-FFF2-40B4-BE49-F238E27FC236}">
                <a16:creationId xmlns:a16="http://schemas.microsoft.com/office/drawing/2014/main" id="{91B3165B-415E-4ECC-816A-C831DDBC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1950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ubtype-4-title">
            <a:extLst xmlns:a="http://schemas.openxmlformats.org/drawingml/2006/main">
              <a:ext uri="{FF2B5EF4-FFF2-40B4-BE49-F238E27FC236}">
                <a16:creationId xmlns:a16="http://schemas.microsoft.com/office/drawing/2014/main" id="{670C3EF5-EC62-499E-BE87-5745B5A1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14750"/>
            <a:ext cx="4895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04. 风热夹湿（夏季多见）</a:t>
            </a:r>
          </a:p>
        </p:txBody>
      </p:sp>
      <p:sp>
        <p:nvSpPr>
          <p:cNvPr id="31" name="subtype-4-rule">
            <a:extLst xmlns:a="http://schemas.openxmlformats.org/drawingml/2006/main">
              <a:ext uri="{FF2B5EF4-FFF2-40B4-BE49-F238E27FC236}">
                <a16:creationId xmlns:a16="http://schemas.microsoft.com/office/drawing/2014/main" id="{DD01F135-FF2A-4612-AB43-8414F060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5290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32" name="subtype-4-clinical">
            <a:extLst xmlns:a="http://schemas.openxmlformats.org/drawingml/2006/main">
              <a:ext uri="{FF2B5EF4-FFF2-40B4-BE49-F238E27FC236}">
                <a16:creationId xmlns:a16="http://schemas.microsoft.com/office/drawing/2014/main" id="{24B7B952-5F13-457A-92BA-0E0141D9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43400"/>
            <a:ext cx="2333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临床表现：</a:t>
            </a:r>
            <a:r>
              <a:rPr sz="1725" b="0">
                <a:solidFill>
                  <a:srgbClr val="303741"/>
                </a:solidFill>
              </a:rPr>
              <a:t>发热、头昏沉、胸闷、肢体困重、舌苔黄腻，多在夏季暑湿时发生。</a:t>
            </a:r>
          </a:p>
        </p:txBody>
      </p:sp>
      <p:sp>
        <p:nvSpPr>
          <p:cNvPr id="33" name="subtype-4-column-rule">
            <a:extLst xmlns:a="http://schemas.openxmlformats.org/drawingml/2006/main">
              <a:ext uri="{FF2B5EF4-FFF2-40B4-BE49-F238E27FC236}">
                <a16:creationId xmlns:a16="http://schemas.microsoft.com/office/drawing/2014/main" id="{B7D0F8C6-83C4-47DE-8FDE-D76CB9FB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43400"/>
            <a:ext cx="95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5E7"/>
          </a:solidFill>
          <a:ln xmlns:a="http://schemas.openxmlformats.org/drawingml/2006/main" w="0">
            <a:solidFill>
              <a:srgbClr val="D5E5E7"/>
            </a:solidFill>
            <a:prstDash val="solid"/>
          </a:ln>
        </p:spPr>
      </p:sp>
      <p:sp>
        <p:nvSpPr>
          <p:cNvPr id="34" name="subtype-4-treatment">
            <a:extLst xmlns:a="http://schemas.openxmlformats.org/drawingml/2006/main">
              <a:ext uri="{FF2B5EF4-FFF2-40B4-BE49-F238E27FC236}">
                <a16:creationId xmlns:a16="http://schemas.microsoft.com/office/drawing/2014/main" id="{F401928F-A9FA-445E-A543-E98333EF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43400"/>
            <a:ext cx="2286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治则与方药：</a:t>
            </a:r>
            <a:r>
              <a:rPr sz="1725" b="0">
                <a:solidFill>
                  <a:srgbClr val="303741"/>
                </a:solidFill>
              </a:rPr>
              <a:t>疏风清热，兼化湿和中。方用新加香薷饮；中成药可选甘露消毒丹。</a:t>
            </a:r>
          </a:p>
        </p:txBody>
      </p:sp>
    </p:spTree>
    <p:extLst>
      <p:ext uri="{BB962C8B-B14F-4D97-AF65-F5344CB8AC3E}">
        <p14:creationId xmlns:p14="http://schemas.microsoft.com/office/powerpoint/2010/main" val="17018354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B14D27F4-428B-446E-BDCD-47A776E4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2516F8AE-C103-49DA-ADEC-EE1F8D74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2.1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9CA203EE-1C81-47A8-A74F-1536B2DC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商品篇——穿心莲内酯滴丸的产品信息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8C86C27E-896D-443A-8F27-ADBBB07D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87F944F4-BBCD-4119-B2E6-8BC09D01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7FD967BA-B75E-471D-A902-AF584E14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9cb99ceae477f"/>
          <a:stretch xmlns:a="http://schemas.openxmlformats.org/drawingml/2006/main"/>
        </p:blipFill>
        <p:spPr>
          <a:xfrm xmlns:a="http://schemas.openxmlformats.org/drawingml/2006/main">
            <a:off x="482774" y="2095500"/>
            <a:ext cx="2368202" cy="2381250"/>
          </a:xfrm>
          <a:prstGeom xmlns:a="http://schemas.openxmlformats.org/drawingml/2006/main" prst="rect">
            <a:avLst/>
          </a:prstGeom>
        </p:spPr>
      </p:pic>
      <p:sp>
        <p:nvSpPr>
          <p:cNvPr id="8" name="product-info-outline">
            <a:extLst xmlns:a="http://schemas.openxmlformats.org/drawingml/2006/main">
              <a:ext uri="{FF2B5EF4-FFF2-40B4-BE49-F238E27FC236}">
                <a16:creationId xmlns:a16="http://schemas.microsoft.com/office/drawing/2014/main" id="{75D5FECF-B4DC-4C8A-B6CB-D4153FE6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85875"/>
            <a:ext cx="7953375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09900"/>
            </a:solidFill>
            <a:prstDash val="solid"/>
          </a:ln>
        </p:spPr>
      </p:sp>
      <p:sp>
        <p:nvSpPr>
          <p:cNvPr id="9" name="product-info-label-1">
            <a:extLst xmlns:a="http://schemas.openxmlformats.org/drawingml/2006/main">
              <a:ext uri="{FF2B5EF4-FFF2-40B4-BE49-F238E27FC236}">
                <a16:creationId xmlns:a16="http://schemas.microsoft.com/office/drawing/2014/main" id="{B8BE3D83-385A-440F-A834-836D3F76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619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【成  份】</a:t>
            </a:r>
          </a:p>
        </p:txBody>
      </p:sp>
      <p:sp>
        <p:nvSpPr>
          <p:cNvPr id="10" name="product-info-value-1">
            <a:extLst xmlns:a="http://schemas.openxmlformats.org/drawingml/2006/main">
              <a:ext uri="{FF2B5EF4-FFF2-40B4-BE49-F238E27FC236}">
                <a16:creationId xmlns:a16="http://schemas.microsoft.com/office/drawing/2014/main" id="{B0122D9B-FAE1-4805-9A38-B6C34ABE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61925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穿心莲内酯（纯度高达97%以上）；辅料为聚乙二醇、薄膜包衣预混剂。</a:t>
            </a:r>
          </a:p>
        </p:txBody>
      </p:sp>
      <p:sp>
        <p:nvSpPr>
          <p:cNvPr id="11" name="product-info-label-2">
            <a:extLst xmlns:a="http://schemas.openxmlformats.org/drawingml/2006/main">
              <a:ext uri="{FF2B5EF4-FFF2-40B4-BE49-F238E27FC236}">
                <a16:creationId xmlns:a16="http://schemas.microsoft.com/office/drawing/2014/main" id="{83362CEE-6972-4073-BFE1-E2166738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09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【性  状】</a:t>
            </a:r>
          </a:p>
        </p:txBody>
      </p:sp>
      <p:sp>
        <p:nvSpPr>
          <p:cNvPr id="12" name="product-info-value-2">
            <a:extLst xmlns:a="http://schemas.openxmlformats.org/drawingml/2006/main">
              <a:ext uri="{FF2B5EF4-FFF2-40B4-BE49-F238E27FC236}">
                <a16:creationId xmlns:a16="http://schemas.microsoft.com/office/drawing/2014/main" id="{B78EBDDF-E03E-4B00-BB63-EABD3F12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20980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本品为黄色的包衣滴丸，除去包衣后显类白色；味苦。</a:t>
            </a:r>
          </a:p>
        </p:txBody>
      </p:sp>
      <p:sp>
        <p:nvSpPr>
          <p:cNvPr id="13" name="product-info-label-3">
            <a:extLst xmlns:a="http://schemas.openxmlformats.org/drawingml/2006/main">
              <a:ext uri="{FF2B5EF4-FFF2-40B4-BE49-F238E27FC236}">
                <a16:creationId xmlns:a16="http://schemas.microsoft.com/office/drawing/2014/main" id="{0D703B36-F0DB-4851-8909-71BCDDB7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00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【功能主治】</a:t>
            </a:r>
          </a:p>
        </p:txBody>
      </p:sp>
      <p:sp>
        <p:nvSpPr>
          <p:cNvPr id="14" name="product-info-value-3">
            <a:extLst xmlns:a="http://schemas.openxmlformats.org/drawingml/2006/main">
              <a:ext uri="{FF2B5EF4-FFF2-40B4-BE49-F238E27FC236}">
                <a16:creationId xmlns:a16="http://schemas.microsoft.com/office/drawing/2014/main" id="{08A637D0-D79A-476D-A04A-D9B5388B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80035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60012"/>
                </a:solidFill>
              </a:defRPr>
            </a:pPr>
            <a:r>
              <a:rPr sz="1575" b="1">
                <a:solidFill>
                  <a:srgbClr val="E60012"/>
                </a:solidFill>
              </a:rPr>
              <a:t>清热解毒，抗菌消炎。用于上呼吸道感染风热证所致的咽痛。</a:t>
            </a:r>
          </a:p>
        </p:txBody>
      </p:sp>
      <p:sp>
        <p:nvSpPr>
          <p:cNvPr id="15" name="product-info-label-4">
            <a:extLst xmlns:a="http://schemas.openxmlformats.org/drawingml/2006/main">
              <a:ext uri="{FF2B5EF4-FFF2-40B4-BE49-F238E27FC236}">
                <a16:creationId xmlns:a16="http://schemas.microsoft.com/office/drawing/2014/main" id="{1112890B-919E-46F7-840D-D151AC25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90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【规  格】</a:t>
            </a:r>
          </a:p>
        </p:txBody>
      </p:sp>
      <p:sp>
        <p:nvSpPr>
          <p:cNvPr id="16" name="product-info-value-4">
            <a:extLst xmlns:a="http://schemas.openxmlformats.org/drawingml/2006/main">
              <a:ext uri="{FF2B5EF4-FFF2-40B4-BE49-F238E27FC236}">
                <a16:creationId xmlns:a16="http://schemas.microsoft.com/office/drawing/2014/main" id="{11211013-A3A8-4697-A4DB-33CF788C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9090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每袋含穿心莲内酯0.15g。</a:t>
            </a:r>
          </a:p>
        </p:txBody>
      </p:sp>
      <p:sp>
        <p:nvSpPr>
          <p:cNvPr id="17" name="product-info-label-5">
            <a:extLst xmlns:a="http://schemas.openxmlformats.org/drawingml/2006/main">
              <a:ext uri="{FF2B5EF4-FFF2-40B4-BE49-F238E27FC236}">
                <a16:creationId xmlns:a16="http://schemas.microsoft.com/office/drawing/2014/main" id="{07F4616D-A33A-43CB-B741-32DE6338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814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【用量用法】</a:t>
            </a:r>
          </a:p>
        </p:txBody>
      </p:sp>
      <p:sp>
        <p:nvSpPr>
          <p:cNvPr id="18" name="product-info-value-5">
            <a:extLst xmlns:a="http://schemas.openxmlformats.org/drawingml/2006/main">
              <a:ext uri="{FF2B5EF4-FFF2-40B4-BE49-F238E27FC236}">
                <a16:creationId xmlns:a16="http://schemas.microsoft.com/office/drawing/2014/main" id="{2F91093F-E8A5-4DC3-86CA-07EE97AC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98145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60012"/>
                </a:solidFill>
              </a:defRPr>
            </a:pPr>
            <a:r>
              <a:rPr sz="1575" b="1">
                <a:solidFill>
                  <a:srgbClr val="E60012"/>
                </a:solidFill>
              </a:rPr>
              <a:t>口服，一次1袋，一日3次。（建议首次服用两袋）</a:t>
            </a:r>
          </a:p>
        </p:txBody>
      </p:sp>
      <p:sp>
        <p:nvSpPr>
          <p:cNvPr id="19" name="product-info-label-6">
            <a:extLst xmlns:a="http://schemas.openxmlformats.org/drawingml/2006/main">
              <a:ext uri="{FF2B5EF4-FFF2-40B4-BE49-F238E27FC236}">
                <a16:creationId xmlns:a16="http://schemas.microsoft.com/office/drawing/2014/main" id="{14B8C047-606E-42CC-9C02-A6254DB3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572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03741"/>
                </a:solidFill>
              </a:defRPr>
            </a:pPr>
            <a:r>
              <a:rPr sz="1650" b="1">
                <a:solidFill>
                  <a:srgbClr val="303741"/>
                </a:solidFill>
              </a:rPr>
              <a:t>【禁  忌】</a:t>
            </a:r>
          </a:p>
        </p:txBody>
      </p:sp>
      <p:sp>
        <p:nvSpPr>
          <p:cNvPr id="20" name="product-info-value-6">
            <a:extLst xmlns:a="http://schemas.openxmlformats.org/drawingml/2006/main">
              <a:ext uri="{FF2B5EF4-FFF2-40B4-BE49-F238E27FC236}">
                <a16:creationId xmlns:a16="http://schemas.microsoft.com/office/drawing/2014/main" id="{D8F65E1D-94CD-4816-8BC7-E68D1E57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572000"/>
            <a:ext cx="561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对本品过敏者禁用。</a:t>
            </a:r>
          </a:p>
        </p:txBody>
      </p:sp>
    </p:spTree>
    <p:extLst>
      <p:ext uri="{BB962C8B-B14F-4D97-AF65-F5344CB8AC3E}">
        <p14:creationId xmlns:p14="http://schemas.microsoft.com/office/powerpoint/2010/main" val="19640428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AAD60816-0FA6-4313-B90E-BD57CF6B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78C9CBCC-6C7E-4D40-9A07-47A70751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E90EA2C0-CE45-4C27-921D-97CB05BF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商品篇——穿心莲内酯滴丸的产品优势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B8ED2E01-011C-4E10-B109-FE11E775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453C06E8-4F5E-482E-9FAF-1960807E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9D5CD264-9075-4F75-8989-FA38D72A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advantage-core">
            <a:extLst xmlns:a="http://schemas.openxmlformats.org/drawingml/2006/main">
              <a:ext uri="{FF2B5EF4-FFF2-40B4-BE49-F238E27FC236}">
                <a16:creationId xmlns:a16="http://schemas.microsoft.com/office/drawing/2014/main" id="{B3D0A8E8-319D-437B-824C-50EA9040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000125"/>
            <a:ext cx="20002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B69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dvantage-core-text">
            <a:extLst xmlns:a="http://schemas.openxmlformats.org/drawingml/2006/main">
              <a:ext uri="{FF2B5EF4-FFF2-40B4-BE49-F238E27FC236}">
                <a16:creationId xmlns:a16="http://schemas.microsoft.com/office/drawing/2014/main" id="{94853420-1F02-4F44-A5BF-56AD2EE3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333500"/>
            <a:ext cx="1619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一机理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三优势</a:t>
            </a:r>
          </a:p>
        </p:txBody>
      </p:sp>
      <p:sp>
        <p:nvSpPr>
          <p:cNvPr id="9" name="advantage-axis">
            <a:extLst xmlns:a="http://schemas.openxmlformats.org/drawingml/2006/main">
              <a:ext uri="{FF2B5EF4-FFF2-40B4-BE49-F238E27FC236}">
                <a16:creationId xmlns:a16="http://schemas.microsoft.com/office/drawing/2014/main" id="{95FFEFBF-AEAB-4C18-8EEA-D0D3E2B1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476625"/>
            <a:ext cx="790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DDD"/>
          </a:solidFill>
          <a:ln xmlns:a="http://schemas.openxmlformats.org/drawingml/2006/main" w="0">
            <a:solidFill>
              <a:srgbClr val="DDDDDD"/>
            </a:solidFill>
            <a:prstDash val="solid"/>
          </a:ln>
        </p:spPr>
      </p:sp>
      <p:sp>
        <p:nvSpPr>
          <p:cNvPr id="10" name="advantage-node-1">
            <a:extLst xmlns:a="http://schemas.openxmlformats.org/drawingml/2006/main">
              <a:ext uri="{FF2B5EF4-FFF2-40B4-BE49-F238E27FC236}">
                <a16:creationId xmlns:a16="http://schemas.microsoft.com/office/drawing/2014/main" id="{55CD96FF-0CB1-4A32-AAEE-3017BE9D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956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4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dvantage-node-label-1">
            <a:extLst xmlns:a="http://schemas.openxmlformats.org/drawingml/2006/main">
              <a:ext uri="{FF2B5EF4-FFF2-40B4-BE49-F238E27FC236}">
                <a16:creationId xmlns:a16="http://schemas.microsoft.com/office/drawing/2014/main" id="{5BC00FE8-BB94-45F3-90E2-F8DB1312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670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机理</a:t>
            </a:r>
          </a:p>
        </p:txBody>
      </p:sp>
      <p:sp>
        <p:nvSpPr>
          <p:cNvPr id="12" name="advantage-heading-1">
            <a:extLst xmlns:a="http://schemas.openxmlformats.org/drawingml/2006/main">
              <a:ext uri="{FF2B5EF4-FFF2-40B4-BE49-F238E27FC236}">
                <a16:creationId xmlns:a16="http://schemas.microsoft.com/office/drawing/2014/main" id="{8ED0DABA-E71F-46E2-B234-94D1D707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48125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69B4"/>
                </a:solidFill>
              </a:defRPr>
            </a:pPr>
            <a:r>
              <a:rPr sz="1425" b="1">
                <a:solidFill>
                  <a:srgbClr val="CB69B4"/>
                </a:solidFill>
              </a:rPr>
              <a:t>抑制核转录因子表达</a:t>
            </a:r>
          </a:p>
        </p:txBody>
      </p:sp>
      <p:sp>
        <p:nvSpPr>
          <p:cNvPr id="13" name="advantage-body-1">
            <a:extLst xmlns:a="http://schemas.openxmlformats.org/drawingml/2006/main">
              <a:ext uri="{FF2B5EF4-FFF2-40B4-BE49-F238E27FC236}">
                <a16:creationId xmlns:a16="http://schemas.microsoft.com/office/drawing/2014/main" id="{7C6B2B25-C7C7-46C8-9B1E-CEADC2AE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86300"/>
            <a:ext cx="1952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提高机体防御能力</a:t>
            </a:r>
          </a:p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减轻细菌或病毒感染带来的不适症状</a:t>
            </a:r>
          </a:p>
        </p:txBody>
      </p:sp>
      <p:sp>
        <p:nvSpPr>
          <p:cNvPr id="14" name="advantage-node-2">
            <a:extLst xmlns:a="http://schemas.openxmlformats.org/drawingml/2006/main">
              <a:ext uri="{FF2B5EF4-FFF2-40B4-BE49-F238E27FC236}">
                <a16:creationId xmlns:a16="http://schemas.microsoft.com/office/drawing/2014/main" id="{1B2BC46C-0E28-4EB2-9FDD-76471082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956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B4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dvantage-node-label-2">
            <a:extLst xmlns:a="http://schemas.openxmlformats.org/drawingml/2006/main">
              <a:ext uri="{FF2B5EF4-FFF2-40B4-BE49-F238E27FC236}">
                <a16:creationId xmlns:a16="http://schemas.microsoft.com/office/drawing/2014/main" id="{AFBA9E9C-68BA-4EC0-BC63-6E242A196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670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单</a:t>
            </a:r>
          </a:p>
        </p:txBody>
      </p:sp>
      <p:sp>
        <p:nvSpPr>
          <p:cNvPr id="16" name="advantage-heading-2">
            <a:extLst xmlns:a="http://schemas.openxmlformats.org/drawingml/2006/main">
              <a:ext uri="{FF2B5EF4-FFF2-40B4-BE49-F238E27FC236}">
                <a16:creationId xmlns:a16="http://schemas.microsoft.com/office/drawing/2014/main" id="{575C321C-72CD-4AEB-94CA-41102214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048125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69B4"/>
                </a:solidFill>
              </a:defRPr>
            </a:pPr>
            <a:r>
              <a:rPr sz="1425" b="1">
                <a:solidFill>
                  <a:srgbClr val="CB69B4"/>
                </a:solidFill>
              </a:rPr>
              <a:t>百分百纯植物提取</a:t>
            </a:r>
          </a:p>
        </p:txBody>
      </p:sp>
      <p:sp>
        <p:nvSpPr>
          <p:cNvPr id="17" name="advantage-body-2">
            <a:extLst xmlns:a="http://schemas.openxmlformats.org/drawingml/2006/main">
              <a:ext uri="{FF2B5EF4-FFF2-40B4-BE49-F238E27FC236}">
                <a16:creationId xmlns:a16="http://schemas.microsoft.com/office/drawing/2014/main" id="{135A727F-392F-4578-A7AE-FAD27E38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686300"/>
            <a:ext cx="1952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单体制剂、植物化学药</a:t>
            </a:r>
          </a:p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机理确切可控，降低联合用药风险</a:t>
            </a:r>
          </a:p>
        </p:txBody>
      </p:sp>
      <p:sp>
        <p:nvSpPr>
          <p:cNvPr id="18" name="advantage-node-3">
            <a:extLst xmlns:a="http://schemas.openxmlformats.org/drawingml/2006/main">
              <a:ext uri="{FF2B5EF4-FFF2-40B4-BE49-F238E27FC236}">
                <a16:creationId xmlns:a16="http://schemas.microsoft.com/office/drawing/2014/main" id="{4162BF82-1A49-4268-A297-3CE3EAA9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956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BE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dvantage-node-label-3">
            <a:extLst xmlns:a="http://schemas.openxmlformats.org/drawingml/2006/main">
              <a:ext uri="{FF2B5EF4-FFF2-40B4-BE49-F238E27FC236}">
                <a16:creationId xmlns:a16="http://schemas.microsoft.com/office/drawing/2014/main" id="{EB635EA9-A77A-4A2E-8DCF-09808741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670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纯</a:t>
            </a:r>
          </a:p>
        </p:txBody>
      </p:sp>
      <p:sp>
        <p:nvSpPr>
          <p:cNvPr id="20" name="advantage-heading-3">
            <a:extLst xmlns:a="http://schemas.openxmlformats.org/drawingml/2006/main">
              <a:ext uri="{FF2B5EF4-FFF2-40B4-BE49-F238E27FC236}">
                <a16:creationId xmlns:a16="http://schemas.microsoft.com/office/drawing/2014/main" id="{710F0E19-E735-4E60-862E-233E8B90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048125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69B4"/>
                </a:solidFill>
              </a:defRPr>
            </a:pPr>
            <a:r>
              <a:rPr sz="1425" b="1">
                <a:solidFill>
                  <a:srgbClr val="CB69B4"/>
                </a:solidFill>
              </a:rPr>
              <a:t>穿心莲内酯纯度97%</a:t>
            </a:r>
          </a:p>
        </p:txBody>
      </p:sp>
      <p:sp>
        <p:nvSpPr>
          <p:cNvPr id="21" name="advantage-body-3">
            <a:extLst xmlns:a="http://schemas.openxmlformats.org/drawingml/2006/main">
              <a:ext uri="{FF2B5EF4-FFF2-40B4-BE49-F238E27FC236}">
                <a16:creationId xmlns:a16="http://schemas.microsoft.com/office/drawing/2014/main" id="{5B870F02-CB20-42F8-A740-717E05F0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686300"/>
            <a:ext cx="1952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质量稳定，载药量高</a:t>
            </a:r>
          </a:p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疗效好</a:t>
            </a:r>
          </a:p>
        </p:txBody>
      </p:sp>
      <p:sp>
        <p:nvSpPr>
          <p:cNvPr id="22" name="advantage-node-4">
            <a:extLst xmlns:a="http://schemas.openxmlformats.org/drawingml/2006/main">
              <a:ext uri="{FF2B5EF4-FFF2-40B4-BE49-F238E27FC236}">
                <a16:creationId xmlns:a16="http://schemas.microsoft.com/office/drawing/2014/main" id="{CAC3D2D9-6600-4A4A-9CB4-9401ED70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956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2C3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advantage-node-label-4">
            <a:extLst xmlns:a="http://schemas.openxmlformats.org/drawingml/2006/main">
              <a:ext uri="{FF2B5EF4-FFF2-40B4-BE49-F238E27FC236}">
                <a16:creationId xmlns:a16="http://schemas.microsoft.com/office/drawing/2014/main" id="{02FC5E4E-1AEF-49F1-B243-5735BEBE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670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快</a:t>
            </a:r>
          </a:p>
        </p:txBody>
      </p:sp>
      <p:sp>
        <p:nvSpPr>
          <p:cNvPr id="24" name="advantage-heading-4">
            <a:extLst xmlns:a="http://schemas.openxmlformats.org/drawingml/2006/main">
              <a:ext uri="{FF2B5EF4-FFF2-40B4-BE49-F238E27FC236}">
                <a16:creationId xmlns:a16="http://schemas.microsoft.com/office/drawing/2014/main" id="{65B14586-4638-4A0C-9105-8FE5E1B7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48125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B69B4"/>
                </a:solidFill>
              </a:defRPr>
            </a:pPr>
            <a:r>
              <a:rPr sz="1425" b="1">
                <a:solidFill>
                  <a:srgbClr val="CB69B4"/>
                </a:solidFill>
              </a:rPr>
              <a:t>滴丸剂型固体分散技术</a:t>
            </a:r>
          </a:p>
        </p:txBody>
      </p:sp>
      <p:sp>
        <p:nvSpPr>
          <p:cNvPr id="25" name="advantage-body-4">
            <a:extLst xmlns:a="http://schemas.openxmlformats.org/drawingml/2006/main">
              <a:ext uri="{FF2B5EF4-FFF2-40B4-BE49-F238E27FC236}">
                <a16:creationId xmlns:a16="http://schemas.microsoft.com/office/drawing/2014/main" id="{D09E54FE-1ACA-425F-A686-2889E9C3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686300"/>
            <a:ext cx="1952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溶散时间短</a:t>
            </a:r>
          </a:p>
          <a:p xmlns:a="http://schemas.openxmlformats.org/drawingml/2006/main">
            <a:pPr algn="ctr">
              <a:defRPr sz="1425" b="0">
                <a:solidFill>
                  <a:srgbClr val="303741"/>
                </a:solidFill>
              </a:defRPr>
            </a:pPr>
            <a:r>
              <a:rPr sz="1425" b="0">
                <a:solidFill>
                  <a:srgbClr val="303741"/>
                </a:solidFill>
              </a:rPr>
              <a:t>快速吸收，起效迅速</a:t>
            </a:r>
          </a:p>
        </p:txBody>
      </p:sp>
    </p:spTree>
    <p:extLst>
      <p:ext uri="{BB962C8B-B14F-4D97-AF65-F5344CB8AC3E}">
        <p14:creationId xmlns:p14="http://schemas.microsoft.com/office/powerpoint/2010/main" val="13537378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C8348874-6603-4B78-A672-A62031B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9DC10F70-E70D-4410-B18C-DD181744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2.3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89FBBA30-1B56-4552-BF1C-024C4062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商品篇——穿心莲内酯滴丸的核心优势总结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782EEEE4-F513-48EE-B5E8-0A091F19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96C10F6C-B58C-4BE5-A474-1BD5D2B5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1CD7F1AF-F85B-4A2D-BC98-6AFC19FC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5560222b849b1"/>
          <a:stretch xmlns:a="http://schemas.openxmlformats.org/drawingml/2006/main"/>
        </p:blipFill>
        <p:spPr>
          <a:xfrm xmlns:a="http://schemas.openxmlformats.org/drawingml/2006/main">
            <a:off x="4780157" y="2000250"/>
            <a:ext cx="2631685" cy="2476500"/>
          </a:xfrm>
          <a:prstGeom xmlns:a="http://schemas.openxmlformats.org/drawingml/2006/main" prst="rect">
            <a:avLst/>
          </a:prstGeom>
        </p:spPr>
      </p:pic>
      <p:sp>
        <p:nvSpPr>
          <p:cNvPr id="8" name="dosage-advantage-surface">
            <a:extLst xmlns:a="http://schemas.openxmlformats.org/drawingml/2006/main">
              <a:ext uri="{FF2B5EF4-FFF2-40B4-BE49-F238E27FC236}">
                <a16:creationId xmlns:a16="http://schemas.microsoft.com/office/drawing/2014/main" id="{216B18E4-4EC2-4358-BC4A-09A9CBD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9" name="dosage-advantage-accent">
            <a:extLst xmlns:a="http://schemas.openxmlformats.org/drawingml/2006/main">
              <a:ext uri="{FF2B5EF4-FFF2-40B4-BE49-F238E27FC236}">
                <a16:creationId xmlns:a16="http://schemas.microsoft.com/office/drawing/2014/main" id="{4476D7F1-3526-425D-B9D2-7C74B22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57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osage-advantage-title">
            <a:extLst xmlns:a="http://schemas.openxmlformats.org/drawingml/2006/main">
              <a:ext uri="{FF2B5EF4-FFF2-40B4-BE49-F238E27FC236}">
                <a16:creationId xmlns:a16="http://schemas.microsoft.com/office/drawing/2014/main" id="{33A194A8-0648-4D30-8B47-DC23BECF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71600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9900"/>
                </a:solidFill>
              </a:defRPr>
            </a:pPr>
            <a:r>
              <a:rPr sz="1950" b="1">
                <a:solidFill>
                  <a:srgbClr val="009900"/>
                </a:solidFill>
              </a:rPr>
              <a:t>剂型优势</a:t>
            </a:r>
          </a:p>
        </p:txBody>
      </p:sp>
      <p:sp>
        <p:nvSpPr>
          <p:cNvPr id="11" name="dosage-advantage-divider">
            <a:extLst xmlns:a="http://schemas.openxmlformats.org/drawingml/2006/main">
              <a:ext uri="{FF2B5EF4-FFF2-40B4-BE49-F238E27FC236}">
                <a16:creationId xmlns:a16="http://schemas.microsoft.com/office/drawing/2014/main" id="{15543FA8-895E-4985-A2AC-65FE06EE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46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2" name="dosage-advantage-body">
            <a:extLst xmlns:a="http://schemas.openxmlformats.org/drawingml/2006/main">
              <a:ext uri="{FF2B5EF4-FFF2-40B4-BE49-F238E27FC236}">
                <a16:creationId xmlns:a16="http://schemas.microsoft.com/office/drawing/2014/main" id="{5F0ABEEE-580B-4935-987D-CFA08182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34671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全国独家：</a:t>
            </a:r>
            <a:r>
              <a:rPr sz="1650" b="0">
                <a:solidFill>
                  <a:srgbClr val="303741"/>
                </a:solidFill>
              </a:rPr>
              <a:t>全国唯一穿心莲内酯滴丸剂型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起效更快：</a:t>
            </a:r>
            <a:r>
              <a:rPr sz="1650" b="0">
                <a:solidFill>
                  <a:srgbClr val="303741"/>
                </a:solidFill>
              </a:rPr>
              <a:t>5–10分钟内全部崩解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易携带：</a:t>
            </a:r>
            <a:r>
              <a:rPr sz="1650" b="0">
                <a:solidFill>
                  <a:srgbClr val="303741"/>
                </a:solidFill>
              </a:rPr>
              <a:t>独立包装，方便携带</a:t>
            </a:r>
          </a:p>
        </p:txBody>
      </p:sp>
      <p:sp>
        <p:nvSpPr>
          <p:cNvPr id="13" name="process-advantage-surface">
            <a:extLst xmlns:a="http://schemas.openxmlformats.org/drawingml/2006/main">
              <a:ext uri="{FF2B5EF4-FFF2-40B4-BE49-F238E27FC236}">
                <a16:creationId xmlns:a16="http://schemas.microsoft.com/office/drawing/2014/main" id="{8AC71451-017F-4EED-B043-3BCE2913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4191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4" name="process-advantage-accent">
            <a:extLst xmlns:a="http://schemas.openxmlformats.org/drawingml/2006/main">
              <a:ext uri="{FF2B5EF4-FFF2-40B4-BE49-F238E27FC236}">
                <a16:creationId xmlns:a16="http://schemas.microsoft.com/office/drawing/2014/main" id="{32E3B45A-8CDC-4643-8FAA-EEAD329B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71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cess-advantage-title">
            <a:extLst xmlns:a="http://schemas.openxmlformats.org/drawingml/2006/main">
              <a:ext uri="{FF2B5EF4-FFF2-40B4-BE49-F238E27FC236}">
                <a16:creationId xmlns:a16="http://schemas.microsoft.com/office/drawing/2014/main" id="{0D5134CB-5158-4A3A-8FC6-6F7771EF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9900"/>
                </a:solidFill>
              </a:defRPr>
            </a:pPr>
            <a:r>
              <a:rPr sz="1950" b="1">
                <a:solidFill>
                  <a:srgbClr val="009900"/>
                </a:solidFill>
              </a:rPr>
              <a:t>工艺优势</a:t>
            </a:r>
          </a:p>
        </p:txBody>
      </p:sp>
      <p:sp>
        <p:nvSpPr>
          <p:cNvPr id="16" name="process-advantage-divider">
            <a:extLst xmlns:a="http://schemas.openxmlformats.org/drawingml/2006/main">
              <a:ext uri="{FF2B5EF4-FFF2-40B4-BE49-F238E27FC236}">
                <a16:creationId xmlns:a16="http://schemas.microsoft.com/office/drawing/2014/main" id="{EB59B1EF-25AB-43F6-BFF5-634EEECA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3848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7" name="process-advantage-body">
            <a:extLst xmlns:a="http://schemas.openxmlformats.org/drawingml/2006/main">
              <a:ext uri="{FF2B5EF4-FFF2-40B4-BE49-F238E27FC236}">
                <a16:creationId xmlns:a16="http://schemas.microsoft.com/office/drawing/2014/main" id="{F26BDA11-EBF6-4ABD-9EF4-91E6BEBB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38481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纯度高：</a:t>
            </a:r>
            <a:r>
              <a:rPr sz="1650" b="0">
                <a:solidFill>
                  <a:srgbClr val="303741"/>
                </a:solidFill>
              </a:rPr>
              <a:t>穿心莲内酯纯度高达97%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稳定性强：</a:t>
            </a:r>
            <a:r>
              <a:rPr sz="1650" b="0">
                <a:solidFill>
                  <a:srgbClr val="303741"/>
                </a:solidFill>
              </a:rPr>
              <a:t>高速滴丸机，含量均匀度高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安全保证：</a:t>
            </a:r>
            <a:r>
              <a:rPr sz="1650" b="0">
                <a:solidFill>
                  <a:srgbClr val="303741"/>
                </a:solidFill>
              </a:rPr>
              <a:t>0糖0添加，纯中药制剂</a:t>
            </a:r>
          </a:p>
        </p:txBody>
      </p:sp>
      <p:sp>
        <p:nvSpPr>
          <p:cNvPr id="18" name="formula-advantage-surface">
            <a:extLst xmlns:a="http://schemas.openxmlformats.org/drawingml/2006/main">
              <a:ext uri="{FF2B5EF4-FFF2-40B4-BE49-F238E27FC236}">
                <a16:creationId xmlns:a16="http://schemas.microsoft.com/office/drawing/2014/main" id="{3D0C229A-77D6-4DF9-AEDC-A7338EE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714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9" name="formula-advantage-accent">
            <a:extLst xmlns:a="http://schemas.openxmlformats.org/drawingml/2006/main">
              <a:ext uri="{FF2B5EF4-FFF2-40B4-BE49-F238E27FC236}">
                <a16:creationId xmlns:a16="http://schemas.microsoft.com/office/drawing/2014/main" id="{6D85634B-A686-4438-9EDA-2272B062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571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rmula-advantage-title">
            <a:extLst xmlns:a="http://schemas.openxmlformats.org/drawingml/2006/main">
              <a:ext uri="{FF2B5EF4-FFF2-40B4-BE49-F238E27FC236}">
                <a16:creationId xmlns:a16="http://schemas.microsoft.com/office/drawing/2014/main" id="{9546131E-5D89-4CBA-BB1B-1EF5F7D1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28850"/>
            <a:ext cx="3409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9900"/>
                </a:solidFill>
              </a:defRPr>
            </a:pPr>
            <a:r>
              <a:rPr sz="1950" b="1">
                <a:solidFill>
                  <a:srgbClr val="009900"/>
                </a:solidFill>
              </a:rPr>
              <a:t>组方优势</a:t>
            </a:r>
          </a:p>
        </p:txBody>
      </p:sp>
      <p:sp>
        <p:nvSpPr>
          <p:cNvPr id="21" name="formula-advantage-divider">
            <a:extLst xmlns:a="http://schemas.openxmlformats.org/drawingml/2006/main">
              <a:ext uri="{FF2B5EF4-FFF2-40B4-BE49-F238E27FC236}">
                <a16:creationId xmlns:a16="http://schemas.microsoft.com/office/drawing/2014/main" id="{ABAD6F1E-14ED-41EA-BDE6-D04526EE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47950"/>
            <a:ext cx="337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2" name="formula-advantage-body">
            <a:extLst xmlns:a="http://schemas.openxmlformats.org/drawingml/2006/main">
              <a:ext uri="{FF2B5EF4-FFF2-40B4-BE49-F238E27FC236}">
                <a16:creationId xmlns:a16="http://schemas.microsoft.com/office/drawing/2014/main" id="{40447A9B-1F26-4682-B1BE-9E0500F1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62250"/>
            <a:ext cx="33718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植物单体制剂：</a:t>
            </a:r>
            <a:r>
              <a:rPr sz="1650" b="0">
                <a:solidFill>
                  <a:srgbClr val="303741"/>
                </a:solidFill>
              </a:rPr>
              <a:t>经典老药，植物单体制剂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功能全面：</a:t>
            </a:r>
            <a:r>
              <a:rPr sz="1650" b="0">
                <a:solidFill>
                  <a:srgbClr val="303741"/>
                </a:solidFill>
              </a:rPr>
              <a:t>清热解毒＋抗菌消炎</a:t>
            </a:r>
          </a:p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• </a:t>
            </a:r>
            <a:r>
              <a:rPr sz="1650" b="1">
                <a:solidFill>
                  <a:srgbClr val="303741"/>
                </a:solidFill>
              </a:rPr>
              <a:t>疗效显著：</a:t>
            </a:r>
            <a:r>
              <a:rPr sz="1650" b="0">
                <a:solidFill>
                  <a:srgbClr val="303741"/>
                </a:solidFill>
              </a:rPr>
              <a:t>治疗感冒、流感、咽痛总有效率95%</a:t>
            </a:r>
          </a:p>
        </p:txBody>
      </p:sp>
    </p:spTree>
    <p:extLst>
      <p:ext uri="{BB962C8B-B14F-4D97-AF65-F5344CB8AC3E}">
        <p14:creationId xmlns:p14="http://schemas.microsoft.com/office/powerpoint/2010/main" val="345774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6B7DC355-8C69-4B4E-B13A-8FA9BC5E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A6786315-42AF-474C-BAC3-37746A63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3.1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AC33DD9F-4C82-4446-9EA0-55B7A7F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场景篇——什么时候推荐穿心莲内酯滴丸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5EB73CA4-4A70-43AF-84A8-8940158E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311BCDFA-0670-41CF-9FDC-D72EB91B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5E449D7E-778D-4586-B96C-33F6E785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scenario-product-name">
            <a:extLst xmlns:a="http://schemas.openxmlformats.org/drawingml/2006/main">
              <a:ext uri="{FF2B5EF4-FFF2-40B4-BE49-F238E27FC236}">
                <a16:creationId xmlns:a16="http://schemas.microsoft.com/office/drawing/2014/main" id="{3E111C96-ED66-47E7-A91E-8EC62A2E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52500"/>
            <a:ext cx="409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60012"/>
                </a:solidFill>
              </a:defRPr>
            </a:pPr>
            <a:r>
              <a:rPr sz="2550" b="1">
                <a:solidFill>
                  <a:srgbClr val="E60012"/>
                </a:solidFill>
              </a:rPr>
              <a:t>＞ 穿心莲内酯滴丸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314e08fb504e81"/>
          <a:stretch xmlns:a="http://schemas.openxmlformats.org/drawingml/2006/main"/>
        </p:blipFill>
        <p:spPr>
          <a:xfrm xmlns:a="http://schemas.openxmlformats.org/drawingml/2006/main">
            <a:off x="690311" y="1857375"/>
            <a:ext cx="2429378" cy="3048000"/>
          </a:xfrm>
          <a:prstGeom xmlns:a="http://schemas.openxmlformats.org/drawingml/2006/main" prst="rect">
            <a:avLst/>
          </a:prstGeom>
        </p:spPr>
      </p:pic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5924eb6294bff"/>
          <a:stretch xmlns:a="http://schemas.openxmlformats.org/drawingml/2006/main"/>
        </p:blipFill>
        <p:spPr>
          <a:xfrm xmlns:a="http://schemas.openxmlformats.org/drawingml/2006/main">
            <a:off x="4333875" y="1341020"/>
            <a:ext cx="1285875" cy="1556586"/>
          </a:xfrm>
          <a:prstGeom xmlns:a="http://schemas.openxmlformats.org/drawingml/2006/main" prst="rect">
            <a:avLst/>
          </a:prstGeom>
        </p:spPr>
      </p:pic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4b40b627c54fa6"/>
          <a:stretch xmlns:a="http://schemas.openxmlformats.org/drawingml/2006/main"/>
        </p:blipFill>
        <p:spPr>
          <a:xfrm xmlns:a="http://schemas.openxmlformats.org/drawingml/2006/main">
            <a:off x="4717521" y="3000375"/>
            <a:ext cx="1185333" cy="1524000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b062f258e4154"/>
          <a:stretch xmlns:a="http://schemas.openxmlformats.org/drawingml/2006/main"/>
        </p:blipFill>
        <p:spPr>
          <a:xfrm xmlns:a="http://schemas.openxmlformats.org/drawingml/2006/main">
            <a:off x="4142293" y="4810125"/>
            <a:ext cx="1526165" cy="1428750"/>
          </a:xfrm>
          <a:prstGeom xmlns:a="http://schemas.openxmlformats.org/drawingml/2006/main" prst="rect">
            <a:avLst/>
          </a:prstGeom>
        </p:spPr>
      </p:pic>
      <p:sp>
        <p:nvSpPr>
          <p:cNvPr id="12" name="audience-label-child">
            <a:extLst xmlns:a="http://schemas.openxmlformats.org/drawingml/2006/main">
              <a:ext uri="{FF2B5EF4-FFF2-40B4-BE49-F238E27FC236}">
                <a16:creationId xmlns:a16="http://schemas.microsoft.com/office/drawing/2014/main" id="{711A927B-5359-409C-AF23-50BAA5BA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723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儿童</a:t>
            </a:r>
          </a:p>
        </p:txBody>
      </p:sp>
      <p:sp>
        <p:nvSpPr>
          <p:cNvPr id="13" name="audience-arrow-child-1">
            <a:extLst xmlns:a="http://schemas.openxmlformats.org/drawingml/2006/main">
              <a:ext uri="{FF2B5EF4-FFF2-40B4-BE49-F238E27FC236}">
                <a16:creationId xmlns:a16="http://schemas.microsoft.com/office/drawing/2014/main" id="{2DEAB11E-4492-4A35-8542-1963AE2C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38350"/>
            <a:ext cx="74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B69B4"/>
                </a:solidFill>
              </a:defRPr>
            </a:pPr>
            <a:r>
              <a:rPr sz="31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14" name="audience-child-scene">
            <a:extLst xmlns:a="http://schemas.openxmlformats.org/drawingml/2006/main">
              <a:ext uri="{FF2B5EF4-FFF2-40B4-BE49-F238E27FC236}">
                <a16:creationId xmlns:a16="http://schemas.microsoft.com/office/drawing/2014/main" id="{A5CB62E4-C3E1-4D05-B201-7309B307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47875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学校感冒交叉感染</a:t>
            </a:r>
          </a:p>
        </p:txBody>
      </p:sp>
      <p:sp>
        <p:nvSpPr>
          <p:cNvPr id="15" name="audience-arrow-child-2">
            <a:extLst xmlns:a="http://schemas.openxmlformats.org/drawingml/2006/main">
              <a:ext uri="{FF2B5EF4-FFF2-40B4-BE49-F238E27FC236}">
                <a16:creationId xmlns:a16="http://schemas.microsoft.com/office/drawing/2014/main" id="{C8E69C13-C3EC-4E97-96FC-13215A25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383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B69B4"/>
                </a:solidFill>
              </a:defRPr>
            </a:pPr>
            <a:r>
              <a:rPr sz="31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16" name="audience-child-need">
            <a:extLst xmlns:a="http://schemas.openxmlformats.org/drawingml/2006/main">
              <a:ext uri="{FF2B5EF4-FFF2-40B4-BE49-F238E27FC236}">
                <a16:creationId xmlns:a16="http://schemas.microsoft.com/office/drawing/2014/main" id="{2C47BC5D-085C-4591-B8B5-53587D6C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47875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7378"/>
                </a:solidFill>
              </a:defRPr>
            </a:pPr>
            <a:r>
              <a:rPr sz="1650" b="1">
                <a:solidFill>
                  <a:srgbClr val="6E7378"/>
                </a:solidFill>
              </a:rPr>
              <a:t>酸奶送服更安全</a:t>
            </a:r>
          </a:p>
        </p:txBody>
      </p:sp>
      <p:sp>
        <p:nvSpPr>
          <p:cNvPr id="17" name="audience-label-adult">
            <a:extLst xmlns:a="http://schemas.openxmlformats.org/drawingml/2006/main">
              <a:ext uri="{FF2B5EF4-FFF2-40B4-BE49-F238E27FC236}">
                <a16:creationId xmlns:a16="http://schemas.microsoft.com/office/drawing/2014/main" id="{241CB1AD-12E1-48C6-920C-36458301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505200"/>
            <a:ext cx="990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中青年</a:t>
            </a:r>
          </a:p>
        </p:txBody>
      </p:sp>
      <p:sp>
        <p:nvSpPr>
          <p:cNvPr id="18" name="audience-arrow-adult-1">
            <a:extLst xmlns:a="http://schemas.openxmlformats.org/drawingml/2006/main">
              <a:ext uri="{FF2B5EF4-FFF2-40B4-BE49-F238E27FC236}">
                <a16:creationId xmlns:a16="http://schemas.microsoft.com/office/drawing/2014/main" id="{DAB32603-BD18-4F7B-9A9D-340482B5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543300"/>
            <a:ext cx="74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B69B4"/>
                </a:solidFill>
              </a:defRPr>
            </a:pPr>
            <a:r>
              <a:rPr sz="31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19" name="audience-adult-person-1">
            <a:extLst xmlns:a="http://schemas.openxmlformats.org/drawingml/2006/main">
              <a:ext uri="{FF2B5EF4-FFF2-40B4-BE49-F238E27FC236}">
                <a16:creationId xmlns:a16="http://schemas.microsoft.com/office/drawing/2014/main" id="{9E2B5F0C-E937-4C80-AC35-D097CD5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办公室白领</a:t>
            </a:r>
          </a:p>
        </p:txBody>
      </p:sp>
      <p:sp>
        <p:nvSpPr>
          <p:cNvPr id="20" name="audience-arrow-adult-1">
            <a:extLst xmlns:a="http://schemas.openxmlformats.org/drawingml/2006/main">
              <a:ext uri="{FF2B5EF4-FFF2-40B4-BE49-F238E27FC236}">
                <a16:creationId xmlns:a16="http://schemas.microsoft.com/office/drawing/2014/main" id="{50FD8010-C569-4839-9D5B-6DB64988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019425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69B4"/>
                </a:solidFill>
              </a:defRPr>
            </a:pPr>
            <a:r>
              <a:rPr sz="28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21" name="audience-adult-need-1">
            <a:extLst xmlns:a="http://schemas.openxmlformats.org/drawingml/2006/main">
              <a:ext uri="{FF2B5EF4-FFF2-40B4-BE49-F238E27FC236}">
                <a16:creationId xmlns:a16="http://schemas.microsoft.com/office/drawing/2014/main" id="{9B389D40-AAC5-4218-A2CF-40992667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04800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办公室空调干燥易咽痛</a:t>
            </a:r>
          </a:p>
        </p:txBody>
      </p:sp>
      <p:sp>
        <p:nvSpPr>
          <p:cNvPr id="22" name="audience-adult-person-2">
            <a:extLst xmlns:a="http://schemas.openxmlformats.org/drawingml/2006/main">
              <a:ext uri="{FF2B5EF4-FFF2-40B4-BE49-F238E27FC236}">
                <a16:creationId xmlns:a16="http://schemas.microsoft.com/office/drawing/2014/main" id="{13079B5D-7406-48E8-B326-1E69A91A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5757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商旅人士</a:t>
            </a:r>
          </a:p>
        </p:txBody>
      </p:sp>
      <p:sp>
        <p:nvSpPr>
          <p:cNvPr id="23" name="audience-arrow-adult-2">
            <a:extLst xmlns:a="http://schemas.openxmlformats.org/drawingml/2006/main">
              <a:ext uri="{FF2B5EF4-FFF2-40B4-BE49-F238E27FC236}">
                <a16:creationId xmlns:a16="http://schemas.microsoft.com/office/drawing/2014/main" id="{6CD6307E-C12F-4656-9C27-609025EA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2900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69B4"/>
                </a:solidFill>
              </a:defRPr>
            </a:pPr>
            <a:r>
              <a:rPr sz="28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24" name="audience-adult-need-2">
            <a:extLst xmlns:a="http://schemas.openxmlformats.org/drawingml/2006/main">
              <a:ext uri="{FF2B5EF4-FFF2-40B4-BE49-F238E27FC236}">
                <a16:creationId xmlns:a16="http://schemas.microsoft.com/office/drawing/2014/main" id="{B9C1E167-0009-40C8-B8CE-54F1D8C5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457575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出差出行劳累抵抗力低</a:t>
            </a:r>
          </a:p>
        </p:txBody>
      </p:sp>
      <p:sp>
        <p:nvSpPr>
          <p:cNvPr id="25" name="audience-adult-person-3">
            <a:extLst xmlns:a="http://schemas.openxmlformats.org/drawingml/2006/main">
              <a:ext uri="{FF2B5EF4-FFF2-40B4-BE49-F238E27FC236}">
                <a16:creationId xmlns:a16="http://schemas.microsoft.com/office/drawing/2014/main" id="{2DA8A17B-758F-4FBA-923E-74AA37CF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67150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老师</a:t>
            </a:r>
          </a:p>
        </p:txBody>
      </p:sp>
      <p:sp>
        <p:nvSpPr>
          <p:cNvPr id="26" name="audience-arrow-adult-3">
            <a:extLst xmlns:a="http://schemas.openxmlformats.org/drawingml/2006/main">
              <a:ext uri="{FF2B5EF4-FFF2-40B4-BE49-F238E27FC236}">
                <a16:creationId xmlns:a16="http://schemas.microsoft.com/office/drawing/2014/main" id="{06B10CF5-7CC0-4D1C-9889-FEB7F3B0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38575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69B4"/>
                </a:solidFill>
              </a:defRPr>
            </a:pPr>
            <a:r>
              <a:rPr sz="28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27" name="audience-adult-need-3">
            <a:extLst xmlns:a="http://schemas.openxmlformats.org/drawingml/2006/main">
              <a:ext uri="{FF2B5EF4-FFF2-40B4-BE49-F238E27FC236}">
                <a16:creationId xmlns:a16="http://schemas.microsoft.com/office/drawing/2014/main" id="{7F6EF540-E451-4672-914F-6B1219EC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67150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课堂授课易咽炎</a:t>
            </a:r>
          </a:p>
        </p:txBody>
      </p:sp>
      <p:sp>
        <p:nvSpPr>
          <p:cNvPr id="28" name="audience-adult-person-4">
            <a:extLst xmlns:a="http://schemas.openxmlformats.org/drawingml/2006/main">
              <a:ext uri="{FF2B5EF4-FFF2-40B4-BE49-F238E27FC236}">
                <a16:creationId xmlns:a16="http://schemas.microsoft.com/office/drawing/2014/main" id="{A34CCB84-02FF-4CEC-A01E-361F271B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7672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全职妈妈</a:t>
            </a:r>
          </a:p>
        </p:txBody>
      </p:sp>
      <p:sp>
        <p:nvSpPr>
          <p:cNvPr id="29" name="audience-arrow-adult-4">
            <a:extLst xmlns:a="http://schemas.openxmlformats.org/drawingml/2006/main">
              <a:ext uri="{FF2B5EF4-FFF2-40B4-BE49-F238E27FC236}">
                <a16:creationId xmlns:a16="http://schemas.microsoft.com/office/drawing/2014/main" id="{95CB013F-8499-42CF-BD65-CA35086C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481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69B4"/>
                </a:solidFill>
              </a:defRPr>
            </a:pPr>
            <a:r>
              <a:rPr sz="28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30" name="audience-adult-need-4">
            <a:extLst xmlns:a="http://schemas.openxmlformats.org/drawingml/2006/main">
              <a:ext uri="{FF2B5EF4-FFF2-40B4-BE49-F238E27FC236}">
                <a16:creationId xmlns:a16="http://schemas.microsoft.com/office/drawing/2014/main" id="{3640BA23-1846-41AA-8432-44C390C8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276725"/>
            <a:ext cx="261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换季更新药箱</a:t>
            </a:r>
          </a:p>
        </p:txBody>
      </p:sp>
      <p:sp>
        <p:nvSpPr>
          <p:cNvPr id="31" name="audience-label-senior">
            <a:extLst xmlns:a="http://schemas.openxmlformats.org/drawingml/2006/main">
              <a:ext uri="{FF2B5EF4-FFF2-40B4-BE49-F238E27FC236}">
                <a16:creationId xmlns:a16="http://schemas.microsoft.com/office/drawing/2014/main" id="{8C87ADA6-8F31-4A0D-B856-06A0E79C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238750"/>
            <a:ext cx="723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老年</a:t>
            </a:r>
          </a:p>
        </p:txBody>
      </p:sp>
      <p:sp>
        <p:nvSpPr>
          <p:cNvPr id="32" name="audience-arrow-senior-1">
            <a:extLst xmlns:a="http://schemas.openxmlformats.org/drawingml/2006/main">
              <a:ext uri="{FF2B5EF4-FFF2-40B4-BE49-F238E27FC236}">
                <a16:creationId xmlns:a16="http://schemas.microsoft.com/office/drawing/2014/main" id="{081443EE-9E63-4BE3-923A-4EF1183D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257800"/>
            <a:ext cx="742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CB69B4"/>
                </a:solidFill>
              </a:defRPr>
            </a:pPr>
            <a:r>
              <a:rPr sz="31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33" name="audience-senior-scene">
            <a:extLst xmlns:a="http://schemas.openxmlformats.org/drawingml/2006/main">
              <a:ext uri="{FF2B5EF4-FFF2-40B4-BE49-F238E27FC236}">
                <a16:creationId xmlns:a16="http://schemas.microsoft.com/office/drawing/2014/main" id="{21703A8B-FCB5-4E6B-BDAD-E8FA74B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000625"/>
            <a:ext cx="152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秋冬呼吸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疾病高发</a:t>
            </a:r>
          </a:p>
        </p:txBody>
      </p:sp>
      <p:sp>
        <p:nvSpPr>
          <p:cNvPr id="34" name="audience-arrow-senior-2">
            <a:extLst xmlns:a="http://schemas.openxmlformats.org/drawingml/2006/main">
              <a:ext uri="{FF2B5EF4-FFF2-40B4-BE49-F238E27FC236}">
                <a16:creationId xmlns:a16="http://schemas.microsoft.com/office/drawing/2014/main" id="{0A44271A-D229-4A04-BAEA-11A68FB6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25780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B69B4"/>
                </a:solidFill>
              </a:defRPr>
            </a:pPr>
            <a:r>
              <a:rPr sz="2850" b="1">
                <a:solidFill>
                  <a:srgbClr val="CB69B4"/>
                </a:solidFill>
              </a:rPr>
              <a:t>→</a:t>
            </a:r>
          </a:p>
        </p:txBody>
      </p:sp>
      <p:sp>
        <p:nvSpPr>
          <p:cNvPr id="35" name="audience-senior-need">
            <a:extLst xmlns:a="http://schemas.openxmlformats.org/drawingml/2006/main">
              <a:ext uri="{FF2B5EF4-FFF2-40B4-BE49-F238E27FC236}">
                <a16:creationId xmlns:a16="http://schemas.microsoft.com/office/drawing/2014/main" id="{B66A02F2-2513-42F1-A1BE-7C232D07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000625"/>
            <a:ext cx="2714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冬日晨起锻炼易感冒</a:t>
            </a:r>
          </a:p>
          <a:p xmlns:a="http://schemas.openxmlformats.org/drawingml/2006/main">
            <a:pPr algn="l">
              <a:defRPr sz="1575" b="1">
                <a:solidFill>
                  <a:srgbClr val="777777"/>
                </a:solidFill>
              </a:defRPr>
            </a:pPr>
            <a:r>
              <a:rPr sz="1575" b="1">
                <a:solidFill>
                  <a:srgbClr val="777777"/>
                </a:solidFill>
              </a:rPr>
              <a:t>北方暖气干燥早备药</a:t>
            </a:r>
          </a:p>
        </p:txBody>
      </p:sp>
    </p:spTree>
    <p:extLst>
      <p:ext uri="{BB962C8B-B14F-4D97-AF65-F5344CB8AC3E}">
        <p14:creationId xmlns:p14="http://schemas.microsoft.com/office/powerpoint/2010/main" val="20538450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5046A64B-6905-49DF-A3C9-B7EC06C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1DB6E869-984A-4EDA-BF47-DECCCC48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3.2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9C85C9DA-BEF3-41D4-BE8B-2F881462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场景篇——什么时候推荐穿心莲内酯滴丸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8FF6EF6C-D0B1-4BD7-BC24-C46A5C86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8A9654FF-5C86-43EE-97E5-EE577FC5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A0155A4C-7110-42A9-AD47-9CF58BFC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consultation-thesis">
            <a:extLst xmlns:a="http://schemas.openxmlformats.org/drawingml/2006/main">
              <a:ext uri="{FF2B5EF4-FFF2-40B4-BE49-F238E27FC236}">
                <a16:creationId xmlns:a16="http://schemas.microsoft.com/office/drawing/2014/main" id="{3E33B96D-9777-4327-AEFA-FEFC079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实战销售话术：以“望闻问切”辨顾客，以专业方案做推荐</a:t>
            </a:r>
          </a:p>
        </p:txBody>
      </p:sp>
      <p:sp>
        <p:nvSpPr>
          <p:cNvPr id="8" name="consultation-rule">
            <a:extLst xmlns:a="http://schemas.openxmlformats.org/drawingml/2006/main">
              <a:ext uri="{FF2B5EF4-FFF2-40B4-BE49-F238E27FC236}">
                <a16:creationId xmlns:a16="http://schemas.microsoft.com/office/drawing/2014/main" id="{66483265-9141-4117-892F-D52867F2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9" name="consultation-1-surface">
            <a:extLst xmlns:a="http://schemas.openxmlformats.org/drawingml/2006/main">
              <a:ext uri="{FF2B5EF4-FFF2-40B4-BE49-F238E27FC236}">
                <a16:creationId xmlns:a16="http://schemas.microsoft.com/office/drawing/2014/main" id="{555A332A-9117-4A55-9810-64C0FD60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2476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0" name="consultation-1-accent">
            <a:extLst xmlns:a="http://schemas.openxmlformats.org/drawingml/2006/main">
              <a:ext uri="{FF2B5EF4-FFF2-40B4-BE49-F238E27FC236}">
                <a16:creationId xmlns:a16="http://schemas.microsoft.com/office/drawing/2014/main" id="{C1343249-E64A-4C48-9C92-30393097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57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nsultation-1-title">
            <a:extLst xmlns:a="http://schemas.openxmlformats.org/drawingml/2006/main">
              <a:ext uri="{FF2B5EF4-FFF2-40B4-BE49-F238E27FC236}">
                <a16:creationId xmlns:a16="http://schemas.microsoft.com/office/drawing/2014/main" id="{BA50FD86-C4FB-46A2-AEE1-B3802496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66975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望 · 观气色辨需求</a:t>
            </a:r>
          </a:p>
        </p:txBody>
      </p:sp>
      <p:sp>
        <p:nvSpPr>
          <p:cNvPr id="12" name="consultation-1-divider">
            <a:extLst xmlns:a="http://schemas.openxmlformats.org/drawingml/2006/main">
              <a:ext uri="{FF2B5EF4-FFF2-40B4-BE49-F238E27FC236}">
                <a16:creationId xmlns:a16="http://schemas.microsoft.com/office/drawing/2014/main" id="{0CC5A3A7-FBA9-432B-86B5-F076F7F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86075"/>
            <a:ext cx="2133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3" name="consultation-1-body">
            <a:extLst xmlns:a="http://schemas.openxmlformats.org/drawingml/2006/main">
              <a:ext uri="{FF2B5EF4-FFF2-40B4-BE49-F238E27FC236}">
                <a16:creationId xmlns:a16="http://schemas.microsoft.com/office/drawing/2014/main" id="{2DF410FE-CAFC-43E0-BBF7-111452E5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0375"/>
            <a:ext cx="21336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03741"/>
                </a:solidFill>
              </a:defRPr>
            </a:pPr>
            <a:r>
              <a:rPr sz="1500" b="0">
                <a:solidFill>
                  <a:srgbClr val="303741"/>
                </a:solidFill>
              </a:rPr>
              <a:t>观察顾客神态、面色与精神状态，初步判断体质倾向，找准沟通切入点，建立专业第一印象。</a:t>
            </a:r>
          </a:p>
        </p:txBody>
      </p:sp>
      <p:sp>
        <p:nvSpPr>
          <p:cNvPr id="14" name="consultation-2-surface">
            <a:extLst xmlns:a="http://schemas.openxmlformats.org/drawingml/2006/main">
              <a:ext uri="{FF2B5EF4-FFF2-40B4-BE49-F238E27FC236}">
                <a16:creationId xmlns:a16="http://schemas.microsoft.com/office/drawing/2014/main" id="{96B85C0A-290A-48AC-BCE2-45E94E44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2476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5" name="consultation-2-accent">
            <a:extLst xmlns:a="http://schemas.openxmlformats.org/drawingml/2006/main">
              <a:ext uri="{FF2B5EF4-FFF2-40B4-BE49-F238E27FC236}">
                <a16:creationId xmlns:a16="http://schemas.microsoft.com/office/drawing/2014/main" id="{C8F3087D-28B6-422B-B21F-D138EF22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57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sultation-2-title">
            <a:extLst xmlns:a="http://schemas.openxmlformats.org/drawingml/2006/main">
              <a:ext uri="{FF2B5EF4-FFF2-40B4-BE49-F238E27FC236}">
                <a16:creationId xmlns:a16="http://schemas.microsoft.com/office/drawing/2014/main" id="{5528F083-BF1C-4508-98CB-A5E5E61D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66975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闻 · 听诉求知痛点</a:t>
            </a:r>
          </a:p>
        </p:txBody>
      </p:sp>
      <p:sp>
        <p:nvSpPr>
          <p:cNvPr id="17" name="consultation-2-divider">
            <a:extLst xmlns:a="http://schemas.openxmlformats.org/drawingml/2006/main">
              <a:ext uri="{FF2B5EF4-FFF2-40B4-BE49-F238E27FC236}">
                <a16:creationId xmlns:a16="http://schemas.microsoft.com/office/drawing/2014/main" id="{6E2BAE7C-5776-491A-B077-3C61C731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86075"/>
            <a:ext cx="2133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8" name="consultation-2-body">
            <a:extLst xmlns:a="http://schemas.openxmlformats.org/drawingml/2006/main">
              <a:ext uri="{FF2B5EF4-FFF2-40B4-BE49-F238E27FC236}">
                <a16:creationId xmlns:a16="http://schemas.microsoft.com/office/drawing/2014/main" id="{6799EE9E-1FFB-4EE1-9E85-D5CD315D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00375"/>
            <a:ext cx="21336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03741"/>
                </a:solidFill>
              </a:defRPr>
            </a:pPr>
            <a:r>
              <a:rPr sz="1500" b="0">
                <a:solidFill>
                  <a:srgbClr val="303741"/>
                </a:solidFill>
              </a:rPr>
              <a:t>耐心倾听顾客描述身体不适与核心诉求，从话语中捕捉深层痛点，为后续辨证推荐提供依据。</a:t>
            </a:r>
          </a:p>
        </p:txBody>
      </p:sp>
      <p:sp>
        <p:nvSpPr>
          <p:cNvPr id="19" name="consultation-3-surface">
            <a:extLst xmlns:a="http://schemas.openxmlformats.org/drawingml/2006/main">
              <a:ext uri="{FF2B5EF4-FFF2-40B4-BE49-F238E27FC236}">
                <a16:creationId xmlns:a16="http://schemas.microsoft.com/office/drawing/2014/main" id="{7DC983C2-6F1A-4E95-ABD5-C211881C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2476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0" name="consultation-3-accent">
            <a:extLst xmlns:a="http://schemas.openxmlformats.org/drawingml/2006/main">
              <a:ext uri="{FF2B5EF4-FFF2-40B4-BE49-F238E27FC236}">
                <a16:creationId xmlns:a16="http://schemas.microsoft.com/office/drawing/2014/main" id="{BEC10496-0695-444B-A1DD-D2A4B4E2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33625"/>
            <a:ext cx="57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nsultation-3-title">
            <a:extLst xmlns:a="http://schemas.openxmlformats.org/drawingml/2006/main">
              <a:ext uri="{FF2B5EF4-FFF2-40B4-BE49-F238E27FC236}">
                <a16:creationId xmlns:a16="http://schemas.microsoft.com/office/drawing/2014/main" id="{CA9E7690-FDD1-4133-BE01-6A9E3073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66975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问 · 询细节定方案</a:t>
            </a:r>
          </a:p>
        </p:txBody>
      </p:sp>
      <p:sp>
        <p:nvSpPr>
          <p:cNvPr id="22" name="consultation-3-divider">
            <a:extLst xmlns:a="http://schemas.openxmlformats.org/drawingml/2006/main">
              <a:ext uri="{FF2B5EF4-FFF2-40B4-BE49-F238E27FC236}">
                <a16:creationId xmlns:a16="http://schemas.microsoft.com/office/drawing/2014/main" id="{CEB07805-39D2-415B-A0B5-F13C78EA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86075"/>
            <a:ext cx="2133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3" name="consultation-3-body">
            <a:extLst xmlns:a="http://schemas.openxmlformats.org/drawingml/2006/main">
              <a:ext uri="{FF2B5EF4-FFF2-40B4-BE49-F238E27FC236}">
                <a16:creationId xmlns:a16="http://schemas.microsoft.com/office/drawing/2014/main" id="{428B8958-3AB2-4925-A78E-5CF51FBD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00375"/>
            <a:ext cx="21336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03741"/>
                </a:solidFill>
              </a:defRPr>
            </a:pPr>
            <a:r>
              <a:rPr sz="1500" b="0">
                <a:solidFill>
                  <a:srgbClr val="303741"/>
                </a:solidFill>
              </a:rPr>
              <a:t>针对性询问饮食、作息、既往病史等细节，层层递进厘清“证型”，让方案更科学。</a:t>
            </a:r>
          </a:p>
        </p:txBody>
      </p:sp>
      <p:sp>
        <p:nvSpPr>
          <p:cNvPr id="24" name="consultation-4-surface">
            <a:extLst xmlns:a="http://schemas.openxmlformats.org/drawingml/2006/main">
              <a:ext uri="{FF2B5EF4-FFF2-40B4-BE49-F238E27FC236}">
                <a16:creationId xmlns:a16="http://schemas.microsoft.com/office/drawing/2014/main" id="{C6C23609-4113-47B3-B5B7-FE7F4852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33625"/>
            <a:ext cx="2476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5" name="consultation-4-accent">
            <a:extLst xmlns:a="http://schemas.openxmlformats.org/drawingml/2006/main">
              <a:ext uri="{FF2B5EF4-FFF2-40B4-BE49-F238E27FC236}">
                <a16:creationId xmlns:a16="http://schemas.microsoft.com/office/drawing/2014/main" id="{C687CBD0-68A2-4D12-97E8-7B721974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33625"/>
            <a:ext cx="57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nsultation-4-title">
            <a:extLst xmlns:a="http://schemas.openxmlformats.org/drawingml/2006/main">
              <a:ext uri="{FF2B5EF4-FFF2-40B4-BE49-F238E27FC236}">
                <a16:creationId xmlns:a16="http://schemas.microsoft.com/office/drawing/2014/main" id="{F4CFF19E-5F81-42C0-AE6D-42703A5E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66975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03741"/>
                </a:solidFill>
              </a:defRPr>
            </a:pPr>
            <a:r>
              <a:rPr sz="1725" b="1">
                <a:solidFill>
                  <a:srgbClr val="303741"/>
                </a:solidFill>
              </a:rPr>
              <a:t>切 · 据关键做推荐</a:t>
            </a:r>
          </a:p>
        </p:txBody>
      </p:sp>
      <p:sp>
        <p:nvSpPr>
          <p:cNvPr id="27" name="consultation-4-divider">
            <a:extLst xmlns:a="http://schemas.openxmlformats.org/drawingml/2006/main">
              <a:ext uri="{FF2B5EF4-FFF2-40B4-BE49-F238E27FC236}">
                <a16:creationId xmlns:a16="http://schemas.microsoft.com/office/drawing/2014/main" id="{55D50C06-B82E-40C9-AC6F-729370F6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86075"/>
            <a:ext cx="2133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8" name="consultation-4-body">
            <a:extLst xmlns:a="http://schemas.openxmlformats.org/drawingml/2006/main">
              <a:ext uri="{FF2B5EF4-FFF2-40B4-BE49-F238E27FC236}">
                <a16:creationId xmlns:a16="http://schemas.microsoft.com/office/drawing/2014/main" id="{434F2D79-308F-4EA9-9AAF-99B5E734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0375"/>
            <a:ext cx="21336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03741"/>
                </a:solidFill>
              </a:defRPr>
            </a:pPr>
            <a:r>
              <a:rPr sz="1500" b="0">
                <a:solidFill>
                  <a:srgbClr val="303741"/>
                </a:solidFill>
              </a:rPr>
              <a:t>结合辨证结果，紧扣顾客核心需求，精准匹配产品与服务，用专业术语解读益处。</a:t>
            </a:r>
          </a:p>
        </p:txBody>
      </p:sp>
    </p:spTree>
    <p:extLst>
      <p:ext uri="{BB962C8B-B14F-4D97-AF65-F5344CB8AC3E}">
        <p14:creationId xmlns:p14="http://schemas.microsoft.com/office/powerpoint/2010/main" val="18378166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F983CF9D-8C72-4CC7-A596-907E372C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5BAB3766-DD1B-47CC-9345-EA6614F4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A2C1B90F-BF4C-4FC7-A74F-6C3F8D92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场景篇——什么时候推荐穿心莲内酯滴丸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D2221621-2D63-4A02-BDF3-73494C2A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E756BDE7-BD80-41B1-BB23-91BE78DF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E6BD0007-EE70-4733-8E4E-12193EC2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scenario1-title">
            <a:extLst xmlns:a="http://schemas.openxmlformats.org/drawingml/2006/main">
              <a:ext uri="{FF2B5EF4-FFF2-40B4-BE49-F238E27FC236}">
                <a16:creationId xmlns:a16="http://schemas.microsoft.com/office/drawing/2014/main" id="{A2B9A1A3-2391-4D4F-AA4E-D95CE336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场景1：顾客主诉“喉咙痛”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e477689ed4f0c"/>
          <a:stretch xmlns:a="http://schemas.openxmlformats.org/drawingml/2006/main"/>
        </p:blipFill>
        <p:spPr>
          <a:xfrm xmlns:a="http://schemas.openxmlformats.org/drawingml/2006/main">
            <a:off x="775907" y="1666875"/>
            <a:ext cx="3115437" cy="3238500"/>
          </a:xfrm>
          <a:prstGeom xmlns:a="http://schemas.openxmlformats.org/drawingml/2006/main" prst="rect">
            <a:avLst/>
          </a:prstGeom>
        </p:spPr>
      </p:pic>
      <p:sp>
        <p:nvSpPr>
          <p:cNvPr id="9" name="scenario1-communication-surface">
            <a:extLst xmlns:a="http://schemas.openxmlformats.org/drawingml/2006/main">
              <a:ext uri="{FF2B5EF4-FFF2-40B4-BE49-F238E27FC236}">
                <a16:creationId xmlns:a16="http://schemas.microsoft.com/office/drawing/2014/main" id="{8639994F-953D-449B-9A31-15EC6CAD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2190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0" name="scenario1-communication-accent">
            <a:extLst xmlns:a="http://schemas.openxmlformats.org/drawingml/2006/main">
              <a:ext uri="{FF2B5EF4-FFF2-40B4-BE49-F238E27FC236}">
                <a16:creationId xmlns:a16="http://schemas.microsoft.com/office/drawing/2014/main" id="{E25D7145-CA2F-4F6B-93F4-9FCABCE9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66875"/>
            <a:ext cx="571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cenario1-communication-title">
            <a:extLst xmlns:a="http://schemas.openxmlformats.org/drawingml/2006/main">
              <a:ext uri="{FF2B5EF4-FFF2-40B4-BE49-F238E27FC236}">
                <a16:creationId xmlns:a16="http://schemas.microsoft.com/office/drawing/2014/main" id="{CEAA4307-4D0B-465E-A832-1621B686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80022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辨证沟通</a:t>
            </a:r>
          </a:p>
        </p:txBody>
      </p:sp>
      <p:sp>
        <p:nvSpPr>
          <p:cNvPr id="12" name="scenario1-communication-divider">
            <a:extLst xmlns:a="http://schemas.openxmlformats.org/drawingml/2006/main">
              <a:ext uri="{FF2B5EF4-FFF2-40B4-BE49-F238E27FC236}">
                <a16:creationId xmlns:a16="http://schemas.microsoft.com/office/drawing/2014/main" id="{537AC405-C7FC-4855-ACD7-BAF51CAD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219325"/>
            <a:ext cx="184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3" name="scenario1-communication-body">
            <a:extLst xmlns:a="http://schemas.openxmlformats.org/drawingml/2006/main">
              <a:ext uri="{FF2B5EF4-FFF2-40B4-BE49-F238E27FC236}">
                <a16:creationId xmlns:a16="http://schemas.microsoft.com/office/drawing/2014/main" id="{7A160FCF-C3F4-488B-A894-269D33B2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333625"/>
            <a:ext cx="18478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通过关键提问“是否觉得身上热”，快速判断顾客属于</a:t>
            </a:r>
            <a:r>
              <a:rPr sz="1650" b="1">
                <a:solidFill>
                  <a:srgbClr val="009900"/>
                </a:solidFill>
              </a:rPr>
              <a:t>风热型咽喉肿痛</a:t>
            </a:r>
            <a:r>
              <a:rPr sz="1650" b="0">
                <a:solidFill>
                  <a:srgbClr val="303741"/>
                </a:solidFill>
              </a:rPr>
              <a:t>，</a:t>
            </a:r>
            <a:r>
              <a:rPr sz="1650" b="1">
                <a:solidFill>
                  <a:srgbClr val="303741"/>
                </a:solidFill>
              </a:rPr>
              <a:t>而非风寒</a:t>
            </a:r>
            <a:r>
              <a:rPr sz="1650" b="0">
                <a:solidFill>
                  <a:srgbClr val="303741"/>
                </a:solidFill>
              </a:rPr>
              <a:t>。这是精准推荐用药的第一步。</a:t>
            </a:r>
          </a:p>
        </p:txBody>
      </p:sp>
      <p:sp>
        <p:nvSpPr>
          <p:cNvPr id="14" name="scenario1-product-surface">
            <a:extLst xmlns:a="http://schemas.openxmlformats.org/drawingml/2006/main">
              <a:ext uri="{FF2B5EF4-FFF2-40B4-BE49-F238E27FC236}">
                <a16:creationId xmlns:a16="http://schemas.microsoft.com/office/drawing/2014/main" id="{5AB68DAA-B016-41D6-B89B-E5021F1F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66875"/>
            <a:ext cx="2190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5" name="scenario1-product-accent">
            <a:extLst xmlns:a="http://schemas.openxmlformats.org/drawingml/2006/main">
              <a:ext uri="{FF2B5EF4-FFF2-40B4-BE49-F238E27FC236}">
                <a16:creationId xmlns:a16="http://schemas.microsoft.com/office/drawing/2014/main" id="{53A134A5-C4B2-4F61-85BD-03C6E137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66875"/>
            <a:ext cx="571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cenario1-product-title">
            <a:extLst xmlns:a="http://schemas.openxmlformats.org/drawingml/2006/main">
              <a:ext uri="{FF2B5EF4-FFF2-40B4-BE49-F238E27FC236}">
                <a16:creationId xmlns:a16="http://schemas.microsoft.com/office/drawing/2014/main" id="{D1883887-5B7E-43CA-B0C9-CEDFDD75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0022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核心用药</a:t>
            </a:r>
          </a:p>
        </p:txBody>
      </p:sp>
      <p:sp>
        <p:nvSpPr>
          <p:cNvPr id="17" name="scenario1-product-divider">
            <a:extLst xmlns:a="http://schemas.openxmlformats.org/drawingml/2006/main">
              <a:ext uri="{FF2B5EF4-FFF2-40B4-BE49-F238E27FC236}">
                <a16:creationId xmlns:a16="http://schemas.microsoft.com/office/drawing/2014/main" id="{90038FC0-1886-4A9C-986A-9B8AF3E8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19325"/>
            <a:ext cx="184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8" name="scenario1-product-body">
            <a:extLst xmlns:a="http://schemas.openxmlformats.org/drawingml/2006/main">
              <a:ext uri="{FF2B5EF4-FFF2-40B4-BE49-F238E27FC236}">
                <a16:creationId xmlns:a16="http://schemas.microsoft.com/office/drawing/2014/main" id="{A8DF53A9-6E5C-482D-A5F7-10D2985B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33625"/>
            <a:ext cx="18478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主推</a:t>
            </a:r>
            <a:r>
              <a:rPr sz="1650" b="1">
                <a:solidFill>
                  <a:srgbClr val="303741"/>
                </a:solidFill>
              </a:rPr>
              <a:t>穿心莲内酯滴丸</a:t>
            </a:r>
            <a:r>
              <a:rPr sz="1650" b="0">
                <a:solidFill>
                  <a:srgbClr val="303741"/>
                </a:solidFill>
              </a:rPr>
              <a:t>，其核心成分穿心莲内酯</a:t>
            </a:r>
            <a:r>
              <a:rPr sz="1650" b="1">
                <a:solidFill>
                  <a:srgbClr val="303741"/>
                </a:solidFill>
              </a:rPr>
              <a:t>清热解毒、抗菌消炎</a:t>
            </a:r>
            <a:r>
              <a:rPr sz="1650" b="0">
                <a:solidFill>
                  <a:srgbClr val="303741"/>
                </a:solidFill>
              </a:rPr>
              <a:t>。重点强调滴丸剂型</a:t>
            </a:r>
            <a:r>
              <a:rPr sz="1650" b="1">
                <a:solidFill>
                  <a:srgbClr val="303741"/>
                </a:solidFill>
              </a:rPr>
              <a:t>吸收快、见效迅速</a:t>
            </a:r>
            <a:r>
              <a:rPr sz="1650" b="0">
                <a:solidFill>
                  <a:srgbClr val="303741"/>
                </a:solidFill>
              </a:rPr>
              <a:t>。</a:t>
            </a:r>
          </a:p>
        </p:txBody>
      </p:sp>
      <p:sp>
        <p:nvSpPr>
          <p:cNvPr id="19" name="scenario1-service-surface">
            <a:extLst xmlns:a="http://schemas.openxmlformats.org/drawingml/2006/main">
              <a:ext uri="{FF2B5EF4-FFF2-40B4-BE49-F238E27FC236}">
                <a16:creationId xmlns:a16="http://schemas.microsoft.com/office/drawing/2014/main" id="{D42977B7-BC89-4CBF-BA14-9B76CEAA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66875"/>
            <a:ext cx="21907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0" name="scenario1-service-accent">
            <a:extLst xmlns:a="http://schemas.openxmlformats.org/drawingml/2006/main">
              <a:ext uri="{FF2B5EF4-FFF2-40B4-BE49-F238E27FC236}">
                <a16:creationId xmlns:a16="http://schemas.microsoft.com/office/drawing/2014/main" id="{C52389AF-524F-484E-9425-BE7AA8C2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66875"/>
            <a:ext cx="571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cenario1-service-title">
            <a:extLst xmlns:a="http://schemas.openxmlformats.org/drawingml/2006/main">
              <a:ext uri="{FF2B5EF4-FFF2-40B4-BE49-F238E27FC236}">
                <a16:creationId xmlns:a16="http://schemas.microsoft.com/office/drawing/2014/main" id="{4E5BA0F8-8CE5-4538-84AA-A4AC30EC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800225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关联服务</a:t>
            </a:r>
          </a:p>
        </p:txBody>
      </p:sp>
      <p:sp>
        <p:nvSpPr>
          <p:cNvPr id="22" name="scenario1-service-divider">
            <a:extLst xmlns:a="http://schemas.openxmlformats.org/drawingml/2006/main">
              <a:ext uri="{FF2B5EF4-FFF2-40B4-BE49-F238E27FC236}">
                <a16:creationId xmlns:a16="http://schemas.microsoft.com/office/drawing/2014/main" id="{30C4F463-6DF1-4D95-85CA-5A58A6F0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219325"/>
            <a:ext cx="1847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3" name="scenario1-service-body">
            <a:extLst xmlns:a="http://schemas.openxmlformats.org/drawingml/2006/main">
              <a:ext uri="{FF2B5EF4-FFF2-40B4-BE49-F238E27FC236}">
                <a16:creationId xmlns:a16="http://schemas.microsoft.com/office/drawing/2014/main" id="{D159FDF8-F0DB-4922-9183-F6FE874D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333625"/>
            <a:ext cx="1847850" cy="24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03741"/>
                </a:solidFill>
              </a:defRPr>
            </a:pPr>
            <a:r>
              <a:rPr sz="1650" b="0">
                <a:solidFill>
                  <a:srgbClr val="303741"/>
                </a:solidFill>
              </a:rPr>
              <a:t>关联推荐</a:t>
            </a:r>
            <a:r>
              <a:rPr sz="1650" b="1">
                <a:solidFill>
                  <a:srgbClr val="303741"/>
                </a:solidFill>
              </a:rPr>
              <a:t>熊胆薄荷含片</a:t>
            </a:r>
            <a:r>
              <a:rPr sz="1650" b="0">
                <a:solidFill>
                  <a:srgbClr val="303741"/>
                </a:solidFill>
              </a:rPr>
              <a:t>，</a:t>
            </a:r>
            <a:r>
              <a:rPr sz="1650" b="1">
                <a:solidFill>
                  <a:srgbClr val="303741"/>
                </a:solidFill>
              </a:rPr>
              <a:t>内服＋外用</a:t>
            </a:r>
            <a:r>
              <a:rPr sz="1650" b="0">
                <a:solidFill>
                  <a:srgbClr val="303741"/>
                </a:solidFill>
              </a:rPr>
              <a:t>双管齐下。同时给予多饮温水、忌辛辣刺激等饮食建议。</a:t>
            </a:r>
          </a:p>
        </p:txBody>
      </p:sp>
      <p:sp>
        <p:nvSpPr>
          <p:cNvPr id="24" name="scenario1-summary">
            <a:extLst xmlns:a="http://schemas.openxmlformats.org/drawingml/2006/main">
              <a:ext uri="{FF2B5EF4-FFF2-40B4-BE49-F238E27FC236}">
                <a16:creationId xmlns:a16="http://schemas.microsoft.com/office/drawing/2014/main" id="{28576F93-B494-414E-97B4-5960EE5B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86375"/>
            <a:ext cx="7048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03741"/>
                </a:solidFill>
              </a:defRPr>
            </a:pPr>
            <a:r>
              <a:rPr sz="1500" b="1">
                <a:solidFill>
                  <a:srgbClr val="303741"/>
                </a:solidFill>
              </a:rPr>
              <a:t>服务要点：辨证精准是前提，剂型优势是卖点，关联用药是增值，健康叮嘱是保障。</a:t>
            </a:r>
          </a:p>
        </p:txBody>
      </p:sp>
    </p:spTree>
    <p:extLst>
      <p:ext uri="{BB962C8B-B14F-4D97-AF65-F5344CB8AC3E}">
        <p14:creationId xmlns:p14="http://schemas.microsoft.com/office/powerpoint/2010/main" val="10343770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8028E9F8-2721-47F7-B40E-8C34E84A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D910FCE9-05C7-4108-B34E-1DF180C7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3.4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F4086461-AA90-41D6-BB88-BFBA098D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场景篇——什么时候推荐穿心莲内酯滴丸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9B4A6B0A-361E-4B79-A0F6-B0EE36A4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FB96B630-7513-4359-8B6A-9B0A18F0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E606D806-513E-42B5-A4DF-F7521F86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scenario2-title">
            <a:extLst xmlns:a="http://schemas.openxmlformats.org/drawingml/2006/main">
              <a:ext uri="{FF2B5EF4-FFF2-40B4-BE49-F238E27FC236}">
                <a16:creationId xmlns:a16="http://schemas.microsoft.com/office/drawing/2014/main" id="{834F5737-26F8-4587-B579-F1CFC3BB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57250"/>
            <a:ext cx="714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9900"/>
                </a:solidFill>
              </a:defRPr>
            </a:pPr>
            <a:r>
              <a:rPr sz="1875" b="1">
                <a:solidFill>
                  <a:srgbClr val="009900"/>
                </a:solidFill>
              </a:rPr>
              <a:t>场景2：顾客主诉“感冒了，发烧，有黄痰”</a:t>
            </a:r>
          </a:p>
        </p:txBody>
      </p:sp>
      <p:sp>
        <p:nvSpPr>
          <p:cNvPr id="8" name="scenario2-diagnosis-surface">
            <a:extLst xmlns:a="http://schemas.openxmlformats.org/drawingml/2006/main">
              <a:ext uri="{FF2B5EF4-FFF2-40B4-BE49-F238E27FC236}">
                <a16:creationId xmlns:a16="http://schemas.microsoft.com/office/drawing/2014/main" id="{5CFA5197-FCD8-43AE-93C9-87DE6E11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238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9" name="scenario2-diagnosis-accent">
            <a:extLst xmlns:a="http://schemas.openxmlformats.org/drawingml/2006/main">
              <a:ext uri="{FF2B5EF4-FFF2-40B4-BE49-F238E27FC236}">
                <a16:creationId xmlns:a16="http://schemas.microsoft.com/office/drawing/2014/main" id="{3AAF9601-8824-4161-97C7-03F83144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571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cenario2-diagnosis-title">
            <a:extLst xmlns:a="http://schemas.openxmlformats.org/drawingml/2006/main">
              <a:ext uri="{FF2B5EF4-FFF2-40B4-BE49-F238E27FC236}">
                <a16:creationId xmlns:a16="http://schemas.microsoft.com/office/drawing/2014/main" id="{C70E74F7-93F6-4C3E-BD02-31B81A0A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526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01 症状辨析</a:t>
            </a:r>
          </a:p>
        </p:txBody>
      </p:sp>
      <p:sp>
        <p:nvSpPr>
          <p:cNvPr id="11" name="scenario2-diagnosis-divider">
            <a:extLst xmlns:a="http://schemas.openxmlformats.org/drawingml/2006/main">
              <a:ext uri="{FF2B5EF4-FFF2-40B4-BE49-F238E27FC236}">
                <a16:creationId xmlns:a16="http://schemas.microsoft.com/office/drawing/2014/main" id="{AF2D8AFA-81CD-4109-BC07-82336BA1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2" name="scenario2-diagnosis-body">
            <a:extLst xmlns:a="http://schemas.openxmlformats.org/drawingml/2006/main">
              <a:ext uri="{FF2B5EF4-FFF2-40B4-BE49-F238E27FC236}">
                <a16:creationId xmlns:a16="http://schemas.microsoft.com/office/drawing/2014/main" id="{9C6BEC27-2295-4551-86A8-65360EED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28956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顾客表现为</a:t>
            </a:r>
            <a:r>
              <a:rPr sz="1725" b="1">
                <a:solidFill>
                  <a:srgbClr val="303741"/>
                </a:solidFill>
              </a:rPr>
              <a:t>发烧38℃以上</a:t>
            </a:r>
            <a:r>
              <a:rPr sz="1725" b="0">
                <a:solidFill>
                  <a:srgbClr val="303741"/>
                </a:solidFill>
              </a:rPr>
              <a:t>、自觉身热不恶寒、咳嗽伴黄痰。这是典型的</a:t>
            </a:r>
            <a:r>
              <a:rPr sz="1725" b="1">
                <a:solidFill>
                  <a:srgbClr val="009900"/>
                </a:solidFill>
              </a:rPr>
              <a:t>风热感冒</a:t>
            </a:r>
            <a:r>
              <a:rPr sz="1725" b="0">
                <a:solidFill>
                  <a:srgbClr val="303741"/>
                </a:solidFill>
              </a:rPr>
              <a:t>症状，核心病机为风热之邪犯表，肺气失和，体内有热毒积聚。</a:t>
            </a:r>
          </a:p>
        </p:txBody>
      </p:sp>
      <p:sp>
        <p:nvSpPr>
          <p:cNvPr id="13" name="scenario2-core-surface">
            <a:extLst xmlns:a="http://schemas.openxmlformats.org/drawingml/2006/main">
              <a:ext uri="{FF2B5EF4-FFF2-40B4-BE49-F238E27FC236}">
                <a16:creationId xmlns:a16="http://schemas.microsoft.com/office/drawing/2014/main" id="{56A07A01-595F-49C7-B9B2-65C4DAEC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4" name="scenario2-core-accent">
            <a:extLst xmlns:a="http://schemas.openxmlformats.org/drawingml/2006/main">
              <a:ext uri="{FF2B5EF4-FFF2-40B4-BE49-F238E27FC236}">
                <a16:creationId xmlns:a16="http://schemas.microsoft.com/office/drawing/2014/main" id="{4EE5D88A-D59D-40A9-B626-658CA4FA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571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cenario2-core-title">
            <a:extLst xmlns:a="http://schemas.openxmlformats.org/drawingml/2006/main">
              <a:ext uri="{FF2B5EF4-FFF2-40B4-BE49-F238E27FC236}">
                <a16:creationId xmlns:a16="http://schemas.microsoft.com/office/drawing/2014/main" id="{0F52530F-F21F-4C47-ACF9-5FC115AF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7526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02 核心推荐方案</a:t>
            </a:r>
          </a:p>
        </p:txBody>
      </p:sp>
      <p:sp>
        <p:nvSpPr>
          <p:cNvPr id="16" name="scenario2-core-divider">
            <a:extLst xmlns:a="http://schemas.openxmlformats.org/drawingml/2006/main">
              <a:ext uri="{FF2B5EF4-FFF2-40B4-BE49-F238E27FC236}">
                <a16:creationId xmlns:a16="http://schemas.microsoft.com/office/drawing/2014/main" id="{A38316C0-D302-4813-8AF3-88285797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717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7" name="scenario2-core-body">
            <a:extLst xmlns:a="http://schemas.openxmlformats.org/drawingml/2006/main">
              <a:ext uri="{FF2B5EF4-FFF2-40B4-BE49-F238E27FC236}">
                <a16:creationId xmlns:a16="http://schemas.microsoft.com/office/drawing/2014/main" id="{A5167E8C-5E53-4BC9-9827-F17D3DA1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86000"/>
            <a:ext cx="28956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推荐</a:t>
            </a:r>
            <a:r>
              <a:rPr sz="1725" b="1">
                <a:solidFill>
                  <a:srgbClr val="009900"/>
                </a:solidFill>
              </a:rPr>
              <a:t>穿心莲内酯滴丸</a:t>
            </a:r>
            <a:r>
              <a:rPr sz="1725" b="0">
                <a:solidFill>
                  <a:srgbClr val="303741"/>
                </a:solidFill>
              </a:rPr>
              <a:t>。它能直接清除体内热毒，从根源上解决发热、咽痛、咳黄痰等风热感冒症状；</a:t>
            </a:r>
            <a:r>
              <a:rPr sz="1725" b="1">
                <a:solidFill>
                  <a:srgbClr val="303741"/>
                </a:solidFill>
              </a:rPr>
              <a:t>药力集中、起效快</a:t>
            </a:r>
            <a:r>
              <a:rPr sz="1725" b="0">
                <a:solidFill>
                  <a:srgbClr val="303741"/>
                </a:solidFill>
              </a:rPr>
              <a:t>。</a:t>
            </a:r>
          </a:p>
        </p:txBody>
      </p:sp>
      <p:sp>
        <p:nvSpPr>
          <p:cNvPr id="18" name="scenario2-combo-surface">
            <a:extLst xmlns:a="http://schemas.openxmlformats.org/drawingml/2006/main">
              <a:ext uri="{FF2B5EF4-FFF2-40B4-BE49-F238E27FC236}">
                <a16:creationId xmlns:a16="http://schemas.microsoft.com/office/drawing/2014/main" id="{613C6DC4-957D-4672-882C-6859DD94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3238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9" name="scenario2-combo-accent">
            <a:extLst xmlns:a="http://schemas.openxmlformats.org/drawingml/2006/main">
              <a:ext uri="{FF2B5EF4-FFF2-40B4-BE49-F238E27FC236}">
                <a16:creationId xmlns:a16="http://schemas.microsoft.com/office/drawing/2014/main" id="{CF135E8E-2E5A-4865-AC9E-3BD9CCCC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19250"/>
            <a:ext cx="571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cenario2-combo-title">
            <a:extLst xmlns:a="http://schemas.openxmlformats.org/drawingml/2006/main">
              <a:ext uri="{FF2B5EF4-FFF2-40B4-BE49-F238E27FC236}">
                <a16:creationId xmlns:a16="http://schemas.microsoft.com/office/drawing/2014/main" id="{6F9CE293-7E34-4626-8ECC-D5F686A1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75260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03 联合用药解惑</a:t>
            </a:r>
          </a:p>
        </p:txBody>
      </p:sp>
      <p:sp>
        <p:nvSpPr>
          <p:cNvPr id="21" name="scenario2-combo-divider">
            <a:extLst xmlns:a="http://schemas.openxmlformats.org/drawingml/2006/main">
              <a:ext uri="{FF2B5EF4-FFF2-40B4-BE49-F238E27FC236}">
                <a16:creationId xmlns:a16="http://schemas.microsoft.com/office/drawing/2014/main" id="{E50A2A04-1CFC-4264-8A52-22B08905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71700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2" name="scenario2-combo-body">
            <a:extLst xmlns:a="http://schemas.openxmlformats.org/drawingml/2006/main">
              <a:ext uri="{FF2B5EF4-FFF2-40B4-BE49-F238E27FC236}">
                <a16:creationId xmlns:a16="http://schemas.microsoft.com/office/drawing/2014/main" id="{F05B10C9-D5BF-4CCC-921F-75E7617C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86000"/>
            <a:ext cx="28956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03741"/>
                </a:solidFill>
              </a:defRPr>
            </a:pPr>
            <a:r>
              <a:rPr sz="1725" b="0">
                <a:solidFill>
                  <a:srgbClr val="303741"/>
                </a:solidFill>
              </a:rPr>
              <a:t>若顾客家中有复方氨酚烷胺片，可说明：西药缓解咳嗽、流涕等症状是</a:t>
            </a:r>
            <a:r>
              <a:rPr sz="1725" b="1">
                <a:solidFill>
                  <a:srgbClr val="FF8A00"/>
                </a:solidFill>
              </a:rPr>
              <a:t>“治标”</a:t>
            </a:r>
            <a:r>
              <a:rPr sz="1725" b="0">
                <a:solidFill>
                  <a:srgbClr val="303741"/>
                </a:solidFill>
              </a:rPr>
              <a:t>；穿心莲清除热毒是</a:t>
            </a:r>
            <a:r>
              <a:rPr sz="1725" b="1">
                <a:solidFill>
                  <a:srgbClr val="009900"/>
                </a:solidFill>
              </a:rPr>
              <a:t>“治本”</a:t>
            </a:r>
            <a:r>
              <a:rPr sz="1725" b="0">
                <a:solidFill>
                  <a:srgbClr val="303741"/>
                </a:solidFill>
              </a:rPr>
              <a:t>，二者联用。</a:t>
            </a:r>
          </a:p>
        </p:txBody>
      </p:sp>
      <p:sp>
        <p:nvSpPr>
          <p:cNvPr id="23" name="scenario2-talktrack">
            <a:extLst xmlns:a="http://schemas.openxmlformats.org/drawingml/2006/main">
              <a:ext uri="{FF2B5EF4-FFF2-40B4-BE49-F238E27FC236}">
                <a16:creationId xmlns:a16="http://schemas.microsoft.com/office/drawing/2014/main" id="{B2A2F3AF-6FD5-440D-8DC5-B2D8F61E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106680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关键话术：“您这是风热感冒，穿心莲内酯滴丸清除热毒是治本，复方氨酚烷胺片缓解症状是治标，一个治标一个治本，一起用效果更好。”</a:t>
            </a:r>
          </a:p>
        </p:txBody>
      </p:sp>
    </p:spTree>
    <p:extLst>
      <p:ext uri="{BB962C8B-B14F-4D97-AF65-F5344CB8AC3E}">
        <p14:creationId xmlns:p14="http://schemas.microsoft.com/office/powerpoint/2010/main" val="6224721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70ED4169-5D9A-41AF-99BD-173CFC654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BF55F057-8AF1-49C5-AD92-1E19B6B7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4.1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A3E3C122-B890-42CB-8C1B-7EEE9DD8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关怀篇——日常生活叮嘱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7D172A01-D6EB-41D0-BD2C-B7CA4150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2D6410AD-6037-4164-B210-3D34D698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F9C52AEF-D58F-4BCC-B988-A3B04191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e02f7e988042b0"/>
          <a:stretch xmlns:a="http://schemas.openxmlformats.org/drawingml/2006/main"/>
        </p:blipFill>
        <p:spPr>
          <a:xfrm xmlns:a="http://schemas.openxmlformats.org/drawingml/2006/main">
            <a:off x="683685" y="1238250"/>
            <a:ext cx="2299755" cy="1809750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94a0087d14dbd"/>
          <a:stretch xmlns:a="http://schemas.openxmlformats.org/drawingml/2006/main"/>
        </p:blipFill>
        <p:spPr>
          <a:xfrm xmlns:a="http://schemas.openxmlformats.org/drawingml/2006/main">
            <a:off x="3207810" y="1238250"/>
            <a:ext cx="2299755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care-food-good">
            <a:extLst xmlns:a="http://schemas.openxmlformats.org/drawingml/2006/main">
              <a:ext uri="{FF2B5EF4-FFF2-40B4-BE49-F238E27FC236}">
                <a16:creationId xmlns:a16="http://schemas.microsoft.com/office/drawing/2014/main" id="{FC739594-E75A-4AFF-A6A4-36001295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333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FF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03741"/>
                </a:solidFill>
              </a:defRPr>
            </a:pPr>
            <a:r>
              <a:rPr sz="1275" b="1">
                <a:solidFill>
                  <a:srgbClr val="303741"/>
                </a:solidFill>
              </a:rPr>
              <a:t>✓ 饮食之宜 · 清热生津</a:t>
            </a:r>
          </a:p>
          <a:p xmlns:a="http://schemas.openxmlformats.org/drawingml/2006/main">
            <a:pPr algn="l">
              <a:defRPr sz="1275" b="0">
                <a:solidFill>
                  <a:srgbClr val="303741"/>
                </a:solidFill>
              </a:defRPr>
            </a:pPr>
            <a:r>
              <a:rPr sz="1275" b="0">
                <a:solidFill>
                  <a:srgbClr val="303741"/>
                </a:solidFill>
              </a:rPr>
              <a:t>日常多喝水，可饮菊花茶、绿豆汤，适当食用梨、西瓜、苦瓜等寒凉性蔬果。</a:t>
            </a:r>
          </a:p>
        </p:txBody>
      </p:sp>
      <p:sp>
        <p:nvSpPr>
          <p:cNvPr id="10" name="care-food-bad">
            <a:extLst xmlns:a="http://schemas.openxmlformats.org/drawingml/2006/main">
              <a:ext uri="{FF2B5EF4-FFF2-40B4-BE49-F238E27FC236}">
                <a16:creationId xmlns:a16="http://schemas.microsoft.com/office/drawing/2014/main" id="{DB7B7244-8D47-4A16-97E6-4DEAC9CB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333750"/>
            <a:ext cx="2333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03741"/>
                </a:solidFill>
              </a:defRPr>
            </a:pPr>
            <a:r>
              <a:rPr sz="1275" b="1">
                <a:solidFill>
                  <a:srgbClr val="303741"/>
                </a:solidFill>
              </a:rPr>
              <a:t>✕ 饮食之忌 · 避热动火</a:t>
            </a:r>
          </a:p>
          <a:p xmlns:a="http://schemas.openxmlformats.org/drawingml/2006/main">
            <a:pPr algn="l">
              <a:defRPr sz="1275" b="0">
                <a:solidFill>
                  <a:srgbClr val="303741"/>
                </a:solidFill>
              </a:defRPr>
            </a:pPr>
            <a:r>
              <a:rPr sz="1275" b="0">
                <a:solidFill>
                  <a:srgbClr val="303741"/>
                </a:solidFill>
              </a:rPr>
              <a:t>避免辛辣刺激、油腻煎炸食物，同时慎食羊肉、人参、桂圆等温补食材。</a:t>
            </a:r>
          </a:p>
        </p:txBody>
      </p:sp>
      <p:sp>
        <p:nvSpPr>
          <p:cNvPr id="11" name="care-rest-surface">
            <a:extLst xmlns:a="http://schemas.openxmlformats.org/drawingml/2006/main">
              <a:ext uri="{FF2B5EF4-FFF2-40B4-BE49-F238E27FC236}">
                <a16:creationId xmlns:a16="http://schemas.microsoft.com/office/drawing/2014/main" id="{C636DF54-DB07-495D-B84C-F5841FB8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238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2" name="care-rest-accent">
            <a:extLst xmlns:a="http://schemas.openxmlformats.org/drawingml/2006/main">
              <a:ext uri="{FF2B5EF4-FFF2-40B4-BE49-F238E27FC236}">
                <a16:creationId xmlns:a16="http://schemas.microsoft.com/office/drawing/2014/main" id="{10A2394D-FCD0-47FD-911A-AAB0D92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re-rest-title">
            <a:extLst xmlns:a="http://schemas.openxmlformats.org/drawingml/2006/main">
              <a:ext uri="{FF2B5EF4-FFF2-40B4-BE49-F238E27FC236}">
                <a16:creationId xmlns:a16="http://schemas.microsoft.com/office/drawing/2014/main" id="{786DD02A-C23E-4B77-8E0E-287006F8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276350"/>
            <a:ext cx="493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保证充足休息，养足精神</a:t>
            </a:r>
          </a:p>
        </p:txBody>
      </p:sp>
      <p:sp>
        <p:nvSpPr>
          <p:cNvPr id="14" name="care-rest-divider">
            <a:extLst xmlns:a="http://schemas.openxmlformats.org/drawingml/2006/main">
              <a:ext uri="{FF2B5EF4-FFF2-40B4-BE49-F238E27FC236}">
                <a16:creationId xmlns:a16="http://schemas.microsoft.com/office/drawing/2014/main" id="{3FB45A1D-CF89-4394-8D3F-F9FFC63B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15" name="care-rest-body">
            <a:extLst xmlns:a="http://schemas.openxmlformats.org/drawingml/2006/main">
              <a:ext uri="{FF2B5EF4-FFF2-40B4-BE49-F238E27FC236}">
                <a16:creationId xmlns:a16="http://schemas.microsoft.com/office/drawing/2014/main" id="{63C37520-E913-4D9D-A07D-61352D07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48958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建议保证</a:t>
            </a:r>
            <a:r>
              <a:rPr sz="1575" b="1">
                <a:solidFill>
                  <a:srgbClr val="303741"/>
                </a:solidFill>
              </a:rPr>
              <a:t>7–8小时高质量睡眠</a:t>
            </a:r>
            <a:r>
              <a:rPr sz="1575" b="0">
                <a:solidFill>
                  <a:srgbClr val="303741"/>
                </a:solidFill>
              </a:rPr>
              <a:t>，避免熬夜，让脏腑功能在夜间充分休养，促进津液恢复。</a:t>
            </a:r>
          </a:p>
        </p:txBody>
      </p:sp>
      <p:sp>
        <p:nvSpPr>
          <p:cNvPr id="16" name="care-air-surface">
            <a:extLst xmlns:a="http://schemas.openxmlformats.org/drawingml/2006/main">
              <a:ext uri="{FF2B5EF4-FFF2-40B4-BE49-F238E27FC236}">
                <a16:creationId xmlns:a16="http://schemas.microsoft.com/office/drawing/2014/main" id="{EDB0E5B2-A5C8-4353-A7D3-D514A180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5238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17" name="care-air-accent">
            <a:extLst xmlns:a="http://schemas.openxmlformats.org/drawingml/2006/main">
              <a:ext uri="{FF2B5EF4-FFF2-40B4-BE49-F238E27FC236}">
                <a16:creationId xmlns:a16="http://schemas.microsoft.com/office/drawing/2014/main" id="{2D32792C-BE3B-4A43-9C5C-02CA70EA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are-air-title">
            <a:extLst xmlns:a="http://schemas.openxmlformats.org/drawingml/2006/main">
              <a:ext uri="{FF2B5EF4-FFF2-40B4-BE49-F238E27FC236}">
                <a16:creationId xmlns:a16="http://schemas.microsoft.com/office/drawing/2014/main" id="{EC22CE41-A768-44F2-9558-326AB670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47975"/>
            <a:ext cx="493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保持室内通风，空气清新</a:t>
            </a:r>
          </a:p>
        </p:txBody>
      </p:sp>
      <p:sp>
        <p:nvSpPr>
          <p:cNvPr id="19" name="care-air-divider">
            <a:extLst xmlns:a="http://schemas.openxmlformats.org/drawingml/2006/main">
              <a:ext uri="{FF2B5EF4-FFF2-40B4-BE49-F238E27FC236}">
                <a16:creationId xmlns:a16="http://schemas.microsoft.com/office/drawing/2014/main" id="{40A7F15A-97CA-47FD-8D35-AAB186FC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67075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0" name="care-air-body">
            <a:extLst xmlns:a="http://schemas.openxmlformats.org/drawingml/2006/main">
              <a:ext uri="{FF2B5EF4-FFF2-40B4-BE49-F238E27FC236}">
                <a16:creationId xmlns:a16="http://schemas.microsoft.com/office/drawing/2014/main" id="{F867B428-EFAD-4B4C-90D4-C0071D36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81375"/>
            <a:ext cx="48958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0">
                <a:solidFill>
                  <a:srgbClr val="303741"/>
                </a:solidFill>
              </a:rPr>
              <a:t>每日开窗通风</a:t>
            </a:r>
            <a:r>
              <a:rPr sz="1575" b="1">
                <a:solidFill>
                  <a:srgbClr val="303741"/>
                </a:solidFill>
              </a:rPr>
              <a:t>2–3次，每次30分钟</a:t>
            </a:r>
            <a:r>
              <a:rPr sz="1575" b="0">
                <a:solidFill>
                  <a:srgbClr val="303741"/>
                </a:solidFill>
              </a:rPr>
              <a:t>。新鲜空气有助于驱散室内浊气，保持呼吸道通畅。</a:t>
            </a:r>
          </a:p>
        </p:txBody>
      </p:sp>
      <p:sp>
        <p:nvSpPr>
          <p:cNvPr id="21" name="care-voice-surface">
            <a:extLst xmlns:a="http://schemas.openxmlformats.org/drawingml/2006/main">
              <a:ext uri="{FF2B5EF4-FFF2-40B4-BE49-F238E27FC236}">
                <a16:creationId xmlns:a16="http://schemas.microsoft.com/office/drawing/2014/main" id="{B38B7E41-D54D-4E47-9591-3303825F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238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2" name="care-voice-accent">
            <a:extLst xmlns:a="http://schemas.openxmlformats.org/drawingml/2006/main">
              <a:ext uri="{FF2B5EF4-FFF2-40B4-BE49-F238E27FC236}">
                <a16:creationId xmlns:a16="http://schemas.microsoft.com/office/drawing/2014/main" id="{A8589C9A-AA39-4BB3-BE36-6A5007BC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are-voice-title">
            <a:extLst xmlns:a="http://schemas.openxmlformats.org/drawingml/2006/main">
              <a:ext uri="{FF2B5EF4-FFF2-40B4-BE49-F238E27FC236}">
                <a16:creationId xmlns:a16="http://schemas.microsoft.com/office/drawing/2014/main" id="{88916697-089E-452F-B90A-1AB64904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9600"/>
            <a:ext cx="493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9900"/>
                </a:solidFill>
              </a:defRPr>
            </a:pPr>
            <a:r>
              <a:rPr sz="1725" b="1">
                <a:solidFill>
                  <a:srgbClr val="009900"/>
                </a:solidFill>
              </a:rPr>
              <a:t>减少过度用嗓，静养咽喉</a:t>
            </a:r>
          </a:p>
        </p:txBody>
      </p:sp>
      <p:sp>
        <p:nvSpPr>
          <p:cNvPr id="24" name="care-voice-divider">
            <a:extLst xmlns:a="http://schemas.openxmlformats.org/drawingml/2006/main">
              <a:ext uri="{FF2B5EF4-FFF2-40B4-BE49-F238E27FC236}">
                <a16:creationId xmlns:a16="http://schemas.microsoft.com/office/drawing/2014/main" id="{2E3F47FC-EE42-4A6D-854A-1BFA65F8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38700"/>
            <a:ext cx="4895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5" name="care-voice-body">
            <a:extLst xmlns:a="http://schemas.openxmlformats.org/drawingml/2006/main">
              <a:ext uri="{FF2B5EF4-FFF2-40B4-BE49-F238E27FC236}">
                <a16:creationId xmlns:a16="http://schemas.microsoft.com/office/drawing/2014/main" id="{3AE8A557-12C2-402C-A0C0-84AFF77C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953000"/>
            <a:ext cx="48958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03741"/>
                </a:solidFill>
              </a:defRPr>
            </a:pPr>
            <a:r>
              <a:rPr sz="1575" b="1">
                <a:solidFill>
                  <a:srgbClr val="303741"/>
                </a:solidFill>
              </a:rPr>
              <a:t>尽量少说话</a:t>
            </a:r>
            <a:r>
              <a:rPr sz="1575" b="0">
                <a:solidFill>
                  <a:srgbClr val="303741"/>
                </a:solidFill>
              </a:rPr>
              <a:t>，避免大声喊叫或长时间交谈，让咽喉、声带充分休息，减少外界刺激。</a:t>
            </a:r>
          </a:p>
        </p:txBody>
      </p:sp>
    </p:spTree>
    <p:extLst>
      <p:ext uri="{BB962C8B-B14F-4D97-AF65-F5344CB8AC3E}">
        <p14:creationId xmlns:p14="http://schemas.microsoft.com/office/powerpoint/2010/main" val="12128466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495D696E-7F9A-4375-9949-2861D573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929BA308-0CD4-4835-A778-E96893BB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5.1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EC505820-5181-4920-AA76-C291708A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权重篇——广誉远安宫牛黄丸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68D23886-0588-438E-A1E9-4DA95665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08D86D77-A4EB-435E-8568-8DBA018A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C8F7046D-8893-4BCA-9787-EA0D3B50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78de770379444d"/>
          <a:stretch xmlns:a="http://schemas.openxmlformats.org/drawingml/2006/main"/>
        </p:blipFill>
        <p:spPr>
          <a:xfrm xmlns:a="http://schemas.openxmlformats.org/drawingml/2006/main">
            <a:off x="440817" y="1143000"/>
            <a:ext cx="4404740" cy="2714625"/>
          </a:xfrm>
          <a:prstGeom xmlns:a="http://schemas.openxmlformats.org/drawingml/2006/main" prst="rect">
            <a:avLst/>
          </a:prstGeom>
        </p:spPr>
      </p:pic>
      <p:sp>
        <p:nvSpPr>
          <p:cNvPr id="8" name="weighted-code-h-surface">
            <a:extLst xmlns:a="http://schemas.openxmlformats.org/drawingml/2006/main">
              <a:ext uri="{FF2B5EF4-FFF2-40B4-BE49-F238E27FC236}">
                <a16:creationId xmlns:a16="http://schemas.microsoft.com/office/drawing/2014/main" id="{B8718C3F-1F0A-49A3-9128-84DBBC3D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048125"/>
            <a:ext cx="85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9" name="weighted-code-h-text">
            <a:extLst xmlns:a="http://schemas.openxmlformats.org/drawingml/2006/main">
              <a:ext uri="{FF2B5EF4-FFF2-40B4-BE49-F238E27FC236}">
                <a16:creationId xmlns:a16="http://schemas.microsoft.com/office/drawing/2014/main" id="{803F661B-4CE2-4E90-B861-2D13ECBA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105275"/>
            <a:ext cx="742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编码</a:t>
            </a:r>
          </a:p>
        </p:txBody>
      </p:sp>
      <p:sp>
        <p:nvSpPr>
          <p:cNvPr id="10" name="weighted-priority-h-surface">
            <a:extLst xmlns:a="http://schemas.openxmlformats.org/drawingml/2006/main">
              <a:ext uri="{FF2B5EF4-FFF2-40B4-BE49-F238E27FC236}">
                <a16:creationId xmlns:a16="http://schemas.microsoft.com/office/drawing/2014/main" id="{1A85A958-4AB2-470F-807D-A04C70EE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48125"/>
            <a:ext cx="857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1" name="weighted-priority-h-text">
            <a:extLst xmlns:a="http://schemas.openxmlformats.org/drawingml/2006/main">
              <a:ext uri="{FF2B5EF4-FFF2-40B4-BE49-F238E27FC236}">
                <a16:creationId xmlns:a16="http://schemas.microsoft.com/office/drawing/2014/main" id="{F01F7C0A-587C-43E7-9982-B1FC3F5E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05275"/>
            <a:ext cx="742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主推</a:t>
            </a:r>
          </a:p>
        </p:txBody>
      </p:sp>
      <p:sp>
        <p:nvSpPr>
          <p:cNvPr id="12" name="weighted-spec-h-surface">
            <a:extLst xmlns:a="http://schemas.openxmlformats.org/drawingml/2006/main">
              <a:ext uri="{FF2B5EF4-FFF2-40B4-BE49-F238E27FC236}">
                <a16:creationId xmlns:a16="http://schemas.microsoft.com/office/drawing/2014/main" id="{6A5CECF1-59A6-4AF1-B440-E57A5FFA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048125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3" name="weighted-spec-h-text">
            <a:extLst xmlns:a="http://schemas.openxmlformats.org/drawingml/2006/main">
              <a:ext uri="{FF2B5EF4-FFF2-40B4-BE49-F238E27FC236}">
                <a16:creationId xmlns:a16="http://schemas.microsoft.com/office/drawing/2014/main" id="{B51C6C76-3027-416B-9317-C1476116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105275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规格</a:t>
            </a:r>
          </a:p>
        </p:txBody>
      </p:sp>
      <p:sp>
        <p:nvSpPr>
          <p:cNvPr id="14" name="weighted-price-h-surface">
            <a:extLst xmlns:a="http://schemas.openxmlformats.org/drawingml/2006/main">
              <a:ext uri="{FF2B5EF4-FFF2-40B4-BE49-F238E27FC236}">
                <a16:creationId xmlns:a16="http://schemas.microsoft.com/office/drawing/2014/main" id="{4058A12E-84CA-4E6E-BD21-3BCA1970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48125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5" name="weighted-price-h-text">
            <a:extLst xmlns:a="http://schemas.openxmlformats.org/drawingml/2006/main">
              <a:ext uri="{FF2B5EF4-FFF2-40B4-BE49-F238E27FC236}">
                <a16:creationId xmlns:a16="http://schemas.microsoft.com/office/drawing/2014/main" id="{58612975-6A6B-46CD-A225-78471168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05275"/>
            <a:ext cx="10763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零售价</a:t>
            </a:r>
          </a:p>
        </p:txBody>
      </p:sp>
      <p:sp>
        <p:nvSpPr>
          <p:cNvPr id="16" name="weighted-code-surface">
            <a:extLst xmlns:a="http://schemas.openxmlformats.org/drawingml/2006/main">
              <a:ext uri="{FF2B5EF4-FFF2-40B4-BE49-F238E27FC236}">
                <a16:creationId xmlns:a16="http://schemas.microsoft.com/office/drawing/2014/main" id="{8A25EFB1-0177-444E-9DD7-FEC476A3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505325"/>
            <a:ext cx="857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7" name="weighted-code-text">
            <a:extLst xmlns:a="http://schemas.openxmlformats.org/drawingml/2006/main">
              <a:ext uri="{FF2B5EF4-FFF2-40B4-BE49-F238E27FC236}">
                <a16:creationId xmlns:a16="http://schemas.microsoft.com/office/drawing/2014/main" id="{33D2F10E-C8B9-43AD-A144-671CD13C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62475"/>
            <a:ext cx="742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2205770</a:t>
            </a:r>
          </a:p>
        </p:txBody>
      </p:sp>
      <p:sp>
        <p:nvSpPr>
          <p:cNvPr id="18" name="weighted-priority-surface">
            <a:extLst xmlns:a="http://schemas.openxmlformats.org/drawingml/2006/main">
              <a:ext uri="{FF2B5EF4-FFF2-40B4-BE49-F238E27FC236}">
                <a16:creationId xmlns:a16="http://schemas.microsoft.com/office/drawing/2014/main" id="{34F87090-785A-45C3-A88E-989B6FB1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05325"/>
            <a:ext cx="857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9" name="weighted-priority-text">
            <a:extLst xmlns:a="http://schemas.openxmlformats.org/drawingml/2006/main">
              <a:ext uri="{FF2B5EF4-FFF2-40B4-BE49-F238E27FC236}">
                <a16:creationId xmlns:a16="http://schemas.microsoft.com/office/drawing/2014/main" id="{98BE49BB-342A-47A9-A340-43F6C431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562475"/>
            <a:ext cx="742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</a:t>
            </a:r>
          </a:p>
        </p:txBody>
      </p:sp>
      <p:sp>
        <p:nvSpPr>
          <p:cNvPr id="20" name="weighted-spec-surface">
            <a:extLst xmlns:a="http://schemas.openxmlformats.org/drawingml/2006/main">
              <a:ext uri="{FF2B5EF4-FFF2-40B4-BE49-F238E27FC236}">
                <a16:creationId xmlns:a16="http://schemas.microsoft.com/office/drawing/2014/main" id="{008CD264-311D-4AF7-9C11-8D30046D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505325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1" name="weighted-spec-text">
            <a:extLst xmlns:a="http://schemas.openxmlformats.org/drawingml/2006/main">
              <a:ext uri="{FF2B5EF4-FFF2-40B4-BE49-F238E27FC236}">
                <a16:creationId xmlns:a16="http://schemas.microsoft.com/office/drawing/2014/main" id="{44F324B4-4C1F-4064-8EF8-7DBAB53E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56247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3克/丸</a:t>
            </a:r>
          </a:p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（双天然）</a:t>
            </a:r>
          </a:p>
        </p:txBody>
      </p:sp>
      <p:sp>
        <p:nvSpPr>
          <p:cNvPr id="22" name="weighted-price-surface">
            <a:extLst xmlns:a="http://schemas.openxmlformats.org/drawingml/2006/main">
              <a:ext uri="{FF2B5EF4-FFF2-40B4-BE49-F238E27FC236}">
                <a16:creationId xmlns:a16="http://schemas.microsoft.com/office/drawing/2014/main" id="{FF691AFD-B078-43B5-AA90-F72B4F1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05325"/>
            <a:ext cx="1190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3" name="weighted-price-text">
            <a:extLst xmlns:a="http://schemas.openxmlformats.org/drawingml/2006/main">
              <a:ext uri="{FF2B5EF4-FFF2-40B4-BE49-F238E27FC236}">
                <a16:creationId xmlns:a16="http://schemas.microsoft.com/office/drawing/2014/main" id="{D77AF8D6-2786-4AA5-9DC2-EE1CB630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62475"/>
            <a:ext cx="10763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880</a:t>
            </a:r>
          </a:p>
        </p:txBody>
      </p:sp>
      <p:sp>
        <p:nvSpPr>
          <p:cNvPr id="24" name="weighted-slogan">
            <a:extLst xmlns:a="http://schemas.openxmlformats.org/drawingml/2006/main">
              <a:ext uri="{FF2B5EF4-FFF2-40B4-BE49-F238E27FC236}">
                <a16:creationId xmlns:a16="http://schemas.microsoft.com/office/drawing/2014/main" id="{B8BB0BA1-2FE9-4108-A6C3-81065852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286375"/>
            <a:ext cx="44291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60012"/>
                </a:solidFill>
              </a:defRPr>
            </a:pPr>
            <a:r>
              <a:rPr sz="1275" b="1">
                <a:solidFill>
                  <a:srgbClr val="E60012"/>
                </a:solidFill>
              </a:rPr>
              <a:t>一句话卖点（员工宣传语）：</a:t>
            </a:r>
          </a:p>
          <a:p xmlns:a="http://schemas.openxmlformats.org/drawingml/2006/main">
            <a:pPr algn="l">
              <a:defRPr sz="1275" b="1">
                <a:solidFill>
                  <a:srgbClr val="E60012"/>
                </a:solidFill>
              </a:defRPr>
            </a:pPr>
            <a:r>
              <a:rPr sz="1275" b="1">
                <a:solidFill>
                  <a:srgbClr val="E60012"/>
                </a:solidFill>
              </a:rPr>
              <a:t>安宫鼻祖，胆红素含量高于同品</a:t>
            </a:r>
          </a:p>
        </p:txBody>
      </p:sp>
      <p:sp>
        <p:nvSpPr>
          <p:cNvPr id="25" name="weighted-selling-points-surface">
            <a:extLst xmlns:a="http://schemas.openxmlformats.org/drawingml/2006/main">
              <a:ext uri="{FF2B5EF4-FFF2-40B4-BE49-F238E27FC236}">
                <a16:creationId xmlns:a16="http://schemas.microsoft.com/office/drawing/2014/main" id="{3F2B6E35-8D74-460C-9476-43F85867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952500"/>
            <a:ext cx="6286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E0CF"/>
            </a:solidFill>
            <a:prstDash val="solid"/>
          </a:ln>
        </p:spPr>
      </p:sp>
      <p:sp>
        <p:nvSpPr>
          <p:cNvPr id="26" name="weighted-selling-points-accent">
            <a:extLst xmlns:a="http://schemas.openxmlformats.org/drawingml/2006/main">
              <a:ext uri="{FF2B5EF4-FFF2-40B4-BE49-F238E27FC236}">
                <a16:creationId xmlns:a16="http://schemas.microsoft.com/office/drawing/2014/main" id="{0EE69228-D574-438C-8038-8E53472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952500"/>
            <a:ext cx="5715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weighted-selling-points-title">
            <a:extLst xmlns:a="http://schemas.openxmlformats.org/drawingml/2006/main">
              <a:ext uri="{FF2B5EF4-FFF2-40B4-BE49-F238E27FC236}">
                <a16:creationId xmlns:a16="http://schemas.microsoft.com/office/drawing/2014/main" id="{6503BE2A-AB54-4EB0-98CD-B4049680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85850"/>
            <a:ext cx="598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60012"/>
                </a:solidFill>
              </a:defRPr>
            </a:pPr>
            <a:r>
              <a:rPr sz="1875" b="1">
                <a:solidFill>
                  <a:srgbClr val="E60012"/>
                </a:solidFill>
              </a:rPr>
              <a:t>一、核心卖点</a:t>
            </a:r>
          </a:p>
        </p:txBody>
      </p:sp>
      <p:sp>
        <p:nvSpPr>
          <p:cNvPr id="28" name="weighted-selling-points-divider">
            <a:extLst xmlns:a="http://schemas.openxmlformats.org/drawingml/2006/main">
              <a:ext uri="{FF2B5EF4-FFF2-40B4-BE49-F238E27FC236}">
                <a16:creationId xmlns:a16="http://schemas.microsoft.com/office/drawing/2014/main" id="{C5A1AA2F-254B-4137-BB6B-DE17B1E0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504950"/>
            <a:ext cx="5943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9DE"/>
          </a:solidFill>
          <a:ln xmlns:a="http://schemas.openxmlformats.org/drawingml/2006/main" w="0">
            <a:solidFill>
              <a:srgbClr val="CDE9DE"/>
            </a:solidFill>
            <a:prstDash val="solid"/>
          </a:ln>
        </p:spPr>
      </p:sp>
      <p:sp>
        <p:nvSpPr>
          <p:cNvPr id="29" name="weighted-selling-points-body">
            <a:extLst xmlns:a="http://schemas.openxmlformats.org/drawingml/2006/main">
              <a:ext uri="{FF2B5EF4-FFF2-40B4-BE49-F238E27FC236}">
                <a16:creationId xmlns:a16="http://schemas.microsoft.com/office/drawing/2014/main" id="{44683D72-32C8-47AD-B929-21F99EED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59436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广誉远安宫被誉为安宫鼻祖。广誉远是较早规模化炮制安宫牛黄丸的厂家，早在光绪11年（1885年）开始规模化炮制；2014年获得“国家级非物质文化遗产”荣誉。</a:t>
            </a:r>
          </a:p>
        </p:txBody>
      </p:sp>
      <p:sp>
        <p:nvSpPr>
          <p:cNvPr id="30" name="bilirubin-h1-surface">
            <a:extLst xmlns:a="http://schemas.openxmlformats.org/drawingml/2006/main">
              <a:ext uri="{FF2B5EF4-FFF2-40B4-BE49-F238E27FC236}">
                <a16:creationId xmlns:a16="http://schemas.microsoft.com/office/drawing/2014/main" id="{C036CE72-934F-4049-ACD9-869A26B0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09875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A81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1" name="bilirubin-h1-text">
            <a:extLst xmlns:a="http://schemas.openxmlformats.org/drawingml/2006/main">
              <a:ext uri="{FF2B5EF4-FFF2-40B4-BE49-F238E27FC236}">
                <a16:creationId xmlns:a16="http://schemas.microsoft.com/office/drawing/2014/main" id="{026D5E86-0641-43BE-93F6-FB37AE8C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86702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品种</a:t>
            </a:r>
          </a:p>
        </p:txBody>
      </p:sp>
      <p:sp>
        <p:nvSpPr>
          <p:cNvPr id="32" name="bilirubin-h2-surface">
            <a:extLst xmlns:a="http://schemas.openxmlformats.org/drawingml/2006/main">
              <a:ext uri="{FF2B5EF4-FFF2-40B4-BE49-F238E27FC236}">
                <a16:creationId xmlns:a16="http://schemas.microsoft.com/office/drawing/2014/main" id="{F42CB6D4-E732-4CED-8096-813A8DE2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09875"/>
            <a:ext cx="114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A81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3" name="bilirubin-h2-text">
            <a:extLst xmlns:a="http://schemas.openxmlformats.org/drawingml/2006/main">
              <a:ext uri="{FF2B5EF4-FFF2-40B4-BE49-F238E27FC236}">
                <a16:creationId xmlns:a16="http://schemas.microsoft.com/office/drawing/2014/main" id="{536762A9-E6BA-4BF3-BF12-65629B95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867025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牛黄</a:t>
            </a:r>
          </a:p>
        </p:txBody>
      </p:sp>
      <p:sp>
        <p:nvSpPr>
          <p:cNvPr id="34" name="bilirubin-h3-surface">
            <a:extLst xmlns:a="http://schemas.openxmlformats.org/drawingml/2006/main">
              <a:ext uri="{FF2B5EF4-FFF2-40B4-BE49-F238E27FC236}">
                <a16:creationId xmlns:a16="http://schemas.microsoft.com/office/drawing/2014/main" id="{73526816-B486-4C31-9CDF-C374EB05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09875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A81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5" name="bilirubin-h3-text">
            <a:extLst xmlns:a="http://schemas.openxmlformats.org/drawingml/2006/main">
              <a:ext uri="{FF2B5EF4-FFF2-40B4-BE49-F238E27FC236}">
                <a16:creationId xmlns:a16="http://schemas.microsoft.com/office/drawing/2014/main" id="{70432A26-BC2D-4910-851D-8467A147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867025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胆红素含量</a:t>
            </a:r>
          </a:p>
        </p:txBody>
      </p:sp>
      <p:sp>
        <p:nvSpPr>
          <p:cNvPr id="36" name="bilirubin-1-1-surface">
            <a:extLst xmlns:a="http://schemas.openxmlformats.org/drawingml/2006/main">
              <a:ext uri="{FF2B5EF4-FFF2-40B4-BE49-F238E27FC236}">
                <a16:creationId xmlns:a16="http://schemas.microsoft.com/office/drawing/2014/main" id="{7B2122D1-99EA-4B62-9D4A-587D8EC4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28975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7" name="bilirubin-1-1-text">
            <a:extLst xmlns:a="http://schemas.openxmlformats.org/drawingml/2006/main">
              <a:ext uri="{FF2B5EF4-FFF2-40B4-BE49-F238E27FC236}">
                <a16:creationId xmlns:a16="http://schemas.microsoft.com/office/drawing/2014/main" id="{E97C955A-1142-4571-97B4-57144B5A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286125"/>
            <a:ext cx="2362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60012"/>
                </a:solidFill>
              </a:defRPr>
            </a:pPr>
            <a:r>
              <a:rPr sz="1200" b="1">
                <a:solidFill>
                  <a:srgbClr val="E60012"/>
                </a:solidFill>
              </a:rPr>
              <a:t>安宫牛黄丸（广誉远）</a:t>
            </a:r>
          </a:p>
        </p:txBody>
      </p:sp>
      <p:sp>
        <p:nvSpPr>
          <p:cNvPr id="38" name="bilirubin-1-2-surface">
            <a:extLst xmlns:a="http://schemas.openxmlformats.org/drawingml/2006/main">
              <a:ext uri="{FF2B5EF4-FFF2-40B4-BE49-F238E27FC236}">
                <a16:creationId xmlns:a16="http://schemas.microsoft.com/office/drawing/2014/main" id="{4F7A72D3-C27B-4AB4-A814-ECFBAE9E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28975"/>
            <a:ext cx="114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9" name="bilirubin-1-2-text">
            <a:extLst xmlns:a="http://schemas.openxmlformats.org/drawingml/2006/main">
              <a:ext uri="{FF2B5EF4-FFF2-40B4-BE49-F238E27FC236}">
                <a16:creationId xmlns:a16="http://schemas.microsoft.com/office/drawing/2014/main" id="{AEE05250-3D08-4313-AFC8-90C05EC6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2861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60012"/>
                </a:solidFill>
              </a:defRPr>
            </a:pPr>
            <a:r>
              <a:rPr sz="1200" b="1">
                <a:solidFill>
                  <a:srgbClr val="E60012"/>
                </a:solidFill>
              </a:rPr>
              <a:t>天然</a:t>
            </a:r>
          </a:p>
        </p:txBody>
      </p:sp>
      <p:sp>
        <p:nvSpPr>
          <p:cNvPr id="40" name="bilirubin-1-3-surface">
            <a:extLst xmlns:a="http://schemas.openxmlformats.org/drawingml/2006/main">
              <a:ext uri="{FF2B5EF4-FFF2-40B4-BE49-F238E27FC236}">
                <a16:creationId xmlns:a16="http://schemas.microsoft.com/office/drawing/2014/main" id="{01DB6C93-7242-4E29-8A9E-73FC30C7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28975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41" name="bilirubin-1-3-text">
            <a:extLst xmlns:a="http://schemas.openxmlformats.org/drawingml/2006/main">
              <a:ext uri="{FF2B5EF4-FFF2-40B4-BE49-F238E27FC236}">
                <a16:creationId xmlns:a16="http://schemas.microsoft.com/office/drawing/2014/main" id="{E7BE8984-0B00-4FE4-8B7B-AD694870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28612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60012"/>
                </a:solidFill>
              </a:defRPr>
            </a:pPr>
            <a:r>
              <a:rPr sz="1200" b="1">
                <a:solidFill>
                  <a:srgbClr val="E60012"/>
                </a:solidFill>
              </a:rPr>
              <a:t>46.6mg/丸</a:t>
            </a:r>
          </a:p>
        </p:txBody>
      </p:sp>
      <p:sp>
        <p:nvSpPr>
          <p:cNvPr id="42" name="bilirubin-2-1-surface">
            <a:extLst xmlns:a="http://schemas.openxmlformats.org/drawingml/2006/main">
              <a:ext uri="{FF2B5EF4-FFF2-40B4-BE49-F238E27FC236}">
                <a16:creationId xmlns:a16="http://schemas.microsoft.com/office/drawing/2014/main" id="{81B3D706-9568-454C-AF83-F5E79495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590925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43" name="bilirubin-2-1-text">
            <a:extLst xmlns:a="http://schemas.openxmlformats.org/drawingml/2006/main">
              <a:ext uri="{FF2B5EF4-FFF2-40B4-BE49-F238E27FC236}">
                <a16:creationId xmlns:a16="http://schemas.microsoft.com/office/drawing/2014/main" id="{2BF2061A-D35B-407D-BFCD-0DBBF20D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3648075"/>
            <a:ext cx="2362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北京同仁堂安宫</a:t>
            </a:r>
          </a:p>
        </p:txBody>
      </p:sp>
      <p:sp>
        <p:nvSpPr>
          <p:cNvPr id="44" name="bilirubin-2-2-surface">
            <a:extLst xmlns:a="http://schemas.openxmlformats.org/drawingml/2006/main">
              <a:ext uri="{FF2B5EF4-FFF2-40B4-BE49-F238E27FC236}">
                <a16:creationId xmlns:a16="http://schemas.microsoft.com/office/drawing/2014/main" id="{4B0143B1-765B-499B-9DE5-2990DD1BF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90925"/>
            <a:ext cx="114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45" name="bilirubin-2-2-text">
            <a:extLst xmlns:a="http://schemas.openxmlformats.org/drawingml/2006/main">
              <a:ext uri="{FF2B5EF4-FFF2-40B4-BE49-F238E27FC236}">
                <a16:creationId xmlns:a16="http://schemas.microsoft.com/office/drawing/2014/main" id="{2EA0CC66-6A22-4527-B26D-3765B8A8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64807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天然</a:t>
            </a:r>
          </a:p>
        </p:txBody>
      </p:sp>
      <p:sp>
        <p:nvSpPr>
          <p:cNvPr id="46" name="bilirubin-2-3-surface">
            <a:extLst xmlns:a="http://schemas.openxmlformats.org/drawingml/2006/main">
              <a:ext uri="{FF2B5EF4-FFF2-40B4-BE49-F238E27FC236}">
                <a16:creationId xmlns:a16="http://schemas.microsoft.com/office/drawing/2014/main" id="{9EC37ED0-4A1F-4D16-9F3C-9A5E0DD1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590925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47" name="bilirubin-2-3-text">
            <a:extLst xmlns:a="http://schemas.openxmlformats.org/drawingml/2006/main">
              <a:ext uri="{FF2B5EF4-FFF2-40B4-BE49-F238E27FC236}">
                <a16:creationId xmlns:a16="http://schemas.microsoft.com/office/drawing/2014/main" id="{45CBC8D9-22B1-481B-9F75-730D69F5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6480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40.1mg/丸</a:t>
            </a:r>
          </a:p>
        </p:txBody>
      </p:sp>
      <p:sp>
        <p:nvSpPr>
          <p:cNvPr id="48" name="bilirubin-3-1-surface">
            <a:extLst xmlns:a="http://schemas.openxmlformats.org/drawingml/2006/main">
              <a:ext uri="{FF2B5EF4-FFF2-40B4-BE49-F238E27FC236}">
                <a16:creationId xmlns:a16="http://schemas.microsoft.com/office/drawing/2014/main" id="{64DA3463-5CD0-4CB9-BDD1-D60CEB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952875"/>
            <a:ext cx="2476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49" name="bilirubin-3-1-text">
            <a:extLst xmlns:a="http://schemas.openxmlformats.org/drawingml/2006/main">
              <a:ext uri="{FF2B5EF4-FFF2-40B4-BE49-F238E27FC236}">
                <a16:creationId xmlns:a16="http://schemas.microsoft.com/office/drawing/2014/main" id="{A3858228-FD91-4DA9-806F-D399ACFD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010025"/>
            <a:ext cx="2362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安宫国家标准</a:t>
            </a:r>
          </a:p>
        </p:txBody>
      </p:sp>
      <p:sp>
        <p:nvSpPr>
          <p:cNvPr id="50" name="bilirubin-3-2-surface">
            <a:extLst xmlns:a="http://schemas.openxmlformats.org/drawingml/2006/main">
              <a:ext uri="{FF2B5EF4-FFF2-40B4-BE49-F238E27FC236}">
                <a16:creationId xmlns:a16="http://schemas.microsoft.com/office/drawing/2014/main" id="{3165FFD0-6AB9-40EC-8DD1-31F22EC8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952875"/>
            <a:ext cx="114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51" name="bilirubin-3-2-text">
            <a:extLst xmlns:a="http://schemas.openxmlformats.org/drawingml/2006/main">
              <a:ext uri="{FF2B5EF4-FFF2-40B4-BE49-F238E27FC236}">
                <a16:creationId xmlns:a16="http://schemas.microsoft.com/office/drawing/2014/main" id="{FF71E840-8DBE-42DF-8A7A-544480A6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0025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天然</a:t>
            </a:r>
          </a:p>
        </p:txBody>
      </p:sp>
      <p:sp>
        <p:nvSpPr>
          <p:cNvPr id="52" name="bilirubin-3-3-surface">
            <a:extLst xmlns:a="http://schemas.openxmlformats.org/drawingml/2006/main">
              <a:ext uri="{FF2B5EF4-FFF2-40B4-BE49-F238E27FC236}">
                <a16:creationId xmlns:a16="http://schemas.microsoft.com/office/drawing/2014/main" id="{2141C134-0F60-4D8B-B18C-330D0EA8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952875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53" name="bilirubin-3-3-text">
            <a:extLst xmlns:a="http://schemas.openxmlformats.org/drawingml/2006/main">
              <a:ext uri="{FF2B5EF4-FFF2-40B4-BE49-F238E27FC236}">
                <a16:creationId xmlns:a16="http://schemas.microsoft.com/office/drawing/2014/main" id="{2808FB12-9AFE-4A47-A073-23D5216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01002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≥18.5mg/丸</a:t>
            </a:r>
          </a:p>
        </p:txBody>
      </p:sp>
      <p:sp>
        <p:nvSpPr>
          <p:cNvPr id="54" name="weighted-indications">
            <a:extLst xmlns:a="http://schemas.openxmlformats.org/drawingml/2006/main">
              <a:ext uri="{FF2B5EF4-FFF2-40B4-BE49-F238E27FC236}">
                <a16:creationId xmlns:a16="http://schemas.microsoft.com/office/drawing/2014/main" id="{76E22A39-62AA-4A21-9859-B3D684F2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476750"/>
            <a:ext cx="628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1">
                <a:solidFill>
                  <a:srgbClr val="E60012"/>
                </a:solidFill>
              </a:rPr>
              <a:t>二、适应症：</a:t>
            </a:r>
          </a:p>
          <a:p xmlns:a="http://schemas.openxmlformats.org/drawingml/2006/main">
            <a:pPr algn="l">
              <a:defRPr sz="1350" b="0">
                <a:solidFill>
                  <a:srgbClr val="303741"/>
                </a:solidFill>
              </a:defRPr>
            </a:pPr>
            <a:r>
              <a:rPr sz="1350" b="0">
                <a:solidFill>
                  <a:srgbClr val="303741"/>
                </a:solidFill>
              </a:rPr>
              <a:t>1. 中风或脑梗塞后遗症患者；2. 癫痫、惊厥、昏迷患者；3. 心血管疾病患者；4. 神经衰弱或失眠患者；5. 儿童高热惊厥；6. 严重感染性疾病伴高热神昏者。</a:t>
            </a:r>
          </a:p>
        </p:txBody>
      </p:sp>
    </p:spTree>
    <p:extLst>
      <p:ext uri="{BB962C8B-B14F-4D97-AF65-F5344CB8AC3E}">
        <p14:creationId xmlns:p14="http://schemas.microsoft.com/office/powerpoint/2010/main" val="7739624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chrome-left-number">
            <a:extLst xmlns:a="http://schemas.openxmlformats.org/drawingml/2006/main">
              <a:ext uri="{FF2B5EF4-FFF2-40B4-BE49-F238E27FC236}">
                <a16:creationId xmlns:a16="http://schemas.microsoft.com/office/drawing/2014/main" id="{202DECB9-B114-4C32-A706-83160878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0"/>
            <a:ext cx="723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hrome-page-number">
            <a:extLst xmlns:a="http://schemas.openxmlformats.org/drawingml/2006/main">
              <a:ext uri="{FF2B5EF4-FFF2-40B4-BE49-F238E27FC236}">
                <a16:creationId xmlns:a16="http://schemas.microsoft.com/office/drawing/2014/main" id="{DFF0D9DB-1F78-4118-84B6-0D020477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61925"/>
            <a:ext cx="7810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5.2</a:t>
            </a:r>
          </a:p>
        </p:txBody>
      </p:sp>
      <p:sp>
        <p:nvSpPr>
          <p:cNvPr id="3" name="chrome-title">
            <a:extLst xmlns:a="http://schemas.openxmlformats.org/drawingml/2006/main">
              <a:ext uri="{FF2B5EF4-FFF2-40B4-BE49-F238E27FC236}">
                <a16:creationId xmlns:a16="http://schemas.microsoft.com/office/drawing/2014/main" id="{A4D61986-0E7A-4736-909C-56B18874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3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权重篇——白云山安宫＋宏济堂安宫</a:t>
            </a:r>
          </a:p>
        </p:txBody>
      </p:sp>
      <p:sp>
        <p:nvSpPr>
          <p:cNvPr id="4" name="chrome-green-rule">
            <a:extLst xmlns:a="http://schemas.openxmlformats.org/drawingml/2006/main">
              <a:ext uri="{FF2B5EF4-FFF2-40B4-BE49-F238E27FC236}">
                <a16:creationId xmlns:a16="http://schemas.microsoft.com/office/drawing/2014/main" id="{0A1F2C4F-F097-4BFE-832B-50C9C2BA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667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9900"/>
          </a:solidFill>
          <a:ln xmlns:a="http://schemas.openxmlformats.org/drawingml/2006/main" w="0">
            <a:solidFill>
              <a:srgbClr val="009900"/>
            </a:solidFill>
            <a:prstDash val="solid"/>
          </a:ln>
        </p:spPr>
      </p:sp>
      <p:sp>
        <p:nvSpPr>
          <p:cNvPr id="5" name="chrome-brand">
            <a:extLst xmlns:a="http://schemas.openxmlformats.org/drawingml/2006/main">
              <a:ext uri="{FF2B5EF4-FFF2-40B4-BE49-F238E27FC236}">
                <a16:creationId xmlns:a16="http://schemas.microsoft.com/office/drawing/2014/main" id="{0D09FC52-B4FD-4C6F-BACE-D76C48A80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3A817"/>
                </a:solidFill>
              </a:defRPr>
            </a:pPr>
            <a:r>
              <a:rPr sz="1125" b="1">
                <a:solidFill>
                  <a:srgbClr val="43A817"/>
                </a:solidFill>
              </a:rPr>
              <a:t>大参林 dashenlin</a:t>
            </a:r>
          </a:p>
        </p:txBody>
      </p:sp>
      <p:sp>
        <p:nvSpPr>
          <p:cNvPr id="6" name="chrome-internal-notice">
            <a:extLst xmlns:a="http://schemas.openxmlformats.org/drawingml/2006/main">
              <a:ext uri="{FF2B5EF4-FFF2-40B4-BE49-F238E27FC236}">
                <a16:creationId xmlns:a16="http://schemas.microsoft.com/office/drawing/2014/main" id="{5C41C42F-3CFF-4B51-A5B6-BF4937B3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6524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</a:defRPr>
            </a:pPr>
            <a:r>
              <a:rPr sz="1050" b="0">
                <a:solidFill>
                  <a:srgbClr val="111111"/>
                </a:solidFill>
              </a:rPr>
              <a:t>仅限于内部学习</a:t>
            </a:r>
          </a:p>
        </p:txBody>
      </p:sp>
      <p:sp>
        <p:nvSpPr>
          <p:cNvPr id="7" name="compare-dim-surface">
            <a:extLst xmlns:a="http://schemas.openxmlformats.org/drawingml/2006/main">
              <a:ext uri="{FF2B5EF4-FFF2-40B4-BE49-F238E27FC236}">
                <a16:creationId xmlns:a16="http://schemas.microsoft.com/office/drawing/2014/main" id="{E9033FE1-176F-4CA4-81E6-5EA3E345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52500"/>
            <a:ext cx="1428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E25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8" name="compare-dim-text">
            <a:extLst xmlns:a="http://schemas.openxmlformats.org/drawingml/2006/main">
              <a:ext uri="{FF2B5EF4-FFF2-40B4-BE49-F238E27FC236}">
                <a16:creationId xmlns:a16="http://schemas.microsoft.com/office/drawing/2014/main" id="{BA3A73E1-E93F-427A-AC05-C101C458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009650"/>
            <a:ext cx="1314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对比维度</a:t>
            </a:r>
          </a:p>
        </p:txBody>
      </p:sp>
      <p:sp>
        <p:nvSpPr>
          <p:cNvPr id="9" name="compare-product-a-surface">
            <a:extLst xmlns:a="http://schemas.openxmlformats.org/drawingml/2006/main">
              <a:ext uri="{FF2B5EF4-FFF2-40B4-BE49-F238E27FC236}">
                <a16:creationId xmlns:a16="http://schemas.microsoft.com/office/drawing/2014/main" id="{CBFD1D03-807F-4F15-95F9-60929C24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952500"/>
            <a:ext cx="4333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E25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0" name="compare-product-a-text">
            <a:extLst xmlns:a="http://schemas.openxmlformats.org/drawingml/2006/main">
              <a:ext uri="{FF2B5EF4-FFF2-40B4-BE49-F238E27FC236}">
                <a16:creationId xmlns:a16="http://schemas.microsoft.com/office/drawing/2014/main" id="{EDFE88B4-D84B-4863-8FA9-35FA8B46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009650"/>
            <a:ext cx="4219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安宫牛黄丸（白云山中一）</a:t>
            </a:r>
          </a:p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8202533（人工体培）</a:t>
            </a:r>
          </a:p>
        </p:txBody>
      </p:sp>
      <p:sp>
        <p:nvSpPr>
          <p:cNvPr id="11" name="compare-product-b-surface">
            <a:extLst xmlns:a="http://schemas.openxmlformats.org/drawingml/2006/main">
              <a:ext uri="{FF2B5EF4-FFF2-40B4-BE49-F238E27FC236}">
                <a16:creationId xmlns:a16="http://schemas.microsoft.com/office/drawing/2014/main" id="{CD2BFE24-67F7-4B2B-A93B-C8D938B6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952500"/>
            <a:ext cx="55721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E25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2" name="compare-product-b-text">
            <a:extLst xmlns:a="http://schemas.openxmlformats.org/drawingml/2006/main">
              <a:ext uri="{FF2B5EF4-FFF2-40B4-BE49-F238E27FC236}">
                <a16:creationId xmlns:a16="http://schemas.microsoft.com/office/drawing/2014/main" id="{DA321AD2-AE77-4D1E-8149-4784113A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009650"/>
            <a:ext cx="54578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安宫牛黄丸（宏济堂）1185781（单天然）、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1185783（人工体培）2373089（单天然包金衣）</a:t>
            </a:r>
          </a:p>
        </p:txBody>
      </p:sp>
      <p:sp>
        <p:nvSpPr>
          <p:cNvPr id="13" name="compare-image-label-surface">
            <a:extLst xmlns:a="http://schemas.openxmlformats.org/drawingml/2006/main">
              <a:ext uri="{FF2B5EF4-FFF2-40B4-BE49-F238E27FC236}">
                <a16:creationId xmlns:a16="http://schemas.microsoft.com/office/drawing/2014/main" id="{F3A448AF-9BD1-4AFE-AB71-A4C68C86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581150"/>
            <a:ext cx="1428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4" name="compare-image-label-text">
            <a:extLst xmlns:a="http://schemas.openxmlformats.org/drawingml/2006/main">
              <a:ext uri="{FF2B5EF4-FFF2-40B4-BE49-F238E27FC236}">
                <a16:creationId xmlns:a16="http://schemas.microsoft.com/office/drawing/2014/main" id="{D2753A77-9D0B-4E0E-9499-1892165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38300"/>
            <a:ext cx="13144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产品图片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5db9206c3412e"/>
          <a:stretch xmlns:a="http://schemas.openxmlformats.org/drawingml/2006/main"/>
        </p:blipFill>
        <p:spPr>
          <a:xfrm xmlns:a="http://schemas.openxmlformats.org/drawingml/2006/main">
            <a:off x="2619375" y="1778919"/>
            <a:ext cx="2476500" cy="547437"/>
          </a:xfrm>
          <a:prstGeom xmlns:a="http://schemas.openxmlformats.org/drawingml/2006/main" prst="rect">
            <a:avLst/>
          </a:prstGeom>
        </p:spPr>
      </p:pic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ce131bc7924d5e"/>
          <a:stretch xmlns:a="http://schemas.openxmlformats.org/drawingml/2006/main"/>
        </p:blipFill>
        <p:spPr>
          <a:xfrm xmlns:a="http://schemas.openxmlformats.org/drawingml/2006/main">
            <a:off x="6806973" y="1695450"/>
            <a:ext cx="4150179" cy="714375"/>
          </a:xfrm>
          <a:prstGeom xmlns:a="http://schemas.openxmlformats.org/drawingml/2006/main" prst="rect">
            <a:avLst/>
          </a:prstGeom>
        </p:spPr>
      </p:pic>
      <p:sp>
        <p:nvSpPr>
          <p:cNvPr id="17" name="compare-selling-label-surface">
            <a:extLst xmlns:a="http://schemas.openxmlformats.org/drawingml/2006/main">
              <a:ext uri="{FF2B5EF4-FFF2-40B4-BE49-F238E27FC236}">
                <a16:creationId xmlns:a16="http://schemas.microsoft.com/office/drawing/2014/main" id="{E4183894-A14E-4879-AB9E-3EB29274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33650"/>
            <a:ext cx="1428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7B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18" name="compare-selling-label-text">
            <a:extLst xmlns:a="http://schemas.openxmlformats.org/drawingml/2006/main">
              <a:ext uri="{FF2B5EF4-FFF2-40B4-BE49-F238E27FC236}">
                <a16:creationId xmlns:a16="http://schemas.microsoft.com/office/drawing/2014/main" id="{7ED145E2-1B17-46B5-BBB1-46B2C83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590800"/>
            <a:ext cx="13144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核心卖点</a:t>
            </a:r>
          </a:p>
        </p:txBody>
      </p:sp>
      <p:sp>
        <p:nvSpPr>
          <p:cNvPr id="19" name="compare-selling-a-surface">
            <a:extLst xmlns:a="http://schemas.openxmlformats.org/drawingml/2006/main">
              <a:ext uri="{FF2B5EF4-FFF2-40B4-BE49-F238E27FC236}">
                <a16:creationId xmlns:a16="http://schemas.microsoft.com/office/drawing/2014/main" id="{A8895760-F477-40F9-A1DC-61C91C45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33650"/>
            <a:ext cx="43338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7B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0" name="compare-selling-a-text">
            <a:extLst xmlns:a="http://schemas.openxmlformats.org/drawingml/2006/main">
              <a:ext uri="{FF2B5EF4-FFF2-40B4-BE49-F238E27FC236}">
                <a16:creationId xmlns:a16="http://schemas.microsoft.com/office/drawing/2014/main" id="{D827330A-FBE7-4484-AF0E-6C0C4F3B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590800"/>
            <a:ext cx="42195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1. </a:t>
            </a:r>
            <a:r>
              <a:rPr sz="1575" b="1">
                <a:solidFill>
                  <a:srgbClr val="111111"/>
                </a:solidFill>
              </a:rPr>
              <a:t>药材道地：</a:t>
            </a:r>
            <a:r>
              <a:rPr sz="1575" b="0">
                <a:solidFill>
                  <a:srgbClr val="111111"/>
                </a:solidFill>
              </a:rPr>
              <a:t>胆红素含量是国家标准2倍；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2. </a:t>
            </a:r>
            <a:r>
              <a:rPr sz="1575" b="1">
                <a:solidFill>
                  <a:srgbClr val="111111"/>
                </a:solidFill>
              </a:rPr>
              <a:t>古法手工：</a:t>
            </a:r>
            <a:r>
              <a:rPr sz="1575" b="0">
                <a:solidFill>
                  <a:srgbClr val="111111"/>
                </a:solidFill>
              </a:rPr>
              <a:t>166年老手艺纯手工制丸；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3. </a:t>
            </a:r>
            <a:r>
              <a:rPr sz="1575" b="1">
                <a:solidFill>
                  <a:srgbClr val="111111"/>
                </a:solidFill>
              </a:rPr>
              <a:t>广药白云山品牌</a:t>
            </a:r>
            <a:r>
              <a:rPr sz="1575" b="0">
                <a:solidFill>
                  <a:srgbClr val="111111"/>
                </a:solidFill>
              </a:rPr>
              <a:t>，质量保证。</a:t>
            </a:r>
          </a:p>
        </p:txBody>
      </p:sp>
      <p:sp>
        <p:nvSpPr>
          <p:cNvPr id="21" name="compare-selling-b-surface">
            <a:extLst xmlns:a="http://schemas.openxmlformats.org/drawingml/2006/main">
              <a:ext uri="{FF2B5EF4-FFF2-40B4-BE49-F238E27FC236}">
                <a16:creationId xmlns:a16="http://schemas.microsoft.com/office/drawing/2014/main" id="{129B4231-9867-4B88-AC56-62E6299D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533650"/>
            <a:ext cx="55721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7B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2" name="compare-selling-b-text">
            <a:extLst xmlns:a="http://schemas.openxmlformats.org/drawingml/2006/main">
              <a:ext uri="{FF2B5EF4-FFF2-40B4-BE49-F238E27FC236}">
                <a16:creationId xmlns:a16="http://schemas.microsoft.com/office/drawing/2014/main" id="{3BD03F6E-8107-4632-8BB3-9BF93A4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590800"/>
            <a:ext cx="545782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1. </a:t>
            </a:r>
            <a:r>
              <a:rPr sz="1575" b="1">
                <a:solidFill>
                  <a:srgbClr val="111111"/>
                </a:solidFill>
              </a:rPr>
              <a:t>系出名门</a:t>
            </a:r>
            <a:r>
              <a:rPr sz="1575" b="0">
                <a:solidFill>
                  <a:srgbClr val="111111"/>
                </a:solidFill>
              </a:rPr>
              <a:t>，与北京同仁同宗同源，百年老号；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2. </a:t>
            </a:r>
            <a:r>
              <a:rPr sz="1575" b="1">
                <a:solidFill>
                  <a:srgbClr val="111111"/>
                </a:solidFill>
              </a:rPr>
              <a:t>道地选材</a:t>
            </a:r>
            <a:r>
              <a:rPr sz="1575" b="0">
                <a:solidFill>
                  <a:srgbClr val="111111"/>
                </a:solidFill>
              </a:rPr>
              <a:t>，自研国家一类新药麝香酮，急救效果更快更安全；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3. </a:t>
            </a:r>
            <a:r>
              <a:rPr sz="1575" b="1">
                <a:solidFill>
                  <a:srgbClr val="111111"/>
                </a:solidFill>
              </a:rPr>
              <a:t>优质优价</a:t>
            </a:r>
            <a:r>
              <a:rPr sz="1575" b="0">
                <a:solidFill>
                  <a:srgbClr val="111111"/>
                </a:solidFill>
              </a:rPr>
              <a:t>，性价比高。</a:t>
            </a:r>
          </a:p>
        </p:txBody>
      </p:sp>
      <p:sp>
        <p:nvSpPr>
          <p:cNvPr id="23" name="compare-audience-label-surface">
            <a:extLst xmlns:a="http://schemas.openxmlformats.org/drawingml/2006/main">
              <a:ext uri="{FF2B5EF4-FFF2-40B4-BE49-F238E27FC236}">
                <a16:creationId xmlns:a16="http://schemas.microsoft.com/office/drawing/2014/main" id="{29468420-90BC-4C7C-AC49-8F8D11E6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52900"/>
            <a:ext cx="14287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4" name="compare-audience-label-text">
            <a:extLst xmlns:a="http://schemas.openxmlformats.org/drawingml/2006/main">
              <a:ext uri="{FF2B5EF4-FFF2-40B4-BE49-F238E27FC236}">
                <a16:creationId xmlns:a16="http://schemas.microsoft.com/office/drawing/2014/main" id="{E7040D05-1C96-4EF7-8A32-AB0598AE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210050"/>
            <a:ext cx="13144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适宜人群</a:t>
            </a:r>
          </a:p>
        </p:txBody>
      </p:sp>
      <p:sp>
        <p:nvSpPr>
          <p:cNvPr id="25" name="compare-audience-surface">
            <a:extLst xmlns:a="http://schemas.openxmlformats.org/drawingml/2006/main">
              <a:ext uri="{FF2B5EF4-FFF2-40B4-BE49-F238E27FC236}">
                <a16:creationId xmlns:a16="http://schemas.microsoft.com/office/drawing/2014/main" id="{D52D77D3-4952-4B40-B1C6-C5DF34397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52900"/>
            <a:ext cx="99060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6" name="compare-audience-text">
            <a:extLst xmlns:a="http://schemas.openxmlformats.org/drawingml/2006/main">
              <a:ext uri="{FF2B5EF4-FFF2-40B4-BE49-F238E27FC236}">
                <a16:creationId xmlns:a16="http://schemas.microsoft.com/office/drawing/2014/main" id="{ABAC4103-BED1-4705-9C45-CBEC2E61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10050"/>
            <a:ext cx="97917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1. 高血压、中风病史等心脑血管高风险人群家庭备用；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2. 用于中风（热闭证）及高热神昏的急救。</a:t>
            </a:r>
          </a:p>
        </p:txBody>
      </p:sp>
      <p:sp>
        <p:nvSpPr>
          <p:cNvPr id="27" name="compare-combo-label-surface">
            <a:extLst xmlns:a="http://schemas.openxmlformats.org/drawingml/2006/main">
              <a:ext uri="{FF2B5EF4-FFF2-40B4-BE49-F238E27FC236}">
                <a16:creationId xmlns:a16="http://schemas.microsoft.com/office/drawing/2014/main" id="{A8E7F8FB-023C-496D-AE4B-CE839E94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62525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7B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28" name="compare-combo-label-text">
            <a:extLst xmlns:a="http://schemas.openxmlformats.org/drawingml/2006/main">
              <a:ext uri="{FF2B5EF4-FFF2-40B4-BE49-F238E27FC236}">
                <a16:creationId xmlns:a16="http://schemas.microsoft.com/office/drawing/2014/main" id="{10EA306C-F7AC-4FA9-8F0F-A5BA704A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019675"/>
            <a:ext cx="13144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联合用药</a:t>
            </a:r>
          </a:p>
        </p:txBody>
      </p:sp>
      <p:sp>
        <p:nvSpPr>
          <p:cNvPr id="29" name="compare-combo-surface">
            <a:extLst xmlns:a="http://schemas.openxmlformats.org/drawingml/2006/main">
              <a:ext uri="{FF2B5EF4-FFF2-40B4-BE49-F238E27FC236}">
                <a16:creationId xmlns:a16="http://schemas.microsoft.com/office/drawing/2014/main" id="{C8090B10-B4E4-4CA7-BB41-55CB76E0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62525"/>
            <a:ext cx="9906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E7B7"/>
          </a:solidFill>
          <a:ln xmlns:a="http://schemas.openxmlformats.org/drawingml/2006/main" w="9525">
            <a:solidFill>
              <a:srgbClr val="333333"/>
            </a:solidFill>
            <a:prstDash val="solid"/>
          </a:ln>
        </p:spPr>
      </p:sp>
      <p:sp>
        <p:nvSpPr>
          <p:cNvPr id="30" name="compare-combo-text">
            <a:extLst xmlns:a="http://schemas.openxmlformats.org/drawingml/2006/main">
              <a:ext uri="{FF2B5EF4-FFF2-40B4-BE49-F238E27FC236}">
                <a16:creationId xmlns:a16="http://schemas.microsoft.com/office/drawing/2014/main" id="{78C61721-B65F-4211-8844-1F8872F2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9675"/>
            <a:ext cx="9791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0012"/>
                </a:solidFill>
              </a:defRPr>
            </a:pPr>
            <a:r>
              <a:rPr sz="1350" b="0">
                <a:solidFill>
                  <a:srgbClr val="E60012"/>
                </a:solidFill>
              </a:rPr>
              <a:t>1. 针对三高人群：按内部审核话术说明节气前备用逻辑；</a:t>
            </a:r>
          </a:p>
          <a:p xmlns:a="http://schemas.openxmlformats.org/drawingml/2006/main">
            <a:pPr algn="l">
              <a:defRPr sz="1350" b="0">
                <a:solidFill>
                  <a:srgbClr val="E60012"/>
                </a:solidFill>
              </a:defRPr>
            </a:pPr>
            <a:r>
              <a:rPr sz="1350" b="0">
                <a:solidFill>
                  <a:srgbClr val="E60012"/>
                </a:solidFill>
              </a:rPr>
              <a:t>2. 针对急救：出现疑似急症应立即呼叫急救并遵循专业人员指导；</a:t>
            </a:r>
          </a:p>
          <a:p xmlns:a="http://schemas.openxmlformats.org/drawingml/2006/main">
            <a:pPr algn="l">
              <a:defRPr sz="1350" b="0">
                <a:solidFill>
                  <a:srgbClr val="E60012"/>
                </a:solidFill>
              </a:defRPr>
            </a:pPr>
            <a:r>
              <a:rPr sz="1350" b="0">
                <a:solidFill>
                  <a:srgbClr val="E60012"/>
                </a:solidFill>
              </a:rPr>
              <a:t>3. 小儿高热：必须严格按内部审核和专业人员指导使用。</a:t>
            </a:r>
          </a:p>
          <a:p xmlns:a="http://schemas.openxmlformats.org/drawingml/2006/main">
            <a:pPr algn="l">
              <a:defRPr sz="1350" b="0">
                <a:solidFill>
                  <a:srgbClr val="E60012"/>
                </a:solidFill>
              </a:defRPr>
            </a:pPr>
            <a:r>
              <a:rPr sz="1350" b="0">
                <a:solidFill>
                  <a:srgbClr val="E60012"/>
                </a:solidFill>
              </a:rPr>
              <a:t>严格辨证：仅用于“热闭”，绝对禁用于“寒闭”和“脱证”。</a:t>
            </a:r>
          </a:p>
        </p:txBody>
      </p:sp>
    </p:spTree>
    <p:extLst>
      <p:ext uri="{BB962C8B-B14F-4D97-AF65-F5344CB8AC3E}">
        <p14:creationId xmlns:p14="http://schemas.microsoft.com/office/powerpoint/2010/main" val="968260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2026-07-30T03:50:58.0730000Z</dcterms:created>
  <dcterms:modified xsi:type="dcterms:W3CDTF">2026-07-30T03:50:58.0730000Z</dcterms:modified>
</coreProperties>
</file>