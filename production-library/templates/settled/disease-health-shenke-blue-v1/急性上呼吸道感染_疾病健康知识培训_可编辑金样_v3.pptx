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0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0"/>
            <a:ext cx="960120" cy="333756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0"/>
            <a:ext cx="960120" cy="3840480"/>
          </a:xfrm>
          <a:prstGeom prst="rect">
            <a:avLst/>
          </a:prstGeom>
          <a:solidFill>
            <a:srgbClr val="1A6BC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0"/>
            <a:ext cx="960120" cy="333756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0"/>
            <a:ext cx="960120" cy="3840480"/>
          </a:xfrm>
          <a:prstGeom prst="rect">
            <a:avLst/>
          </a:prstGeom>
          <a:solidFill>
            <a:srgbClr val="1A6BC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420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2194560" y="2999232"/>
            <a:ext cx="17282160" cy="5394960"/>
          </a:xfrm>
          <a:prstGeom prst="ellipse">
            <a:avLst/>
          </a:prstGeom>
          <a:solidFill>
            <a:srgbClr val="4A90D9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2011680" y="3310128"/>
            <a:ext cx="16916400" cy="5394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/Users/liminrong/Projects/chain-pharmacy-content-studio/production-library/validation/courseware/disease-uri-shenke-blue-v1/assets/logo-shenk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795549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0" y="5669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F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1627632"/>
            <a:ext cx="9445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C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健康知识培训课程  ·  HEALTH TRAINING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1993392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4636008" y="3200400"/>
            <a:ext cx="29260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36008" y="320040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呼吸系统系列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" y="6291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仅限于内部学习 · 用药须遵医嘱与说明书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5230368"/>
            <a:ext cx="4160520" cy="1170432"/>
          </a:xfrm>
          <a:prstGeom prst="roundRect">
            <a:avLst>
              <a:gd name="adj" fmla="val 3906"/>
            </a:avLst>
          </a:prstGeom>
          <a:solidFill>
            <a:srgbClr val="F0F6FC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5230368"/>
            <a:ext cx="128016" cy="1170432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568" y="5394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宿凌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教授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973568" y="57972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 · 教研室副主任 · 硕士生导师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minrong/Projects/chain-pharmacy-content-studio/production-library/validation/courseware/disease-uri-shenke-blue-v1/assets/agenda-buil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41148" cy="6858000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1"/>
          <p:cNvSpPr/>
          <p:nvPr/>
        </p:nvSpPr>
        <p:spPr>
          <a:xfrm>
            <a:off x="5705856" y="0"/>
            <a:ext cx="6485839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309" y="274320"/>
            <a:ext cx="1496291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360" y="8961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309360" y="1517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0" y="1938528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0" y="1938528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10" name="Shape 6"/>
          <p:cNvSpPr/>
          <p:nvPr/>
        </p:nvSpPr>
        <p:spPr>
          <a:xfrm>
            <a:off x="6757416" y="1938528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360920" y="193852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0" y="2798064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27980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15" name="Shape 11"/>
          <p:cNvSpPr/>
          <p:nvPr/>
        </p:nvSpPr>
        <p:spPr>
          <a:xfrm>
            <a:off x="6757416" y="2798064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27980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60920" y="279806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400800" y="3657600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36576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20" name="Shape 16"/>
          <p:cNvSpPr/>
          <p:nvPr/>
        </p:nvSpPr>
        <p:spPr>
          <a:xfrm>
            <a:off x="6757416" y="3657600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3657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360920" y="365760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400800" y="4517136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0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25" name="Shape 21"/>
          <p:cNvSpPr/>
          <p:nvPr/>
        </p:nvSpPr>
        <p:spPr>
          <a:xfrm>
            <a:off x="6757416" y="4517136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0" y="45171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360920" y="45171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6400800" y="5376672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0" y="537667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30" name="Shape 26"/>
          <p:cNvSpPr/>
          <p:nvPr/>
        </p:nvSpPr>
        <p:spPr>
          <a:xfrm>
            <a:off x="6757416" y="5376672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0" y="5376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7360920" y="53766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34" name="Text 30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2 / 18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3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42416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A4F8C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10424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1480" y="1737360"/>
            <a:ext cx="72237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2225">
            <a:solidFill>
              <a:srgbClr val="5B9BD5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1097280" y="1920240"/>
            <a:ext cx="6309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鼻腔、咽或喉部急性炎症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的概称，是呼吸道最常见的一种传染疾病。
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本病全年皆可发病，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冬春季节多发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，多为散发，但常在气候突变时流行。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818120" y="173736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1" descr="/Users/liminrong/Projects/chain-pharmacy-content-studio/production-library/validation/courseware/disease-uri-shenke-blue-v1/assets/overview-uri-illustr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91272" y="1810512"/>
            <a:ext cx="3785616" cy="20025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11480" y="4114800"/>
            <a:ext cx="219456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9" name="Shape 15"/>
          <p:cNvSpPr/>
          <p:nvPr/>
        </p:nvSpPr>
        <p:spPr>
          <a:xfrm>
            <a:off x="411480" y="4114800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0" name="Text 16"/>
          <p:cNvSpPr/>
          <p:nvPr/>
        </p:nvSpPr>
        <p:spPr>
          <a:xfrm>
            <a:off x="612648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11480" y="4617720"/>
            <a:ext cx="11338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40080" y="475488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大约70%是由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引起，少数由细菌所致。还因淋雨、受凉、气候改变、过度劳累等导致呼吸道防御功能下降，病原体繁殖而诱发本病。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4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042416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" y="1298448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1042416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104241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普通感冒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1499616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常见疾病起病，应注意询问有无打喷嚏、鼻塞、流水样鼻涕等鼻咽部卡他症状，有无咽痛、咽痒、声哑等。一般无明显畏寒、高热等全身症状。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365760" y="2560320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560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5760" y="2816352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2560320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2560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病毒性咽炎、喉炎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8640" y="3017520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患者有咽喉部发痒和烧灼感，注意询问有无发热，有无声音嘶哑、讲话困难、咳嗽时疼痛等。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365760" y="4078224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4078224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" y="4334256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365760" y="4078224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40782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疱疹性咽峡炎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48640" y="4535424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患者有明显的咽痛、发热。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589520" y="1042416"/>
            <a:ext cx="4160520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30" name="Image 1" descr="/Users/liminrong/Projects/chain-pharmacy-content-studio/production-library/validation/courseware/disease-uri-shenke-blue-v1/assets/clinical-throat-anatom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44384" y="1097280"/>
            <a:ext cx="4050792" cy="20482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589520" y="3310128"/>
            <a:ext cx="4160520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32" name="Image 2" descr="/Users/liminrong/Projects/chain-pharmacy-content-studio/production-library/validation/courseware/disease-uri-shenke-blue-v1/assets/clinical-or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44384" y="3364992"/>
            <a:ext cx="4050792" cy="2048256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65760" y="5614416"/>
            <a:ext cx="11430000" cy="804672"/>
          </a:xfrm>
          <a:prstGeom prst="roundRect">
            <a:avLst>
              <a:gd name="adj" fmla="val 5682"/>
            </a:avLst>
          </a:prstGeom>
          <a:solidFill>
            <a:srgbClr val="FFF8E8"/>
          </a:solidFill>
          <a:ln w="15875">
            <a:solidFill>
              <a:srgbClr val="F0D090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65760" y="5614416"/>
            <a:ext cx="109728" cy="80467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5" name="Text 30"/>
          <p:cNvSpPr/>
          <p:nvPr/>
        </p:nvSpPr>
        <p:spPr>
          <a:xfrm>
            <a:off x="640080" y="5669280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询问诱因：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有无受凉、淋雨、过度劳累等诱发因素。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5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1170432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170432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" y="1170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体格 / 实验室检查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9436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鼻腔粘膜及咽部充血；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可有扁桃体肿大、充血，甚至化脓；有时咽部、扁桃体表面可有灰白色疱疹及浅表溃疡；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病毒感染，实验室检查白细胞正常或偏低；细菌感染，则白细胞升高。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65760" y="4114800"/>
            <a:ext cx="56692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1" descr="/Users/liminrong/Projects/chain-pharmacy-content-studio/production-library/validation/courseware/disease-uri-shenke-blue-v1/assets/exam-tonsi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" y="4169664"/>
            <a:ext cx="5559552" cy="21762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63640" y="1042416"/>
            <a:ext cx="5532120" cy="535838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1170432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1170432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7"/>
          <p:cNvSpPr/>
          <p:nvPr/>
        </p:nvSpPr>
        <p:spPr>
          <a:xfrm>
            <a:off x="6601968" y="1170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常见病原体</a:t>
            </a:r>
            <a:endParaRPr lang="en-US" sz="2000" dirty="0"/>
          </a:p>
        </p:txBody>
      </p:sp>
      <p:pic>
        <p:nvPicPr>
          <p:cNvPr id="22" name="Image 2" descr="/Users/liminrong/Projects/chain-pharmacy-content-studio/production-library/validation/courseware/disease-uri-shenke-blue-v1/assets/exam-virus-carto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6880" y="1097280"/>
            <a:ext cx="2194560" cy="1554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46520" y="2834640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46520" y="2999232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Text 20"/>
          <p:cNvSpPr/>
          <p:nvPr/>
        </p:nvSpPr>
        <p:spPr>
          <a:xfrm>
            <a:off x="6629400" y="29260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鼻病毒、呼吸道合胞病毒、冠状病毒、柯萨奇病毒和腺病毒；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446520" y="4005072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4169664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8" name="Text 23"/>
          <p:cNvSpPr/>
          <p:nvPr/>
        </p:nvSpPr>
        <p:spPr>
          <a:xfrm>
            <a:off x="6629400" y="409651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A族溶血性链球菌、肺炎链球菌、流感嗜血杆菌、葡萄球菌、酿脓链球菌、卡他莫拉菌；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446520" y="5175504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46520" y="5340096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1" name="Text 26"/>
          <p:cNvSpPr/>
          <p:nvPr/>
        </p:nvSpPr>
        <p:spPr>
          <a:xfrm>
            <a:off x="6629400" y="52669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肺炎支原体、衣原体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6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一般治疗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validation/courseware/disease-uri-shenke-blue-v1/assets/tx-general-ex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517904"/>
            <a:ext cx="546811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936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2" descr="/Users/liminrong/Projects/chain-pharmacy-content-studio/production-library/validation/courseware/disease-uri-shenke-blue-v1/assets/tx-general-re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4224" y="1517904"/>
            <a:ext cx="5468112" cy="27706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4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5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6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7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8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19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Shape 20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6" name="Shape 21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饮食清淡，营养均衡，增加维生素和微量元素的摄取。多饮开水，注意通便，注意休息，保持室内合适的温度和湿度。如有发热，还应注意退热。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7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全身用药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828800" y="1508760"/>
            <a:ext cx="85039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validation/courseware/disease-uri-shenke-blue-v1/assets/tx-systemic-penicill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83664" y="1563624"/>
            <a:ext cx="839419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5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6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7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8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9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20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5" name="Text 21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反复上呼吸道感染急性期应以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抗感染治疗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为主。细菌感染者应使用青霉素类如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等抗菌药物。病毒感染者酌情使用抗病毒药物。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8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局部用药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validation/courseware/disease-uri-shenke-blue-v1/assets/tx-local-sp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1517904"/>
            <a:ext cx="354787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9768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2" descr="/Users/liminrong/Projects/chain-pharmacy-content-studio/production-library/validation/courseware/disease-uri-shenke-blue-v1/assets/tx-local-nebuliz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52544" y="1517904"/>
            <a:ext cx="3547872" cy="27706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13816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9" name="Image 3" descr="/Users/liminrong/Projects/chain-pharmacy-content-studio/production-library/validation/courseware/disease-uri-shenke-blue-v1/assets/tx-local-e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024" y="1517904"/>
            <a:ext cx="3547872" cy="27706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5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6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7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18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6" name="Shape 20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7" name="Shape 21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8" name="Shape 22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鼻塞严重者可短期使用减充血剂或医用高渗海水，伴有过敏的局部用抗组胺和糖皮质激素喷鼻。咽痛可用局部雾化药物。耳痛或耳流脓局部治疗可采用1%酚甘油滴耳剂，3%双氧水清洗加局部采用非耳毒性抗菌药物滴耳剂等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9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1024128"/>
            <a:ext cx="78181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024128"/>
            <a:ext cx="7818120" cy="50292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临床症状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834640" y="10241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对症用药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825496" y="1024128"/>
            <a:ext cx="18288" cy="539496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" y="152704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834640" y="152704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20040" y="212758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" y="152704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流鼻涕，打喷嚏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980944" y="156362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0040" y="213855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834640" y="213855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Shape 20"/>
          <p:cNvSpPr/>
          <p:nvPr/>
        </p:nvSpPr>
        <p:spPr>
          <a:xfrm>
            <a:off x="320040" y="273908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" y="213855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鼻塞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80944" y="217512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盐酸伪麻黄碱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20040" y="275005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7" name="Shape 24"/>
          <p:cNvSpPr/>
          <p:nvPr/>
        </p:nvSpPr>
        <p:spPr>
          <a:xfrm>
            <a:off x="2834640" y="275005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20040" y="335059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9" name="Text 26"/>
          <p:cNvSpPr/>
          <p:nvPr/>
        </p:nvSpPr>
        <p:spPr>
          <a:xfrm>
            <a:off x="393192" y="275005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发热，头痛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980944" y="278663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精氨酸布洛芬颗粒、对乙酰氨基酚、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20040" y="336156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834640" y="336156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3" name="Shape 30"/>
          <p:cNvSpPr/>
          <p:nvPr/>
        </p:nvSpPr>
        <p:spPr>
          <a:xfrm>
            <a:off x="320040" y="396209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4" name="Text 31"/>
          <p:cNvSpPr/>
          <p:nvPr/>
        </p:nvSpPr>
        <p:spPr>
          <a:xfrm>
            <a:off x="393192" y="336156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咳嗽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980944" y="339813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右美沙芬、氨溴索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20040" y="397306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7" name="Shape 34"/>
          <p:cNvSpPr/>
          <p:nvPr/>
        </p:nvSpPr>
        <p:spPr>
          <a:xfrm>
            <a:off x="2834640" y="397306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320040" y="457360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9" name="Text 36"/>
          <p:cNvSpPr/>
          <p:nvPr/>
        </p:nvSpPr>
        <p:spPr>
          <a:xfrm>
            <a:off x="393192" y="397306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咽喉及扁桃体红肿、疼痛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2980944" y="400964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冬凌草糖浆、利咽解毒颗粒、清咽滴丸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20040" y="458457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42" name="Shape 39"/>
          <p:cNvSpPr/>
          <p:nvPr/>
        </p:nvSpPr>
        <p:spPr>
          <a:xfrm>
            <a:off x="2834640" y="458457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3" name="Shape 40"/>
          <p:cNvSpPr/>
          <p:nvPr/>
        </p:nvSpPr>
        <p:spPr>
          <a:xfrm>
            <a:off x="320040" y="518510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4" name="Text 41"/>
          <p:cNvSpPr/>
          <p:nvPr/>
        </p:nvSpPr>
        <p:spPr>
          <a:xfrm>
            <a:off x="393192" y="458457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2980944" y="462114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抗病毒口服液、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（1岁以下慎用）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20040" y="519607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47" name="Shape 44"/>
          <p:cNvSpPr/>
          <p:nvPr/>
        </p:nvSpPr>
        <p:spPr>
          <a:xfrm>
            <a:off x="2834640" y="519607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320040" y="579661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9" name="Text 46"/>
          <p:cNvSpPr/>
          <p:nvPr/>
        </p:nvSpPr>
        <p:spPr>
          <a:xfrm>
            <a:off x="393192" y="519607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细菌感染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2980944" y="523265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（3个月以下慎用）、头孢拉定、罗红霉素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20040" y="580758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52" name="Shape 49"/>
          <p:cNvSpPr/>
          <p:nvPr/>
        </p:nvSpPr>
        <p:spPr>
          <a:xfrm>
            <a:off x="2834640" y="580758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53" name="Shape 50"/>
          <p:cNvSpPr/>
          <p:nvPr/>
        </p:nvSpPr>
        <p:spPr>
          <a:xfrm>
            <a:off x="320040" y="640811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54" name="Text 51"/>
          <p:cNvSpPr/>
          <p:nvPr/>
        </p:nvSpPr>
        <p:spPr>
          <a:xfrm>
            <a:off x="393192" y="580758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免疫力低下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2980944" y="584415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复合维生素、维生素C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366760" y="1024128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366760" y="1024128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58" name="Shape 55"/>
          <p:cNvSpPr/>
          <p:nvPr/>
        </p:nvSpPr>
        <p:spPr>
          <a:xfrm>
            <a:off x="8513064" y="1143000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59" name="Shape 56"/>
          <p:cNvSpPr/>
          <p:nvPr/>
        </p:nvSpPr>
        <p:spPr>
          <a:xfrm rot="19800000">
            <a:off x="9825228" y="1348740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19800000">
            <a:off x="9825228" y="1348740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61" name="Text 58"/>
          <p:cNvSpPr/>
          <p:nvPr/>
        </p:nvSpPr>
        <p:spPr>
          <a:xfrm>
            <a:off x="8421624" y="18013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8421624" y="2075688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8366760" y="2377440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366760" y="2377440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65" name="Shape 62"/>
          <p:cNvSpPr/>
          <p:nvPr/>
        </p:nvSpPr>
        <p:spPr>
          <a:xfrm>
            <a:off x="8513064" y="2496312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66" name="Shape 63"/>
          <p:cNvSpPr/>
          <p:nvPr/>
        </p:nvSpPr>
        <p:spPr>
          <a:xfrm rot="19800000">
            <a:off x="9825228" y="2702052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rot="19800000">
            <a:off x="9825228" y="27020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68" name="Text 65"/>
          <p:cNvSpPr/>
          <p:nvPr/>
        </p:nvSpPr>
        <p:spPr>
          <a:xfrm>
            <a:off x="8421624" y="315468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421624" y="3429000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8366760" y="3730752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8366760" y="3730752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72" name="Shape 69"/>
          <p:cNvSpPr/>
          <p:nvPr/>
        </p:nvSpPr>
        <p:spPr>
          <a:xfrm>
            <a:off x="8513064" y="3849624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73" name="Shape 70"/>
          <p:cNvSpPr/>
          <p:nvPr/>
        </p:nvSpPr>
        <p:spPr>
          <a:xfrm rot="19800000">
            <a:off x="9825228" y="4055364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rot="19800000">
            <a:off x="9825228" y="405536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75" name="Text 72"/>
          <p:cNvSpPr/>
          <p:nvPr/>
        </p:nvSpPr>
        <p:spPr>
          <a:xfrm>
            <a:off x="8421624" y="45079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磷酸奥司他韦颗粒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8421624" y="4782312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8366760" y="5084064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8366760" y="5084064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79" name="Shape 76"/>
          <p:cNvSpPr/>
          <p:nvPr/>
        </p:nvSpPr>
        <p:spPr>
          <a:xfrm>
            <a:off x="8513064" y="5202936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80" name="Shape 77"/>
          <p:cNvSpPr/>
          <p:nvPr/>
        </p:nvSpPr>
        <p:spPr>
          <a:xfrm rot="19800000">
            <a:off x="9825228" y="5408676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rot="19800000">
            <a:off x="9825228" y="54086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82" name="Text 79"/>
          <p:cNvSpPr/>
          <p:nvPr/>
        </p:nvSpPr>
        <p:spPr>
          <a:xfrm>
            <a:off x="8421624" y="58613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>
            <a:off x="8421624" y="6135624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10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525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525780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245790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0477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对青霉素过敏及皮肤试验阳性患者禁用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" y="246888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246888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34180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4" name="Text 21"/>
          <p:cNvSpPr/>
          <p:nvPr/>
        </p:nvSpPr>
        <p:spPr>
          <a:xfrm>
            <a:off x="466344" y="246888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头孢拉定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724912" y="256489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对头孢菌素过敏者及有青霉素过敏性休克者禁用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孕妇、哺乳期妇女慎用，儿童慎用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" y="342900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7" name="Shape 24"/>
          <p:cNvSpPr/>
          <p:nvPr/>
        </p:nvSpPr>
        <p:spPr>
          <a:xfrm>
            <a:off x="2560320" y="342900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11480" y="437814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9" name="Text 26"/>
          <p:cNvSpPr/>
          <p:nvPr/>
        </p:nvSpPr>
        <p:spPr>
          <a:xfrm>
            <a:off x="466344" y="342900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罗红霉素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2724912" y="352501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对本品、红霉素或其他大环内酯类药物过敏者禁用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肝功能不全者禁用，肾功能不全者慎用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孕妇及哺乳期妇女慎用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11480" y="438912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560320" y="438912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3" name="Shape 30"/>
          <p:cNvSpPr/>
          <p:nvPr/>
        </p:nvSpPr>
        <p:spPr>
          <a:xfrm>
            <a:off x="411480" y="533826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4" name="Text 31"/>
          <p:cNvSpPr/>
          <p:nvPr/>
        </p:nvSpPr>
        <p:spPr>
          <a:xfrm>
            <a:off x="466344" y="4389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服液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724912" y="448513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脾胃虚寒泄泻者慎服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11480" y="534924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7" name="Shape 34"/>
          <p:cNvSpPr/>
          <p:nvPr/>
        </p:nvSpPr>
        <p:spPr>
          <a:xfrm>
            <a:off x="2560320" y="534924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66344" y="534924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2724912" y="544525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1岁以下儿童慎用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11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不推荐6岁以下、6岁以上但体重≤30公斤的儿童使用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妊娠期及哺乳期妇女慎用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肝功能不全的患者在医生指导下使用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麻黄碱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严重肝肾功能不全者禁用，肝、肾功能不全者慎用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用药不超过7天，症状未缓解，请咨询医师或药师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不能同时服用成份相似的其他抗感冒药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服用本品期间不得饮酒或含有酒精的饮料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心脏病、高血压、甲状腺疾病、糖尿病等患者应在医师指导下使用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12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78992"/>
            <a:ext cx="11384280" cy="475488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1078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91640" y="107899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对乙酰氨基酚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03720" y="1078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布洛芬颗粒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11480" y="1554480"/>
            <a:ext cx="11384280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91640" y="1554480"/>
            <a:ext cx="18288" cy="4828032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903720" y="1554480"/>
            <a:ext cx="18288" cy="4828032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2004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874520" y="1783080"/>
            <a:ext cx="48463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严重肝肾功能不全者禁用，过敏者禁用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对阿司匹林过敏者慎用，肝肾功能不全者慎用，孕妇及哺乳期妇女慎用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应尽量避免合并使用含有对乙酰氨基酚或其他解热镇痛药的药品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口服一日最大量不超过2克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用于解热连续使用不超过3天，用于止痛不超过5天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服用期间不得饮酒或含有酒精的饮料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86600" y="1783080"/>
            <a:ext cx="45262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消化性溃疡患者、重度血液异常患者、重度肝脏病患者、重度肾脏病患者、重度心功能不全患者、重度高血压患者禁用，对成分有过敏既往史的患者禁用，对其他非甾体抗炎药过敏者禁用，阿司匹林哮喘或有既往史的患者禁用，孕妇及哺乳期妇女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老年人和儿童（6个月以下）慎重用药，尽可能将用量控制在所需的最小限度内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如出现胃肠道出血或溃疡、胸痛、气短、无力、言语含糊等情况，应停药并咨询医师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13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妊娠3个月内妇女，有精神病史者及哺乳期妇女禁用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2周岁以下儿童使用时请咨询医师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不得与单胺氧化酶抑制剂及抗抑郁药并用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用药不得超过7天，症状未缓解应向医师或药师咨询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服药期间不得驾驶机、车、船，从事高空作业、机械作业及操作精密仪器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氨溴索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6岁以下儿童应在医师指导下使用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应避免与中枢镇咳药（如右美沙芬）同时使用，以免稀化的痰液堵塞气道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14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利咽解毒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声嘶、咽痛初起，兼见恶寒发热、鼻流清涕等外感风寒者不适用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有高血压、心脏病、肝病、糖尿病、肾病等慢性病严重者应在医师指导下服用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儿童、孕妇、哺乳期妇女、年老体弱、脾虚便溏者应在医师指导下服用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扁桃体有化脓或发热体温超过38.5℃的患者应医院就诊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服药3天症状无缓解，应去医院就诊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清咽滴丸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不宜在服药期间同时服用温补性中成药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按照用法用量服用，儿童应在医师指导下服用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服药3天后症状无改善，或出现其他症状，应医院就诊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15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05840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EAF2FA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07899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急性期须积极采取抗感染治疗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，以免耽误病情，病情稳定后注意增强和改善自身免疫功能的，减少再次感染的机率。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657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15" name="Image 1" descr="/Users/liminrong/Projects/chain-pharmacy-content-studio/production-library/validation/courseware/disease-uri-shenke-blue-v1/assets/care-drin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359152"/>
            <a:ext cx="3200400" cy="23042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43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饮食清淡，营养均衡、多休息、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多饮水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、男士戒烟，女士避免接触二手烟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2519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165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20" name="Image 2" descr="/Users/liminrong/Projects/chain-pharmacy-content-studio/production-library/validation/courseware/disease-uri-shenke-blue-v1/assets/care-no-crow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26280" y="2359152"/>
            <a:ext cx="3200400" cy="230428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4805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2" name="Text 17"/>
          <p:cNvSpPr/>
          <p:nvPr/>
        </p:nvSpPr>
        <p:spPr>
          <a:xfrm>
            <a:off x="45079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生活环境保持整洁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通风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，尽量避免去人群聚集的场所，减少与病原体的接触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1381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027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25" name="Image 3" descr="/Users/liminrong/Projects/chain-pharmacy-content-studio/production-library/validation/courseware/disease-uri-shenke-blue-v1/assets/care-exerci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2480" y="2359152"/>
            <a:ext cx="3200400" cy="230428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3667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7" name="Text 21"/>
          <p:cNvSpPr/>
          <p:nvPr/>
        </p:nvSpPr>
        <p:spPr>
          <a:xfrm>
            <a:off x="83941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经常锻炼，增强体质，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提高自身免疫力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validation/courseware/disease-uri-shenke-blue-v1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16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儿童、老人可以常规接种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流感疫苗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，同时并合用其他的预防手段</a:t>
            </a:r>
            <a:endParaRPr lang="en-US" sz="1700" dirty="0"/>
          </a:p>
        </p:txBody>
      </p:sp>
      <p:pic>
        <p:nvPicPr>
          <p:cNvPr id="14" name="Image 1" descr="/Users/liminrong/Projects/chain-pharmacy-content-studio/production-library/validation/courseware/disease-uri-shenke-blue-v1/assets/care-vacc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3520440"/>
            <a:ext cx="3291840" cy="2697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519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19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7" name="Text 13"/>
          <p:cNvSpPr/>
          <p:nvPr/>
        </p:nvSpPr>
        <p:spPr>
          <a:xfrm>
            <a:off x="44531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1岁以下幼儿慎用感冒药；孕妇、哺乳期妇女慎用感冒药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，以免影响胎儿婴儿</a:t>
            </a:r>
            <a:endParaRPr lang="en-US" sz="1700" dirty="0"/>
          </a:p>
        </p:txBody>
      </p:sp>
      <p:pic>
        <p:nvPicPr>
          <p:cNvPr id="18" name="Image 2" descr="/Users/liminrong/Projects/chain-pharmacy-content-studio/production-library/validation/courseware/disease-uri-shenke-blue-v1/assets/care-special-p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0560" y="3520440"/>
            <a:ext cx="3291840" cy="2697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381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6"/>
          <p:cNvSpPr/>
          <p:nvPr/>
        </p:nvSpPr>
        <p:spPr>
          <a:xfrm>
            <a:off x="83393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具有一定的传染性，提醒患者密切接触的家人注意隔离防护，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避免交叉感染</a:t>
            </a:r>
            <a:endParaRPr lang="en-US" sz="1700" dirty="0"/>
          </a:p>
        </p:txBody>
      </p:sp>
      <p:pic>
        <p:nvPicPr>
          <p:cNvPr id="22" name="Image 3" descr="/Users/liminrong/Projects/chain-pharmacy-content-studio/production-library/validation/courseware/disease-uri-shenke-blue-v1/assets/care-ventila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66760" y="3520440"/>
            <a:ext cx="32918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-2194560" y="5440680"/>
            <a:ext cx="17282160" cy="4206240"/>
          </a:xfrm>
          <a:prstGeom prst="ellipse">
            <a:avLst/>
          </a:prstGeom>
          <a:solidFill>
            <a:srgbClr val="4A90D9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-2011680" y="5742432"/>
            <a:ext cx="16916400" cy="4206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Users/liminrong/Projects/chain-pharmacy-content-studio/production-library/validation/courseware/disease-uri-shenke-blue-v1/assets/logo-shenk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2309" y="274320"/>
            <a:ext cx="1496291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37360" y="18288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助力健康</a:t>
            </a:r>
            <a:endParaRPr lang="en-US" sz="4600" dirty="0"/>
          </a:p>
        </p:txBody>
      </p:sp>
      <p:sp>
        <p:nvSpPr>
          <p:cNvPr id="18" name="Shape 15"/>
          <p:cNvSpPr/>
          <p:nvPr/>
        </p:nvSpPr>
        <p:spPr>
          <a:xfrm>
            <a:off x="5641848" y="4224528"/>
            <a:ext cx="914400" cy="64008"/>
          </a:xfrm>
          <a:prstGeom prst="roundRect">
            <a:avLst>
              <a:gd name="adj" fmla="val 50000"/>
            </a:avLst>
          </a:prstGeom>
          <a:solidFill>
            <a:srgbClr val="7FB6E8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5240" y="5321808"/>
            <a:ext cx="4160520" cy="1170432"/>
          </a:xfrm>
          <a:prstGeom prst="roundRect">
            <a:avLst>
              <a:gd name="adj" fmla="val 3906"/>
            </a:avLst>
          </a:prstGeom>
          <a:solidFill>
            <a:srgbClr val="F0F6FC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5321808"/>
            <a:ext cx="128016" cy="1170432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568" y="54315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73568" y="5779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副教授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73568" y="6071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药事管理学教研室副主任 硕士生导师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8524" y="192024"/>
            <a:ext cx="4806086" cy="6583680"/>
          </a:xfrm>
          <a:prstGeom prst="roundRect">
            <a:avLst>
              <a:gd name="adj" fmla="val 1142"/>
            </a:avLst>
          </a:prstGeom>
          <a:solidFill>
            <a:srgbClr val="C5D0DE"/>
          </a:solidFill>
          <a:ln/>
        </p:spPr>
      </p:sp>
      <p:sp>
        <p:nvSpPr>
          <p:cNvPr id="3" name="Shape 1"/>
          <p:cNvSpPr/>
          <p:nvPr/>
        </p:nvSpPr>
        <p:spPr>
          <a:xfrm>
            <a:off x="3692804" y="137160"/>
            <a:ext cx="4806086" cy="6583680"/>
          </a:xfrm>
          <a:prstGeom prst="roundRect">
            <a:avLst>
              <a:gd name="adj" fmla="val 951"/>
            </a:avLst>
          </a:prstGeom>
          <a:solidFill>
            <a:srgbClr val="FFFFFF"/>
          </a:solidFill>
          <a:ln w="22225">
            <a:solidFill>
              <a:srgbClr val="1A4F8C"/>
            </a:solidFill>
            <a:prstDash val="solid"/>
          </a:ln>
        </p:spPr>
      </p:sp>
      <p:pic>
        <p:nvPicPr>
          <p:cNvPr id="4" name="Image 0" descr="/Users/liminrong/Projects/chain-pharmacy-content-studio/production-library/validation/courseware/disease-uri-shenke-blue-v1/assets/summary-serie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57396" y="283464"/>
            <a:ext cx="9692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1524" y="283464"/>
            <a:ext cx="34253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健康顾问专业力系列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57396" y="667512"/>
            <a:ext cx="4476902" cy="438912"/>
          </a:xfrm>
          <a:prstGeom prst="roundRect">
            <a:avLst>
              <a:gd name="adj" fmla="val 8333"/>
            </a:avLst>
          </a:prstGeom>
          <a:solidFill>
            <a:srgbClr val="1A4F8C"/>
          </a:solidFill>
          <a:ln/>
        </p:spPr>
      </p:sp>
      <p:sp>
        <p:nvSpPr>
          <p:cNvPr id="7" name="Text 4"/>
          <p:cNvSpPr/>
          <p:nvPr/>
        </p:nvSpPr>
        <p:spPr>
          <a:xfrm>
            <a:off x="3857396" y="667512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呼吸系统课程  急性上呼吸道感染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57396" y="123444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9" name="Shape 6"/>
          <p:cNvSpPr/>
          <p:nvPr/>
        </p:nvSpPr>
        <p:spPr>
          <a:xfrm>
            <a:off x="4058564" y="1197864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0" name="Text 7"/>
          <p:cNvSpPr/>
          <p:nvPr/>
        </p:nvSpPr>
        <p:spPr>
          <a:xfrm>
            <a:off x="4058564" y="11978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9852" y="1197864"/>
            <a:ext cx="31144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急性上呼吸道感染是鼻腔、咽或喉部急性炎症的概称，是呼吸道最常见的一种传染疾病。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57396" y="189280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8564" y="1856232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4" name="Text 11"/>
          <p:cNvSpPr/>
          <p:nvPr/>
        </p:nvSpPr>
        <p:spPr>
          <a:xfrm>
            <a:off x="4058564" y="18562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9852" y="1856232"/>
            <a:ext cx="31144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1、普通感冒：打喷嚏、鼻塞、流水样鼻涕等鼻咽部卡他症状，有无咽痛、咽痒、声哑等。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2、病毒性咽炎、喉炎：患者有咽喉部发痒和烧灼感，声音嘶哑，讲话困难，咳嗽时疼痛等。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3、疱疹性咽峡炎：患者有明显的咽痛、发热。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57396" y="294436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7" name="Shape 14"/>
          <p:cNvSpPr/>
          <p:nvPr/>
        </p:nvSpPr>
        <p:spPr>
          <a:xfrm>
            <a:off x="4058564" y="2907792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18" name="Text 15"/>
          <p:cNvSpPr/>
          <p:nvPr/>
        </p:nvSpPr>
        <p:spPr>
          <a:xfrm>
            <a:off x="4058564" y="2907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48836" y="3255264"/>
          <a:ext cx="4294022" cy="960120"/>
        </p:xfrm>
        <a:graphic>
          <a:graphicData uri="http://schemas.openxmlformats.org/drawingml/2006/table">
            <a:tbl>
              <a:tblPr/>
              <a:tblGrid>
                <a:gridCol w="858804"/>
                <a:gridCol w="944685"/>
                <a:gridCol w="2490533"/>
              </a:tblGrid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消炎杀菌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阿莫西林、头孢拉定、罗红霉素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缓解症状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冬凌草糖浆、利咽解毒颗粒、清咽滴丸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增强体质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复合维生素、维生素C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948836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48836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2" name="Shape 18"/>
          <p:cNvSpPr/>
          <p:nvPr/>
        </p:nvSpPr>
        <p:spPr>
          <a:xfrm>
            <a:off x="4095140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 rot="19800000">
            <a:off x="4435907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rot="19800000">
            <a:off x="4435907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5" name="Text 21"/>
          <p:cNvSpPr/>
          <p:nvPr/>
        </p:nvSpPr>
        <p:spPr>
          <a:xfrm>
            <a:off x="4003700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003700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380177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380177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9" name="Shape 25"/>
          <p:cNvSpPr/>
          <p:nvPr/>
        </p:nvSpPr>
        <p:spPr>
          <a:xfrm>
            <a:off x="5526481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 rot="19800000">
            <a:off x="5867248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rot="19800000">
            <a:off x="5867248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2" name="Text 28"/>
          <p:cNvSpPr/>
          <p:nvPr/>
        </p:nvSpPr>
        <p:spPr>
          <a:xfrm>
            <a:off x="5435041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435041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811518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811518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36" name="Shape 32"/>
          <p:cNvSpPr/>
          <p:nvPr/>
        </p:nvSpPr>
        <p:spPr>
          <a:xfrm>
            <a:off x="6957822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 rot="19800000">
            <a:off x="7298588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 rot="19800000">
            <a:off x="7298588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9" name="Text 35"/>
          <p:cNvSpPr/>
          <p:nvPr/>
        </p:nvSpPr>
        <p:spPr>
          <a:xfrm>
            <a:off x="6866382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维生素C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866382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3857396" y="521208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42" name="Shape 38"/>
          <p:cNvSpPr/>
          <p:nvPr/>
        </p:nvSpPr>
        <p:spPr>
          <a:xfrm>
            <a:off x="4058564" y="5175504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43" name="Text 39"/>
          <p:cNvSpPr/>
          <p:nvPr/>
        </p:nvSpPr>
        <p:spPr>
          <a:xfrm>
            <a:off x="4058564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967124" y="5522976"/>
            <a:ext cx="43397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注意隔离防护，避免交叉感染。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1岁以下幼儿慎用感冒药；孕妇、哺乳期妇女慎用感冒药，以免影响胎儿婴儿。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经常锻炼，增强体质，提高自身免疫力。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饮食清淡，营养均衡，多休息、多饮水。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5.生活环境保持整洁通风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18288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手机竖版一页通 · 可截图转发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急性上呼吸道感染 · 疾病健康知识培训（可编辑金样 v3）</dc:title>
  <dc:subject>template.disease-health-shenke-blue-v1</dc:subject>
  <dc:creator>chain-pharmacy-content-studio</dc:creator>
  <cp:lastModifiedBy>chain-pharmacy-content-studio</cp:lastModifiedBy>
  <cp:revision>1</cp:revision>
  <dcterms:created xsi:type="dcterms:W3CDTF">2026-08-04T04:37:55Z</dcterms:created>
  <dcterms:modified xsi:type="dcterms:W3CDTF">2026-08-04T04:37:55Z</dcterms:modified>
</cp:coreProperties>
</file>