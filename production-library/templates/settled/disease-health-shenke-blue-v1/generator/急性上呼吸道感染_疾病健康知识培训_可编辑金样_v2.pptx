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23360"/>
          </a:xfrm>
          <a:prstGeom prst="rect">
            <a:avLst/>
          </a:prstGeom>
          <a:solidFill>
            <a:srgbClr val="0B4A9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685800" cy="3383280"/>
          </a:xfrm>
          <a:prstGeom prst="rect">
            <a:avLst/>
          </a:prstGeom>
          <a:solidFill>
            <a:srgbClr val="1A6BC4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182880"/>
            <a:ext cx="685800" cy="3383280"/>
          </a:xfrm>
          <a:prstGeom prst="rect">
            <a:avLst/>
          </a:prstGeom>
          <a:solidFill>
            <a:srgbClr val="1A6BC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82880"/>
            <a:ext cx="685800" cy="3383280"/>
          </a:xfrm>
          <a:prstGeom prst="rect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23360" y="182880"/>
            <a:ext cx="685800" cy="3383280"/>
          </a:xfrm>
          <a:prstGeom prst="rect">
            <a:avLst/>
          </a:prstGeom>
          <a:solidFill>
            <a:srgbClr val="1A6BC4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12080" y="182880"/>
            <a:ext cx="685800" cy="3383280"/>
          </a:xfrm>
          <a:prstGeom prst="rect">
            <a:avLst/>
          </a:prstGeom>
          <a:solidFill>
            <a:srgbClr val="1A6BC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82880"/>
            <a:ext cx="685800" cy="3383280"/>
          </a:xfrm>
          <a:prstGeom prst="rect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182880"/>
            <a:ext cx="685800" cy="3383280"/>
          </a:xfrm>
          <a:prstGeom prst="rect">
            <a:avLst/>
          </a:prstGeom>
          <a:solidFill>
            <a:srgbClr val="1A6BC4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0" y="182880"/>
            <a:ext cx="685800" cy="3383280"/>
          </a:xfrm>
          <a:prstGeom prst="rect">
            <a:avLst/>
          </a:prstGeom>
          <a:solidFill>
            <a:srgbClr val="1A6BC4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66960" y="182880"/>
            <a:ext cx="685800" cy="3383280"/>
          </a:xfrm>
          <a:prstGeom prst="rect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155680" y="182880"/>
            <a:ext cx="685800" cy="3383280"/>
          </a:xfrm>
          <a:prstGeom prst="rect">
            <a:avLst/>
          </a:prstGeom>
          <a:solidFill>
            <a:srgbClr val="1A6BC4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-2011680" y="3200400"/>
            <a:ext cx="16916400" cy="5120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1325880"/>
            <a:ext cx="9418320" cy="3154680"/>
          </a:xfrm>
          <a:prstGeom prst="roundRect">
            <a:avLst>
              <a:gd name="adj" fmla="val 2319"/>
            </a:avLst>
          </a:prstGeom>
          <a:solidFill>
            <a:srgbClr val="0A3A7A">
              <a:alpha val="70000"/>
            </a:srgbClr>
          </a:solidFill>
          <a:ln w="19050">
            <a:solidFill>
              <a:srgbClr val="5BA3E0"/>
            </a:solidFill>
            <a:prstDash val="solid"/>
          </a:ln>
        </p:spPr>
      </p:sp>
      <p:pic>
        <p:nvPicPr>
          <p:cNvPr id="15" name="Image 0" descr="/Users/liminrong/Projects/chain-pharmacy-content-studio/production-library/templates/settled/disease-health-shenke-blue-v1/generator/assets/logo-shenke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508760"/>
            <a:ext cx="2286000" cy="6583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389120" y="16642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0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45920" y="233172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急性上呼吸道感染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1645920" y="356616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呼吸系统系列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7772400" y="5760720"/>
            <a:ext cx="41148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7772400" y="5760720"/>
            <a:ext cx="146304" cy="868680"/>
          </a:xfrm>
          <a:prstGeom prst="rect">
            <a:avLst/>
          </a:prstGeom>
          <a:solidFill>
            <a:srgbClr val="1E6BB8"/>
          </a:solidFill>
          <a:ln/>
        </p:spPr>
      </p:sp>
      <p:sp>
        <p:nvSpPr>
          <p:cNvPr id="21" name="Text 18"/>
          <p:cNvSpPr/>
          <p:nvPr/>
        </p:nvSpPr>
        <p:spPr>
          <a:xfrm>
            <a:off x="8092440" y="5806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教授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09244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药事管理学 · 教研室副主任 · 硕士生导师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minrong/Projects/chain-pharmacy-content-studio/production-library/templates/settled/disease-health-shenke-blue-v1/generator/assets/agenda-buil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12080" y="0"/>
            <a:ext cx="704088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56032"/>
            <a:ext cx="14173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09360" y="868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>
            <a:off x="6446520" y="1737360"/>
            <a:ext cx="4572000" cy="731520"/>
          </a:xfrm>
          <a:prstGeom prst="roundRect">
            <a:avLst>
              <a:gd name="adj" fmla="val 7500"/>
            </a:avLst>
          </a:prstGeom>
          <a:solidFill>
            <a:srgbClr val="F0F5FB"/>
          </a:solidFill>
          <a:ln/>
        </p:spPr>
      </p:sp>
      <p:sp>
        <p:nvSpPr>
          <p:cNvPr id="7" name="Text 3"/>
          <p:cNvSpPr/>
          <p:nvPr/>
        </p:nvSpPr>
        <p:spPr>
          <a:xfrm>
            <a:off x="6675120" y="1737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6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</a:t>
            </a:r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疾病概览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6446520" y="2606040"/>
            <a:ext cx="4572000" cy="731520"/>
          </a:xfrm>
          <a:prstGeom prst="roundRect">
            <a:avLst>
              <a:gd name="adj" fmla="val 7500"/>
            </a:avLst>
          </a:prstGeom>
          <a:solidFill>
            <a:srgbClr val="E8F0F8"/>
          </a:solidFill>
          <a:ln/>
        </p:spPr>
      </p:sp>
      <p:sp>
        <p:nvSpPr>
          <p:cNvPr id="9" name="Text 5"/>
          <p:cNvSpPr/>
          <p:nvPr/>
        </p:nvSpPr>
        <p:spPr>
          <a:xfrm>
            <a:off x="6675120" y="2606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6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</a:t>
            </a:r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临床表现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446520" y="3474720"/>
            <a:ext cx="4572000" cy="731520"/>
          </a:xfrm>
          <a:prstGeom prst="roundRect">
            <a:avLst>
              <a:gd name="adj" fmla="val 7500"/>
            </a:avLst>
          </a:prstGeom>
          <a:solidFill>
            <a:srgbClr val="F0F5FB"/>
          </a:solidFill>
          <a:ln/>
        </p:spPr>
      </p:sp>
      <p:sp>
        <p:nvSpPr>
          <p:cNvPr id="11" name="Text 7"/>
          <p:cNvSpPr/>
          <p:nvPr/>
        </p:nvSpPr>
        <p:spPr>
          <a:xfrm>
            <a:off x="6675120" y="3474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6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</a:t>
            </a:r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检查方法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446520" y="4343400"/>
            <a:ext cx="4572000" cy="731520"/>
          </a:xfrm>
          <a:prstGeom prst="roundRect">
            <a:avLst>
              <a:gd name="adj" fmla="val 7500"/>
            </a:avLst>
          </a:prstGeom>
          <a:solidFill>
            <a:srgbClr val="E8F0F8"/>
          </a:solidFill>
          <a:ln/>
        </p:spPr>
      </p:sp>
      <p:sp>
        <p:nvSpPr>
          <p:cNvPr id="13" name="Text 9"/>
          <p:cNvSpPr/>
          <p:nvPr/>
        </p:nvSpPr>
        <p:spPr>
          <a:xfrm>
            <a:off x="6675120" y="43434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6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</a:t>
            </a:r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446520" y="5212080"/>
            <a:ext cx="4572000" cy="731520"/>
          </a:xfrm>
          <a:prstGeom prst="roundRect">
            <a:avLst>
              <a:gd name="adj" fmla="val 7500"/>
            </a:avLst>
          </a:prstGeom>
          <a:solidFill>
            <a:srgbClr val="F0F5FB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5212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6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</a:t>
            </a:r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疾病概览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24128"/>
            <a:ext cx="4206240" cy="502920"/>
          </a:xfrm>
          <a:prstGeom prst="roundRect">
            <a:avLst>
              <a:gd name="adj" fmla="val 7273"/>
            </a:avLst>
          </a:prstGeom>
          <a:solidFill>
            <a:srgbClr val="E3EEF8"/>
          </a:solidFill>
          <a:ln w="19050">
            <a:solidFill>
              <a:srgbClr val="3A7B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24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急性上呼吸道感染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72237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2225">
            <a:solidFill>
              <a:srgbClr val="5B9B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1097280" y="1874520"/>
            <a:ext cx="6309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鼻腔、咽或喉部急性炎症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的概称，是呼吸道最常见的一种传染疾病。
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本病全年皆可发病，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冬春季节多发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，多为散发，但常在气候突变时流行。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818120" y="1691640"/>
            <a:ext cx="39319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pic>
        <p:nvPicPr>
          <p:cNvPr id="13" name="Image 1" descr="/Users/liminrong/Projects/chain-pharmacy-content-studio/production-library/templates/settled/disease-health-shenke-blue-v1/generator/assets/overview-uri-illustr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91272" y="1764792"/>
            <a:ext cx="3785616" cy="20025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11480" y="4023360"/>
            <a:ext cx="2194560" cy="384048"/>
          </a:xfrm>
          <a:prstGeom prst="roundRect">
            <a:avLst>
              <a:gd name="adj" fmla="val 9524"/>
            </a:avLst>
          </a:prstGeom>
          <a:solidFill>
            <a:srgbClr val="E3EEF8"/>
          </a:solidFill>
          <a:ln/>
        </p:spPr>
      </p:sp>
      <p:sp>
        <p:nvSpPr>
          <p:cNvPr id="15" name="Shape 11"/>
          <p:cNvSpPr/>
          <p:nvPr/>
        </p:nvSpPr>
        <p:spPr>
          <a:xfrm>
            <a:off x="411480" y="4023360"/>
            <a:ext cx="91440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6" name="Text 12"/>
          <p:cNvSpPr/>
          <p:nvPr/>
        </p:nvSpPr>
        <p:spPr>
          <a:xfrm>
            <a:off x="612648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病因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411480" y="4526280"/>
            <a:ext cx="1133856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4663440"/>
            <a:ext cx="10881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大约70%是由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引起，少数由细菌所致。还因淋雨、受凉、气候改变、过度劳累等导致呼吸道防御功能下降，病原体繁殖而诱发本病。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临床表现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24128"/>
            <a:ext cx="7040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24128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E3EEF8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1280160"/>
            <a:ext cx="7040880" cy="146304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024128"/>
            <a:ext cx="109728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0241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普通感冒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1481328"/>
            <a:ext cx="66751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常见疾病起病，应注意询问有无打喷嚏、鼻塞、流水样鼻涕等鼻咽部卡他症状，有无咽痛、咽痒、声哑等。一般无明显畏寒、高热等全身症状。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65760" y="2578608"/>
            <a:ext cx="7040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578608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E3EEF8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2834640"/>
            <a:ext cx="7040880" cy="146304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16" name="Shape 13"/>
          <p:cNvSpPr/>
          <p:nvPr/>
        </p:nvSpPr>
        <p:spPr>
          <a:xfrm>
            <a:off x="365760" y="2578608"/>
            <a:ext cx="109728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257860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病毒性咽炎、喉炎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8640" y="3035808"/>
            <a:ext cx="6675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患者有咽喉部发痒和烧灼感，注意询问有无发热，有无声音嘶哑、讲话困难、咳嗽时疼痛等。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365760" y="4133088"/>
            <a:ext cx="7040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4133088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E3EEF8"/>
          </a:solidFill>
          <a:ln/>
        </p:spPr>
      </p:sp>
      <p:sp>
        <p:nvSpPr>
          <p:cNvPr id="21" name="Shape 18"/>
          <p:cNvSpPr/>
          <p:nvPr/>
        </p:nvSpPr>
        <p:spPr>
          <a:xfrm>
            <a:off x="365760" y="4389120"/>
            <a:ext cx="7040880" cy="146304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4133088"/>
            <a:ext cx="109728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41330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疱疹性咽峡炎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48640" y="4590288"/>
            <a:ext cx="6675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患者有明显的咽痛、发热。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7589520" y="1024128"/>
            <a:ext cx="41605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pic>
        <p:nvPicPr>
          <p:cNvPr id="26" name="Image 1" descr="/Users/liminrong/Projects/chain-pharmacy-content-studio/production-library/templates/settled/disease-health-shenke-blue-v1/generator/assets/clinical-throat-anatom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44384" y="1078992"/>
            <a:ext cx="4050792" cy="208483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589520" y="3337560"/>
            <a:ext cx="41605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pic>
        <p:nvPicPr>
          <p:cNvPr id="28" name="Image 2" descr="/Users/liminrong/Projects/chain-pharmacy-content-studio/production-library/templates/settled/disease-health-shenke-blue-v1/generator/assets/clinical-or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44384" y="3392424"/>
            <a:ext cx="4050792" cy="208483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365760" y="5715000"/>
            <a:ext cx="11430000" cy="868680"/>
          </a:xfrm>
          <a:prstGeom prst="roundRect">
            <a:avLst>
              <a:gd name="adj" fmla="val 5263"/>
            </a:avLst>
          </a:prstGeom>
          <a:solidFill>
            <a:srgbClr val="FFF8E8"/>
          </a:solidFill>
          <a:ln w="15875">
            <a:solidFill>
              <a:srgbClr val="F0D09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65760" y="5715000"/>
            <a:ext cx="109728" cy="86868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1" name="Text 26"/>
          <p:cNvSpPr/>
          <p:nvPr/>
        </p:nvSpPr>
        <p:spPr>
          <a:xfrm>
            <a:off x="640080" y="57790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询问诱因：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有无受凉、淋雨、过度劳累等诱发因素。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检查方法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24128"/>
            <a:ext cx="566928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143000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E3EEF8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143000"/>
            <a:ext cx="91440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1430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体格 / 实验室检查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94360" y="164592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▶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鼻腔粘膜及咽部充血；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▶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可有扁桃体肿大、充血，甚至化脓；有时咽部、扁桃体表面可有灰白色疱疹及浅表溃疡；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▶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病毒感染，实验室检查白细胞正常或偏低；细菌感染，则白细胞升高。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65760" y="4114800"/>
            <a:ext cx="56692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pic>
        <p:nvPicPr>
          <p:cNvPr id="13" name="Image 1" descr="/Users/liminrong/Projects/chain-pharmacy-content-studio/production-library/templates/settled/disease-health-shenke-blue-v1/generator/assets/exam-tonsi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" y="4169664"/>
            <a:ext cx="5559552" cy="22677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024128"/>
            <a:ext cx="5532120" cy="5468112"/>
          </a:xfrm>
          <a:prstGeom prst="roundRect">
            <a:avLst>
              <a:gd name="adj" fmla="val 1003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0" y="1143000"/>
            <a:ext cx="3291840" cy="384048"/>
          </a:xfrm>
          <a:prstGeom prst="roundRect">
            <a:avLst>
              <a:gd name="adj" fmla="val 9524"/>
            </a:avLst>
          </a:prstGeom>
          <a:solidFill>
            <a:srgbClr val="E3EE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0" y="1143000"/>
            <a:ext cx="91440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7" name="Text 13"/>
          <p:cNvSpPr/>
          <p:nvPr/>
        </p:nvSpPr>
        <p:spPr>
          <a:xfrm>
            <a:off x="6601968" y="11430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常见病原体</a:t>
            </a:r>
            <a:endParaRPr lang="en-US" sz="2000" dirty="0"/>
          </a:p>
        </p:txBody>
      </p:sp>
      <p:pic>
        <p:nvPicPr>
          <p:cNvPr id="18" name="Image 2" descr="/Users/liminrong/Projects/chain-pharmacy-content-studio/production-library/templates/settled/disease-health-shenke-blue-v1/generator/assets/exam-virus-carto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26880" y="1097280"/>
            <a:ext cx="2194560" cy="1554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46520" y="2834640"/>
            <a:ext cx="5166360" cy="1051560"/>
          </a:xfrm>
          <a:prstGeom prst="roundRect">
            <a:avLst>
              <a:gd name="adj" fmla="val 4348"/>
            </a:avLst>
          </a:prstGeom>
          <a:solidFill>
            <a:srgbClr val="F4F8FC"/>
          </a:solidFill>
          <a:ln/>
        </p:spPr>
      </p:sp>
      <p:sp>
        <p:nvSpPr>
          <p:cNvPr id="20" name="Text 15"/>
          <p:cNvSpPr/>
          <p:nvPr/>
        </p:nvSpPr>
        <p:spPr>
          <a:xfrm>
            <a:off x="6629400" y="29260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
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鼻病毒、呼吸道合胞病毒、冠状病毒、柯萨奇病毒和腺病毒；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446520" y="4005072"/>
            <a:ext cx="5166360" cy="1051560"/>
          </a:xfrm>
          <a:prstGeom prst="roundRect">
            <a:avLst>
              <a:gd name="adj" fmla="val 4348"/>
            </a:avLst>
          </a:prstGeom>
          <a:solidFill>
            <a:srgbClr val="F4F8FC"/>
          </a:solidFill>
          <a:ln/>
        </p:spPr>
      </p:sp>
      <p:sp>
        <p:nvSpPr>
          <p:cNvPr id="22" name="Text 17"/>
          <p:cNvSpPr/>
          <p:nvPr/>
        </p:nvSpPr>
        <p:spPr>
          <a:xfrm>
            <a:off x="6629400" y="409651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细菌
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A族溶血性链球菌、肺炎链球菌、流感嗜血杆菌、葡萄球菌、酿脓链球菌、卡他莫拉菌；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446520" y="5175504"/>
            <a:ext cx="5166360" cy="1051560"/>
          </a:xfrm>
          <a:prstGeom prst="roundRect">
            <a:avLst>
              <a:gd name="adj" fmla="val 4348"/>
            </a:avLst>
          </a:prstGeom>
          <a:solidFill>
            <a:srgbClr val="F4F8FC"/>
          </a:solidFill>
          <a:ln/>
        </p:spPr>
      </p:sp>
      <p:sp>
        <p:nvSpPr>
          <p:cNvPr id="24" name="Text 19"/>
          <p:cNvSpPr/>
          <p:nvPr/>
        </p:nvSpPr>
        <p:spPr>
          <a:xfrm>
            <a:off x="6629400" y="5266944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
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肺炎支原体、衣原体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24128"/>
            <a:ext cx="54864" cy="45720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024128"/>
            <a:ext cx="347472" cy="54864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一般治疗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02920" y="1463040"/>
            <a:ext cx="557784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pic>
        <p:nvPicPr>
          <p:cNvPr id="11" name="Image 1" descr="/Users/liminrong/Projects/chain-pharmacy-content-studio/production-library/templates/settled/disease-health-shenke-blue-v1/generator/assets/tx-general-exa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1517904"/>
            <a:ext cx="5468112" cy="27706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57784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pic>
        <p:nvPicPr>
          <p:cNvPr id="13" name="Image 2" descr="/Users/liminrong/Projects/chain-pharmacy-content-studio/production-library/templates/settled/disease-health-shenke-blue-v1/generator/assets/tx-general-res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64224" y="1517904"/>
            <a:ext cx="5468112" cy="27706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11480" y="457200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5" name="Shape 10"/>
          <p:cNvSpPr/>
          <p:nvPr/>
        </p:nvSpPr>
        <p:spPr>
          <a:xfrm>
            <a:off x="411480" y="457200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6" name="Shape 11"/>
          <p:cNvSpPr/>
          <p:nvPr/>
        </p:nvSpPr>
        <p:spPr>
          <a:xfrm>
            <a:off x="11494008" y="457200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7" name="Shape 12"/>
          <p:cNvSpPr/>
          <p:nvPr/>
        </p:nvSpPr>
        <p:spPr>
          <a:xfrm>
            <a:off x="11699748" y="457200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8" name="Shape 13"/>
          <p:cNvSpPr/>
          <p:nvPr/>
        </p:nvSpPr>
        <p:spPr>
          <a:xfrm>
            <a:off x="411480" y="644194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9" name="Shape 14"/>
          <p:cNvSpPr/>
          <p:nvPr/>
        </p:nvSpPr>
        <p:spPr>
          <a:xfrm>
            <a:off x="411480" y="623620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0" name="Shape 15"/>
          <p:cNvSpPr/>
          <p:nvPr/>
        </p:nvSpPr>
        <p:spPr>
          <a:xfrm>
            <a:off x="11494008" y="644194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1" name="Shape 16"/>
          <p:cNvSpPr/>
          <p:nvPr/>
        </p:nvSpPr>
        <p:spPr>
          <a:xfrm>
            <a:off x="11699748" y="623620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2" name="Shape 17"/>
          <p:cNvSpPr/>
          <p:nvPr/>
        </p:nvSpPr>
        <p:spPr>
          <a:xfrm>
            <a:off x="466344" y="4626864"/>
            <a:ext cx="11228832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0E0F0"/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667512" y="4754880"/>
            <a:ext cx="1082649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 饮食清淡，营养均衡，增加维生素和微量元素的摄取。多饮开水，注意通便，注意休息，保持室内合适的温度和湿度。如有发热，还应注意退热。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24128"/>
            <a:ext cx="54864" cy="45720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024128"/>
            <a:ext cx="347472" cy="54864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全身用药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828800" y="1508760"/>
            <a:ext cx="85039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pic>
        <p:nvPicPr>
          <p:cNvPr id="11" name="Image 1" descr="/Users/liminrong/Projects/chain-pharmacy-content-studio/production-library/templates/settled/disease-health-shenke-blue-v1/generator/assets/tx-systemic-penicill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83664" y="1563624"/>
            <a:ext cx="8394192" cy="27706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1480" y="457200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3" name="Shape 9"/>
          <p:cNvSpPr/>
          <p:nvPr/>
        </p:nvSpPr>
        <p:spPr>
          <a:xfrm>
            <a:off x="411480" y="457200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4" name="Shape 10"/>
          <p:cNvSpPr/>
          <p:nvPr/>
        </p:nvSpPr>
        <p:spPr>
          <a:xfrm>
            <a:off x="11494008" y="457200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5" name="Shape 11"/>
          <p:cNvSpPr/>
          <p:nvPr/>
        </p:nvSpPr>
        <p:spPr>
          <a:xfrm>
            <a:off x="11699748" y="457200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6" name="Shape 12"/>
          <p:cNvSpPr/>
          <p:nvPr/>
        </p:nvSpPr>
        <p:spPr>
          <a:xfrm>
            <a:off x="411480" y="644194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7" name="Shape 13"/>
          <p:cNvSpPr/>
          <p:nvPr/>
        </p:nvSpPr>
        <p:spPr>
          <a:xfrm>
            <a:off x="411480" y="623620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8" name="Shape 14"/>
          <p:cNvSpPr/>
          <p:nvPr/>
        </p:nvSpPr>
        <p:spPr>
          <a:xfrm>
            <a:off x="11494008" y="644194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9" name="Shape 15"/>
          <p:cNvSpPr/>
          <p:nvPr/>
        </p:nvSpPr>
        <p:spPr>
          <a:xfrm>
            <a:off x="11699748" y="623620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0" name="Shape 16"/>
          <p:cNvSpPr/>
          <p:nvPr/>
        </p:nvSpPr>
        <p:spPr>
          <a:xfrm>
            <a:off x="466344" y="4626864"/>
            <a:ext cx="11228832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0E0F0"/>
            </a:solidFill>
            <a:prstDash val="dash"/>
          </a:ln>
        </p:spPr>
      </p:sp>
      <p:sp>
        <p:nvSpPr>
          <p:cNvPr id="21" name="Text 17"/>
          <p:cNvSpPr/>
          <p:nvPr/>
        </p:nvSpPr>
        <p:spPr>
          <a:xfrm>
            <a:off x="667512" y="4754880"/>
            <a:ext cx="1082649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反复上呼吸道感染急性期应以</a:t>
            </a:r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抗感染治疗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为主。细菌感染者应使用青霉素类如</a:t>
            </a:r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等抗菌药物。病毒感染者酌情使用抗病毒药物。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24128"/>
            <a:ext cx="54864" cy="45720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024128"/>
            <a:ext cx="347472" cy="54864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局部用药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1463040"/>
            <a:ext cx="36576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pic>
        <p:nvPicPr>
          <p:cNvPr id="11" name="Image 1" descr="/Users/liminrong/Projects/chain-pharmacy-content-studio/production-library/templates/settled/disease-health-shenke-blue-v1/generator/assets/tx-local-spr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" y="1517904"/>
            <a:ext cx="3547872" cy="27706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297680" y="1463040"/>
            <a:ext cx="36576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pic>
        <p:nvPicPr>
          <p:cNvPr id="13" name="Image 2" descr="/Users/liminrong/Projects/chain-pharmacy-content-studio/production-library/templates/settled/disease-health-shenke-blue-v1/generator/assets/tx-local-nebuliz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52544" y="1517904"/>
            <a:ext cx="3547872" cy="27706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38160" y="1463040"/>
            <a:ext cx="36576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pic>
        <p:nvPicPr>
          <p:cNvPr id="15" name="Image 3" descr="/Users/liminrong/Projects/chain-pharmacy-content-studio/production-library/templates/settled/disease-health-shenke-blue-v1/generator/assets/tx-local-ea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93024" y="1517904"/>
            <a:ext cx="3547872" cy="27706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11480" y="457200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7" name="Shape 11"/>
          <p:cNvSpPr/>
          <p:nvPr/>
        </p:nvSpPr>
        <p:spPr>
          <a:xfrm>
            <a:off x="411480" y="457200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8" name="Shape 12"/>
          <p:cNvSpPr/>
          <p:nvPr/>
        </p:nvSpPr>
        <p:spPr>
          <a:xfrm>
            <a:off x="11494008" y="457200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9" name="Shape 13"/>
          <p:cNvSpPr/>
          <p:nvPr/>
        </p:nvSpPr>
        <p:spPr>
          <a:xfrm>
            <a:off x="11699748" y="457200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0" name="Shape 14"/>
          <p:cNvSpPr/>
          <p:nvPr/>
        </p:nvSpPr>
        <p:spPr>
          <a:xfrm>
            <a:off x="411480" y="644194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1" name="Shape 15"/>
          <p:cNvSpPr/>
          <p:nvPr/>
        </p:nvSpPr>
        <p:spPr>
          <a:xfrm>
            <a:off x="411480" y="623620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2" name="Shape 16"/>
          <p:cNvSpPr/>
          <p:nvPr/>
        </p:nvSpPr>
        <p:spPr>
          <a:xfrm>
            <a:off x="11494008" y="644194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3" name="Shape 17"/>
          <p:cNvSpPr/>
          <p:nvPr/>
        </p:nvSpPr>
        <p:spPr>
          <a:xfrm>
            <a:off x="11699748" y="623620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4" name="Shape 18"/>
          <p:cNvSpPr/>
          <p:nvPr/>
        </p:nvSpPr>
        <p:spPr>
          <a:xfrm>
            <a:off x="466344" y="4626864"/>
            <a:ext cx="11228832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0E0F0"/>
            </a:solidFill>
            <a:prstDash val="dash"/>
          </a:ln>
        </p:spPr>
      </p:sp>
      <p:sp>
        <p:nvSpPr>
          <p:cNvPr id="25" name="Text 19"/>
          <p:cNvSpPr/>
          <p:nvPr/>
        </p:nvSpPr>
        <p:spPr>
          <a:xfrm>
            <a:off x="667512" y="4754880"/>
            <a:ext cx="10826496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 鼻塞严重者可短期使用减充血剂或医用高渗海水，伴有过敏的局部用抗组胺和糖皮质激素喷鼻。咽痛可用局部雾化药物。耳痛或耳流脓局部治疗可采用1%酚甘油滴耳剂，3%双氧水清洗加局部采用非耳毒性抗菌药物滴耳剂等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024128"/>
            <a:ext cx="781812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024128"/>
            <a:ext cx="7818120" cy="50292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0241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临床症状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834640" y="10241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对症用药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825496" y="1024128"/>
            <a:ext cx="18288" cy="544068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2" name="Shape 9"/>
          <p:cNvSpPr/>
          <p:nvPr/>
        </p:nvSpPr>
        <p:spPr>
          <a:xfrm>
            <a:off x="320040" y="1527048"/>
            <a:ext cx="2514600" cy="6172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3" name="Shape 10"/>
          <p:cNvSpPr/>
          <p:nvPr/>
        </p:nvSpPr>
        <p:spPr>
          <a:xfrm>
            <a:off x="2834640" y="1527048"/>
            <a:ext cx="5303520" cy="6172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20040" y="213329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5" name="Text 12"/>
          <p:cNvSpPr/>
          <p:nvPr/>
        </p:nvSpPr>
        <p:spPr>
          <a:xfrm>
            <a:off x="393192" y="1527048"/>
            <a:ext cx="23682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流鼻涕，打喷嚏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980944" y="1563624"/>
            <a:ext cx="50292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氯雷他定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0040" y="2144268"/>
            <a:ext cx="2514600" cy="6172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8" name="Shape 15"/>
          <p:cNvSpPr/>
          <p:nvPr/>
        </p:nvSpPr>
        <p:spPr>
          <a:xfrm>
            <a:off x="2834640" y="2144268"/>
            <a:ext cx="5303520" cy="61722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9" name="Shape 16"/>
          <p:cNvSpPr/>
          <p:nvPr/>
        </p:nvSpPr>
        <p:spPr>
          <a:xfrm>
            <a:off x="320040" y="275051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0" name="Text 17"/>
          <p:cNvSpPr/>
          <p:nvPr/>
        </p:nvSpPr>
        <p:spPr>
          <a:xfrm>
            <a:off x="393192" y="2144268"/>
            <a:ext cx="23682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鼻塞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980944" y="2180844"/>
            <a:ext cx="50292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盐酸伪麻黄碱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20040" y="2761488"/>
            <a:ext cx="2514600" cy="6172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23" name="Shape 20"/>
          <p:cNvSpPr/>
          <p:nvPr/>
        </p:nvSpPr>
        <p:spPr>
          <a:xfrm>
            <a:off x="2834640" y="2761488"/>
            <a:ext cx="5303520" cy="6172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320040" y="336773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" y="2761488"/>
            <a:ext cx="23682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发热，头痛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2980944" y="2798064"/>
            <a:ext cx="50292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精氨酸布洛芬颗粒、对乙酰氨基酚、</a:t>
            </a:r>
            <a:pPr algn="l" indent="0" marL="0">
              <a:buNone/>
            </a:pPr>
            <a:r>
              <a:rPr lang="en-US" sz="16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复方氨酚烷胺胶囊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20040" y="3378708"/>
            <a:ext cx="2514600" cy="6172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8" name="Shape 25"/>
          <p:cNvSpPr/>
          <p:nvPr/>
        </p:nvSpPr>
        <p:spPr>
          <a:xfrm>
            <a:off x="2834640" y="3378708"/>
            <a:ext cx="5303520" cy="61722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9" name="Shape 26"/>
          <p:cNvSpPr/>
          <p:nvPr/>
        </p:nvSpPr>
        <p:spPr>
          <a:xfrm>
            <a:off x="320040" y="398495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30" name="Text 27"/>
          <p:cNvSpPr/>
          <p:nvPr/>
        </p:nvSpPr>
        <p:spPr>
          <a:xfrm>
            <a:off x="393192" y="3378708"/>
            <a:ext cx="23682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咳嗽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980944" y="3415284"/>
            <a:ext cx="50292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右美沙芬、氨溴索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20040" y="3995928"/>
            <a:ext cx="2514600" cy="6172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33" name="Shape 30"/>
          <p:cNvSpPr/>
          <p:nvPr/>
        </p:nvSpPr>
        <p:spPr>
          <a:xfrm>
            <a:off x="2834640" y="3995928"/>
            <a:ext cx="5303520" cy="6172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320040" y="460217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35" name="Text 32"/>
          <p:cNvSpPr/>
          <p:nvPr/>
        </p:nvSpPr>
        <p:spPr>
          <a:xfrm>
            <a:off x="393192" y="3995928"/>
            <a:ext cx="23682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咽喉及扁桃体红肿、疼痛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2980944" y="4032504"/>
            <a:ext cx="50292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冬凌草糖浆、利咽解毒颗粒、清咽滴丸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20040" y="4613148"/>
            <a:ext cx="2514600" cy="6172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8" name="Shape 35"/>
          <p:cNvSpPr/>
          <p:nvPr/>
        </p:nvSpPr>
        <p:spPr>
          <a:xfrm>
            <a:off x="2834640" y="4613148"/>
            <a:ext cx="5303520" cy="61722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39" name="Shape 36"/>
          <p:cNvSpPr/>
          <p:nvPr/>
        </p:nvSpPr>
        <p:spPr>
          <a:xfrm>
            <a:off x="320040" y="521939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40" name="Text 37"/>
          <p:cNvSpPr/>
          <p:nvPr/>
        </p:nvSpPr>
        <p:spPr>
          <a:xfrm>
            <a:off x="393192" y="4613148"/>
            <a:ext cx="23682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病毒感染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2980944" y="4649724"/>
            <a:ext cx="50292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抗病毒口服液、</a:t>
            </a:r>
            <a:pPr algn="l" indent="0" marL="0">
              <a:buNone/>
            </a:pPr>
            <a:r>
              <a:rPr lang="en-US" sz="16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奥司他韦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（1岁以下慎用）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20040" y="5230368"/>
            <a:ext cx="2514600" cy="6172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43" name="Shape 40"/>
          <p:cNvSpPr/>
          <p:nvPr/>
        </p:nvSpPr>
        <p:spPr>
          <a:xfrm>
            <a:off x="2834640" y="5230368"/>
            <a:ext cx="5303520" cy="6172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320040" y="583661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45" name="Text 42"/>
          <p:cNvSpPr/>
          <p:nvPr/>
        </p:nvSpPr>
        <p:spPr>
          <a:xfrm>
            <a:off x="393192" y="5230368"/>
            <a:ext cx="23682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细菌感染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2980944" y="5266944"/>
            <a:ext cx="50292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（3个月以下慎用）、头孢拉定、罗红霉素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20040" y="5847588"/>
            <a:ext cx="2514600" cy="6172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48" name="Shape 45"/>
          <p:cNvSpPr/>
          <p:nvPr/>
        </p:nvSpPr>
        <p:spPr>
          <a:xfrm>
            <a:off x="2834640" y="5847588"/>
            <a:ext cx="5303520" cy="61722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49" name="Shape 46"/>
          <p:cNvSpPr/>
          <p:nvPr/>
        </p:nvSpPr>
        <p:spPr>
          <a:xfrm>
            <a:off x="320040" y="645383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50" name="Text 47"/>
          <p:cNvSpPr/>
          <p:nvPr/>
        </p:nvSpPr>
        <p:spPr>
          <a:xfrm>
            <a:off x="393192" y="5847588"/>
            <a:ext cx="23682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免疫力低下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2980944" y="5884164"/>
            <a:ext cx="50292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复合维生素、维生素C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366760" y="1024128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366760" y="1024128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54" name="Shape 51"/>
          <p:cNvSpPr/>
          <p:nvPr/>
        </p:nvSpPr>
        <p:spPr>
          <a:xfrm>
            <a:off x="8531352" y="1225296"/>
            <a:ext cx="3099816" cy="758952"/>
          </a:xfrm>
          <a:prstGeom prst="roundRect">
            <a:avLst>
              <a:gd name="adj" fmla="val 6024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55" name="Text 52"/>
          <p:cNvSpPr/>
          <p:nvPr/>
        </p:nvSpPr>
        <p:spPr>
          <a:xfrm>
            <a:off x="8366760" y="13774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8439912" y="1847088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复方氨酚烷胺胶囊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8439912" y="2066544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8366760" y="2377440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366760" y="2377440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60" name="Shape 57"/>
          <p:cNvSpPr/>
          <p:nvPr/>
        </p:nvSpPr>
        <p:spPr>
          <a:xfrm>
            <a:off x="8531352" y="2578608"/>
            <a:ext cx="3099816" cy="758952"/>
          </a:xfrm>
          <a:prstGeom prst="roundRect">
            <a:avLst>
              <a:gd name="adj" fmla="val 6024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61" name="Text 58"/>
          <p:cNvSpPr/>
          <p:nvPr/>
        </p:nvSpPr>
        <p:spPr>
          <a:xfrm>
            <a:off x="8366760" y="27307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8439912" y="320040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冬凌草糖浆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8439912" y="3419856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8366760" y="3730752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366760" y="3730752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66" name="Shape 63"/>
          <p:cNvSpPr/>
          <p:nvPr/>
        </p:nvSpPr>
        <p:spPr>
          <a:xfrm>
            <a:off x="8531352" y="3931920"/>
            <a:ext cx="3099816" cy="758952"/>
          </a:xfrm>
          <a:prstGeom prst="roundRect">
            <a:avLst>
              <a:gd name="adj" fmla="val 6024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67" name="Text 64"/>
          <p:cNvSpPr/>
          <p:nvPr/>
        </p:nvSpPr>
        <p:spPr>
          <a:xfrm>
            <a:off x="8366760" y="40840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</a:t>
            </a:r>
            <a:endParaRPr lang="en-US" sz="1800" dirty="0"/>
          </a:p>
        </p:txBody>
      </p:sp>
      <p:sp>
        <p:nvSpPr>
          <p:cNvPr id="68" name="Text 65"/>
          <p:cNvSpPr/>
          <p:nvPr/>
        </p:nvSpPr>
        <p:spPr>
          <a:xfrm>
            <a:off x="8439912" y="4553712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磷酸奥司他韦颗粒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8439912" y="4773168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8366760" y="5084064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366760" y="5084064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72" name="Shape 69"/>
          <p:cNvSpPr/>
          <p:nvPr/>
        </p:nvSpPr>
        <p:spPr>
          <a:xfrm>
            <a:off x="8531352" y="5285232"/>
            <a:ext cx="3099816" cy="758952"/>
          </a:xfrm>
          <a:prstGeom prst="roundRect">
            <a:avLst>
              <a:gd name="adj" fmla="val 6024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73" name="Text 70"/>
          <p:cNvSpPr/>
          <p:nvPr/>
        </p:nvSpPr>
        <p:spPr>
          <a:xfrm>
            <a:off x="8366760" y="54373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</a:t>
            </a:r>
            <a:endParaRPr lang="en-US" sz="1800" dirty="0"/>
          </a:p>
        </p:txBody>
      </p:sp>
      <p:sp>
        <p:nvSpPr>
          <p:cNvPr id="74" name="Text 71"/>
          <p:cNvSpPr/>
          <p:nvPr/>
        </p:nvSpPr>
        <p:spPr>
          <a:xfrm>
            <a:off x="8439912" y="590702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阿莫西林胶囊</a:t>
            </a:r>
            <a:endParaRPr lang="en-US" sz="1300" dirty="0"/>
          </a:p>
        </p:txBody>
      </p:sp>
      <p:sp>
        <p:nvSpPr>
          <p:cNvPr id="75" name="Text 72"/>
          <p:cNvSpPr/>
          <p:nvPr/>
        </p:nvSpPr>
        <p:spPr>
          <a:xfrm>
            <a:off x="8439912" y="6126480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11338560" cy="525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551176" y="1051560"/>
            <a:ext cx="18288" cy="525780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2" name="Shape 9"/>
          <p:cNvSpPr/>
          <p:nvPr/>
        </p:nvSpPr>
        <p:spPr>
          <a:xfrm>
            <a:off x="411480" y="1508760"/>
            <a:ext cx="2148840" cy="9601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1508760"/>
            <a:ext cx="91897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245790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" y="150876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胶囊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724912" y="160477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对青霉素过敏及皮肤试验阳性患者禁用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孕妇、哺乳期妇女慎用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" y="2468880"/>
            <a:ext cx="2148840" cy="9601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8" name="Shape 15"/>
          <p:cNvSpPr/>
          <p:nvPr/>
        </p:nvSpPr>
        <p:spPr>
          <a:xfrm>
            <a:off x="2560320" y="2468880"/>
            <a:ext cx="9189720" cy="96012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34180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0" name="Text 17"/>
          <p:cNvSpPr/>
          <p:nvPr/>
        </p:nvSpPr>
        <p:spPr>
          <a:xfrm>
            <a:off x="466344" y="246888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头孢拉定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胶囊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724912" y="256489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对头孢菌素过敏者及有青霉素过敏性休克者禁用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孕妇、哺乳期妇女慎用，儿童慎用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11480" y="3429000"/>
            <a:ext cx="2148840" cy="9601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23" name="Shape 20"/>
          <p:cNvSpPr/>
          <p:nvPr/>
        </p:nvSpPr>
        <p:spPr>
          <a:xfrm>
            <a:off x="2560320" y="3429000"/>
            <a:ext cx="91897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411480" y="437814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" y="342900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罗红霉素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胶囊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724912" y="352501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对本品、红霉素或其他大环内酯类药物过敏者禁用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肝功能不全者禁用，肾功能不全者慎用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孕妇及哺乳期妇女慎用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11480" y="4389120"/>
            <a:ext cx="2148840" cy="9601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8" name="Shape 25"/>
          <p:cNvSpPr/>
          <p:nvPr/>
        </p:nvSpPr>
        <p:spPr>
          <a:xfrm>
            <a:off x="2560320" y="4389120"/>
            <a:ext cx="9189720" cy="96012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9" name="Shape 26"/>
          <p:cNvSpPr/>
          <p:nvPr/>
        </p:nvSpPr>
        <p:spPr>
          <a:xfrm>
            <a:off x="411480" y="533826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30" name="Text 27"/>
          <p:cNvSpPr/>
          <p:nvPr/>
        </p:nvSpPr>
        <p:spPr>
          <a:xfrm>
            <a:off x="466344" y="438912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抗病毒口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服液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2724912" y="448513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孕妇、哺乳期妇女禁用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脾胃虚寒泄泻者慎服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11480" y="5349240"/>
            <a:ext cx="2148840" cy="9601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33" name="Shape 30"/>
          <p:cNvSpPr/>
          <p:nvPr/>
        </p:nvSpPr>
        <p:spPr>
          <a:xfrm>
            <a:off x="2560320" y="5349240"/>
            <a:ext cx="91897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466344" y="534924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奥司他韦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2724912" y="544525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1岁以下儿童慎用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1133856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551176" y="1051560"/>
            <a:ext cx="18288" cy="475488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2" name="Shape 9"/>
          <p:cNvSpPr/>
          <p:nvPr/>
        </p:nvSpPr>
        <p:spPr>
          <a:xfrm>
            <a:off x="411480" y="1508760"/>
            <a:ext cx="2148840" cy="214884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1508760"/>
            <a:ext cx="9189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36466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" y="15087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氯雷他定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724912" y="163677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不推荐6岁以下、6岁以上但体重≤30公斤的儿童使用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妊娠期及哺乳期妇女慎用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肝功能不全的患者在医生指导下使用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11480" y="3657600"/>
            <a:ext cx="2148840" cy="21488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8" name="Shape 15"/>
          <p:cNvSpPr/>
          <p:nvPr/>
        </p:nvSpPr>
        <p:spPr>
          <a:xfrm>
            <a:off x="2560320" y="3657600"/>
            <a:ext cx="9189720" cy="21488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365760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盐酸伪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麻黄碱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378561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严重肝肾功能不全者禁用，肝、肾功能不全者慎用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用药不超过7天，症状未缓解，请咨询医师或药师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不能同时服用成份相似的其他抗感冒药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服用本品期间不得饮酒或含有酒精的饮料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心脏病、高血压、甲状腺疾病、糖尿病等患者应在医师指导下使用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78992"/>
            <a:ext cx="11384280" cy="475488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0789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107899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对乙酰氨基酚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903720" y="107899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布洛芬颗粒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11480" y="1554480"/>
            <a:ext cx="1138428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91640" y="1554480"/>
            <a:ext cx="18288" cy="4892040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3" name="Shape 10"/>
          <p:cNvSpPr/>
          <p:nvPr/>
        </p:nvSpPr>
        <p:spPr>
          <a:xfrm>
            <a:off x="6903720" y="1554480"/>
            <a:ext cx="18288" cy="4892040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2004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74520" y="1783080"/>
            <a:ext cx="48463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严重肝肾功能不全者禁用，过敏者禁用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对阿司匹林过敏者慎用，肝肾功能不全者慎用，孕妇及哺乳期妇女慎用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应尽量避免合并使用含有对乙酰氨基酚或其他解热镇痛药的药品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口服一日最大量不超过2克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用于解热连续使用不超过3天，用于止痛不超过5天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服用期间不得饮酒或含有酒精的饮料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1783080"/>
            <a:ext cx="45262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消化性溃疡患者、重度血液异常患者、重度肝脏病患者、重度肾脏病患者、重度心功能不全患者、重度高血压患者禁用，对成分有过敏既往史的患者禁用，对其他非甾体抗炎药过敏者禁用，阿司匹林哮喘或有既往史的患者禁用，孕妇及哺乳期妇女禁用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老年人和儿童（6个月以下）慎重用药，尽可能将用量控制在所需的最小限度内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如出现胃肠道出血或溃疡、胸痛、气短、无力、言语含糊等情况，应停药并咨询医师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1133856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551176" y="1051560"/>
            <a:ext cx="18288" cy="475488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2" name="Shape 9"/>
          <p:cNvSpPr/>
          <p:nvPr/>
        </p:nvSpPr>
        <p:spPr>
          <a:xfrm>
            <a:off x="411480" y="1508760"/>
            <a:ext cx="2148840" cy="214884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1508760"/>
            <a:ext cx="9189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36466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" y="15087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右美沙芬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724912" y="163677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妊娠3个月内妇女，有精神病史者及哺乳期妇女禁用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肝肾功能不全者禁用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2周岁以下儿童使用时请咨询医师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不得与单胺氧化酶抑制剂及抗抑郁药并用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用药不得超过7天，症状未缓解应向医师或药师咨询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服药期间不得驾驶机、车、船，从事高空作业、机械作业及操作精密仪器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11480" y="3657600"/>
            <a:ext cx="2148840" cy="21488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8" name="Shape 15"/>
          <p:cNvSpPr/>
          <p:nvPr/>
        </p:nvSpPr>
        <p:spPr>
          <a:xfrm>
            <a:off x="2560320" y="3657600"/>
            <a:ext cx="9189720" cy="21488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365760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氨溴索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378561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6岁以下儿童应在医师指导下使用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肝肾功能不全者应在医师指导下使用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应避免与中枢镇咳药（如右美沙芬）同时使用，以免稀化的痰液堵塞气道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1133856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551176" y="1051560"/>
            <a:ext cx="18288" cy="475488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2" name="Shape 9"/>
          <p:cNvSpPr/>
          <p:nvPr/>
        </p:nvSpPr>
        <p:spPr>
          <a:xfrm>
            <a:off x="411480" y="1508760"/>
            <a:ext cx="2148840" cy="214884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1508760"/>
            <a:ext cx="9189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36466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" y="15087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利咽解毒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颗粒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724912" y="163677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声嘶、咽痛初起，兼见恶寒发热、鼻流清涕等外感风寒者不适用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有高血压、心脏病、肝病、糖尿病、肾病等慢性病严重者应在医师指导下服用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儿童、孕妇、哺乳期妇女、年老体弱、脾虚便溏者应在医师指导下服用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扁桃体有化脓或发热体温超过38.5℃的患者应医院就诊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服药3天症状无缓解，应去医院就诊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11480" y="3657600"/>
            <a:ext cx="2148840" cy="21488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8" name="Shape 15"/>
          <p:cNvSpPr/>
          <p:nvPr/>
        </p:nvSpPr>
        <p:spPr>
          <a:xfrm>
            <a:off x="2560320" y="3657600"/>
            <a:ext cx="9189720" cy="21488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365760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清咽滴丸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378561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不宜在服药期间同时服用温补性中成药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按照用法用量服用，儿童应在医师指导下服用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服药3天后症状无改善，或出现其他症状，应医院就诊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0584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EAF2FA"/>
          </a:solidFill>
          <a:ln w="12700">
            <a:solidFill>
              <a:srgbClr val="A8C5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07899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急性期须积极采取抗感染治疗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，以免耽误病情，病情稳定后注意增强和改善自身免疫功能的，减少再次感染的机率。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65760" y="2148840"/>
            <a:ext cx="3749040" cy="4343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5875">
            <a:solidFill>
              <a:srgbClr val="A8C5E2"/>
            </a:solidFill>
            <a:prstDash val="solid"/>
          </a:ln>
        </p:spPr>
      </p:sp>
      <p:pic>
        <p:nvPicPr>
          <p:cNvPr id="10" name="Image 1" descr="/Users/liminrong/Projects/chain-pharmacy-content-studio/production-library/templates/settled/disease-health-shenke-blue-v1/generator/assets/care-drin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2331720"/>
            <a:ext cx="3200400" cy="2331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94360" y="4754880"/>
            <a:ext cx="3291840" cy="36576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489204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饮食清淡，营养均衡、多休息、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多饮水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、男士戒烟，女士避免接触二手烟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251960" y="2148840"/>
            <a:ext cx="3749040" cy="4343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5875">
            <a:solidFill>
              <a:srgbClr val="A8C5E2"/>
            </a:solidFill>
            <a:prstDash val="solid"/>
          </a:ln>
        </p:spPr>
      </p:sp>
      <p:pic>
        <p:nvPicPr>
          <p:cNvPr id="14" name="Image 2" descr="/Users/liminrong/Projects/chain-pharmacy-content-studio/production-library/templates/settled/disease-health-shenke-blue-v1/generator/assets/care-no-crow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26280" y="2331720"/>
            <a:ext cx="3200400" cy="23317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480560" y="4754880"/>
            <a:ext cx="3291840" cy="36576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16" name="Text 11"/>
          <p:cNvSpPr/>
          <p:nvPr/>
        </p:nvSpPr>
        <p:spPr>
          <a:xfrm>
            <a:off x="4507992" y="489204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生活环境保持整洁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通风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，尽量避免去人群聚集的场所，减少与病原体的接触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8138160" y="2148840"/>
            <a:ext cx="3749040" cy="4343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5875">
            <a:solidFill>
              <a:srgbClr val="A8C5E2"/>
            </a:solidFill>
            <a:prstDash val="solid"/>
          </a:ln>
        </p:spPr>
      </p:sp>
      <p:pic>
        <p:nvPicPr>
          <p:cNvPr id="18" name="Image 3" descr="/Users/liminrong/Projects/chain-pharmacy-content-studio/production-library/templates/settled/disease-health-shenke-blue-v1/generator/assets/care-exercis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12480" y="2331720"/>
            <a:ext cx="3200400" cy="23317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366760" y="4754880"/>
            <a:ext cx="3291840" cy="36576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20" name="Text 14"/>
          <p:cNvSpPr/>
          <p:nvPr/>
        </p:nvSpPr>
        <p:spPr>
          <a:xfrm>
            <a:off x="8394192" y="489204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经常锻炼，增强体质，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提高自身免疫力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3000" dirty="0"/>
          </a:p>
        </p:txBody>
      </p:sp>
      <p:pic>
        <p:nvPicPr>
          <p:cNvPr id="6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46304"/>
            <a:ext cx="141732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51560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A8C5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51560"/>
            <a:ext cx="3749040" cy="10972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132588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儿童、老人可以常规接种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流感疫苗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，同时并合用其他的预防手段</a:t>
            </a:r>
            <a:endParaRPr lang="en-US" sz="1700" dirty="0"/>
          </a:p>
        </p:txBody>
      </p:sp>
      <p:pic>
        <p:nvPicPr>
          <p:cNvPr id="10" name="Image 1" descr="/Users/liminrong/Projects/chain-pharmacy-content-studio/production-library/templates/settled/disease-health-shenke-blue-v1/generator/assets/care-vacc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" y="3520440"/>
            <a:ext cx="3291840" cy="2697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51960" y="1051560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A8C5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51960" y="1051560"/>
            <a:ext cx="3749040" cy="10972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3" name="Text 9"/>
          <p:cNvSpPr/>
          <p:nvPr/>
        </p:nvSpPr>
        <p:spPr>
          <a:xfrm>
            <a:off x="4453128" y="132588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1岁以下幼儿慎用感冒药；孕妇、哺乳期妇女慎用感冒药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，以免影响胎儿婴儿</a:t>
            </a:r>
            <a:endParaRPr lang="en-US" sz="1700" dirty="0"/>
          </a:p>
        </p:txBody>
      </p:sp>
      <p:pic>
        <p:nvPicPr>
          <p:cNvPr id="14" name="Image 2" descr="/Users/liminrong/Projects/chain-pharmacy-content-studio/production-library/templates/settled/disease-health-shenke-blue-v1/generator/assets/care-special-p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80560" y="3520440"/>
            <a:ext cx="3291840" cy="26974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138160" y="1051560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A8C5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138160" y="1051560"/>
            <a:ext cx="3749040" cy="10972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7" name="Text 12"/>
          <p:cNvSpPr/>
          <p:nvPr/>
        </p:nvSpPr>
        <p:spPr>
          <a:xfrm>
            <a:off x="8339328" y="132588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具有一定的传染性，提醒患者密切接触的家人注意隔离防护，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避免交叉感染</a:t>
            </a:r>
            <a:endParaRPr lang="en-US" sz="1700" dirty="0"/>
          </a:p>
        </p:txBody>
      </p:sp>
      <p:pic>
        <p:nvPicPr>
          <p:cNvPr id="18" name="Image 3" descr="/Users/liminrong/Projects/chain-pharmacy-content-studio/production-library/templates/settled/disease-health-shenke-blue-v1/generator/assets/care-ventilat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66760" y="3520440"/>
            <a:ext cx="32918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4A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36576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36576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36576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36576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75520" y="36576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329184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329184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329184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329184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329184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75520" y="3291840"/>
            <a:ext cx="1645920" cy="1097280"/>
          </a:xfrm>
          <a:prstGeom prst="ellipse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1417320"/>
            <a:ext cx="7223760" cy="3200400"/>
          </a:xfrm>
          <a:prstGeom prst="roundRect">
            <a:avLst>
              <a:gd name="adj" fmla="val 2857"/>
            </a:avLst>
          </a:prstGeom>
          <a:solidFill>
            <a:srgbClr val="0B5AB5">
              <a:alpha val="82000"/>
            </a:srgbClr>
          </a:solidFill>
          <a:ln w="38100">
            <a:solidFill>
              <a:srgbClr val="5EC8F0"/>
            </a:solidFill>
            <a:prstDash val="solid"/>
          </a:ln>
        </p:spPr>
      </p:sp>
      <p:pic>
        <p:nvPicPr>
          <p:cNvPr id="15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56032"/>
            <a:ext cx="14173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651760" y="1783080"/>
            <a:ext cx="685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专业服务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助力健康</a:t>
            </a:r>
            <a:endParaRPr lang="en-US" sz="4600" dirty="0"/>
          </a:p>
        </p:txBody>
      </p:sp>
      <p:sp>
        <p:nvSpPr>
          <p:cNvPr id="17" name="Shape 14"/>
          <p:cNvSpPr/>
          <p:nvPr/>
        </p:nvSpPr>
        <p:spPr>
          <a:xfrm>
            <a:off x="7680960" y="5349240"/>
            <a:ext cx="4206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0" y="5349240"/>
            <a:ext cx="4206240" cy="365760"/>
          </a:xfrm>
          <a:prstGeom prst="rect">
            <a:avLst/>
          </a:prstGeom>
          <a:solidFill>
            <a:srgbClr val="1E6BB8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0" y="5349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宿凌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863840" y="58064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副教授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63840" y="61264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药事管理学教研室副主任 硕士生导师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7668" y="192024"/>
            <a:ext cx="4806086" cy="6583680"/>
          </a:xfrm>
          <a:prstGeom prst="roundRect">
            <a:avLst>
              <a:gd name="adj" fmla="val 1142"/>
            </a:avLst>
          </a:prstGeom>
          <a:solidFill>
            <a:srgbClr val="C5D0DE"/>
          </a:solidFill>
          <a:ln/>
        </p:spPr>
      </p:sp>
      <p:sp>
        <p:nvSpPr>
          <p:cNvPr id="3" name="Shape 1"/>
          <p:cNvSpPr/>
          <p:nvPr/>
        </p:nvSpPr>
        <p:spPr>
          <a:xfrm>
            <a:off x="3692804" y="137160"/>
            <a:ext cx="4806086" cy="6583680"/>
          </a:xfrm>
          <a:prstGeom prst="roundRect">
            <a:avLst>
              <a:gd name="adj" fmla="val 951"/>
            </a:avLst>
          </a:prstGeom>
          <a:solidFill>
            <a:srgbClr val="FFFFFF"/>
          </a:solidFill>
          <a:ln w="31750">
            <a:solidFill>
              <a:srgbClr val="1A4F8C"/>
            </a:solidFill>
            <a:prstDash val="solid"/>
          </a:ln>
        </p:spPr>
      </p:sp>
      <p:pic>
        <p:nvPicPr>
          <p:cNvPr id="4" name="Image 0" descr="/Users/liminrong/Projects/chain-pharmacy-content-studio/production-library/templates/settled/disease-health-shenke-blue-v1/generator/assets/summary-serie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57396" y="283464"/>
            <a:ext cx="8229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6076" y="283464"/>
            <a:ext cx="35625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健康顾问专业力系列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857396" y="667512"/>
            <a:ext cx="4476902" cy="438912"/>
          </a:xfrm>
          <a:prstGeom prst="roundRect">
            <a:avLst>
              <a:gd name="adj" fmla="val 8333"/>
            </a:avLst>
          </a:prstGeom>
          <a:solidFill>
            <a:srgbClr val="1A4F8C"/>
          </a:solidFill>
          <a:ln/>
        </p:spPr>
      </p:sp>
      <p:sp>
        <p:nvSpPr>
          <p:cNvPr id="7" name="Text 4"/>
          <p:cNvSpPr/>
          <p:nvPr/>
        </p:nvSpPr>
        <p:spPr>
          <a:xfrm>
            <a:off x="3857396" y="667512"/>
            <a:ext cx="44769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呼吸系统课程  急性上呼吸道感染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57396" y="1234440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9" name="Shape 6"/>
          <p:cNvSpPr/>
          <p:nvPr/>
        </p:nvSpPr>
        <p:spPr>
          <a:xfrm>
            <a:off x="4058564" y="1197864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1A4F8C"/>
          </a:solidFill>
          <a:ln/>
        </p:spPr>
      </p:sp>
      <p:sp>
        <p:nvSpPr>
          <p:cNvPr id="10" name="Text 7"/>
          <p:cNvSpPr/>
          <p:nvPr/>
        </p:nvSpPr>
        <p:spPr>
          <a:xfrm>
            <a:off x="4058564" y="11978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疾病概览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9852" y="1197864"/>
            <a:ext cx="31144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急性上呼吸道感染是鼻腔、咽或喉部急性炎症的概称，是呼吸道最常见的一种传染疾病。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57396" y="1892808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13" name="Shape 10"/>
          <p:cNvSpPr/>
          <p:nvPr/>
        </p:nvSpPr>
        <p:spPr>
          <a:xfrm>
            <a:off x="4058564" y="1856232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1A4F8C"/>
          </a:solidFill>
          <a:ln/>
        </p:spPr>
      </p:sp>
      <p:sp>
        <p:nvSpPr>
          <p:cNvPr id="14" name="Text 11"/>
          <p:cNvSpPr/>
          <p:nvPr/>
        </p:nvSpPr>
        <p:spPr>
          <a:xfrm>
            <a:off x="4058564" y="18562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临床表现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19852" y="1856232"/>
            <a:ext cx="311444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1、普通感冒：打喷嚏、鼻塞、流水样鼻涕等鼻咽部卡他症状，有无咽痛、咽痒、声哑等。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2、病毒性咽炎、喉炎：患者有咽喉部发痒和烧灼感，声音嘶哑，讲话困难，咳嗽时疼痛等。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3、疱疹性咽峡炎：患者有明显的咽痛、发热。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57396" y="2944368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17" name="Shape 14"/>
          <p:cNvSpPr/>
          <p:nvPr/>
        </p:nvSpPr>
        <p:spPr>
          <a:xfrm>
            <a:off x="4058564" y="2907792"/>
            <a:ext cx="1051560" cy="292608"/>
          </a:xfrm>
          <a:prstGeom prst="roundRect">
            <a:avLst>
              <a:gd name="adj" fmla="val 9375"/>
            </a:avLst>
          </a:prstGeom>
          <a:solidFill>
            <a:srgbClr val="1A4F8C"/>
          </a:solidFill>
          <a:ln/>
        </p:spPr>
      </p:sp>
      <p:sp>
        <p:nvSpPr>
          <p:cNvPr id="18" name="Text 15"/>
          <p:cNvSpPr/>
          <p:nvPr/>
        </p:nvSpPr>
        <p:spPr>
          <a:xfrm>
            <a:off x="4058564" y="29077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48836" y="3255264"/>
          <a:ext cx="4294022" cy="960120"/>
        </p:xfrm>
        <a:graphic>
          <a:graphicData uri="http://schemas.openxmlformats.org/drawingml/2006/table">
            <a:tbl>
              <a:tblPr/>
              <a:tblGrid>
                <a:gridCol w="858804"/>
                <a:gridCol w="944685"/>
                <a:gridCol w="2490533"/>
              </a:tblGrid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具体用药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5A8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消炎杀菌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阿莫西林、头孢拉定、罗红霉素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缓解症状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冬凌草糖浆、利咽解毒颗粒、清咽滴丸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关联用药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增强体质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复合维生素、维生素C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3948836" y="4306824"/>
            <a:ext cx="1358189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948836" y="4306824"/>
            <a:ext cx="1358189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2" name="Shape 18"/>
          <p:cNvSpPr/>
          <p:nvPr/>
        </p:nvSpPr>
        <p:spPr>
          <a:xfrm>
            <a:off x="4113428" y="4507992"/>
            <a:ext cx="1029005" cy="246888"/>
          </a:xfrm>
          <a:prstGeom prst="roundRect">
            <a:avLst>
              <a:gd name="adj" fmla="val 18519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23" name="Text 19"/>
          <p:cNvSpPr/>
          <p:nvPr/>
        </p:nvSpPr>
        <p:spPr>
          <a:xfrm>
            <a:off x="3948836" y="4516770"/>
            <a:ext cx="1358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021988" y="4617720"/>
            <a:ext cx="1211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阿莫西林胶囊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021988" y="4837176"/>
            <a:ext cx="12118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380177" y="4306824"/>
            <a:ext cx="1358189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380177" y="4306824"/>
            <a:ext cx="1358189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8" name="Shape 24"/>
          <p:cNvSpPr/>
          <p:nvPr/>
        </p:nvSpPr>
        <p:spPr>
          <a:xfrm>
            <a:off x="5544769" y="4507992"/>
            <a:ext cx="1029005" cy="246888"/>
          </a:xfrm>
          <a:prstGeom prst="roundRect">
            <a:avLst>
              <a:gd name="adj" fmla="val 18519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29" name="Text 25"/>
          <p:cNvSpPr/>
          <p:nvPr/>
        </p:nvSpPr>
        <p:spPr>
          <a:xfrm>
            <a:off x="5380177" y="4516770"/>
            <a:ext cx="1358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5453329" y="4617720"/>
            <a:ext cx="1211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冬凌草糖浆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453329" y="4837176"/>
            <a:ext cx="12118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811518" y="4306824"/>
            <a:ext cx="1358189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811518" y="4306824"/>
            <a:ext cx="1358189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34" name="Shape 30"/>
          <p:cNvSpPr/>
          <p:nvPr/>
        </p:nvSpPr>
        <p:spPr>
          <a:xfrm>
            <a:off x="6976110" y="4507992"/>
            <a:ext cx="1029005" cy="246888"/>
          </a:xfrm>
          <a:prstGeom prst="roundRect">
            <a:avLst>
              <a:gd name="adj" fmla="val 18519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35" name="Text 31"/>
          <p:cNvSpPr/>
          <p:nvPr/>
        </p:nvSpPr>
        <p:spPr>
          <a:xfrm>
            <a:off x="6811518" y="4516770"/>
            <a:ext cx="1358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6884670" y="4617720"/>
            <a:ext cx="1211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维生素C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884670" y="4837176"/>
            <a:ext cx="12118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3857396" y="5212080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39" name="Shape 35"/>
          <p:cNvSpPr/>
          <p:nvPr/>
        </p:nvSpPr>
        <p:spPr>
          <a:xfrm>
            <a:off x="4058564" y="5175504"/>
            <a:ext cx="1051560" cy="292608"/>
          </a:xfrm>
          <a:prstGeom prst="roundRect">
            <a:avLst>
              <a:gd name="adj" fmla="val 9375"/>
            </a:avLst>
          </a:prstGeom>
          <a:solidFill>
            <a:srgbClr val="1A4F8C"/>
          </a:solidFill>
          <a:ln/>
        </p:spPr>
      </p:sp>
      <p:sp>
        <p:nvSpPr>
          <p:cNvPr id="40" name="Text 36"/>
          <p:cNvSpPr/>
          <p:nvPr/>
        </p:nvSpPr>
        <p:spPr>
          <a:xfrm>
            <a:off x="4058564" y="51755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3967124" y="5522976"/>
            <a:ext cx="433974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注意隔离防护，避免交叉感染。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1岁以下幼儿慎用感冒药；孕妇、哺乳期妇女慎用感冒药，以免影响胎儿婴儿。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经常锻炼，增强体质，提高自身免疫力。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饮食清淡，营养均衡，多休息、多饮水。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5.生活环境保持整洁通风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18288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手机竖版一页通 · 可截图转发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急性上呼吸道感染 · 疾病健康知识培训（可编辑金样 v2）</dc:title>
  <dc:subject>template.disease-health-shenke-blue-v1</dc:subject>
  <dc:creator>chain-pharmacy-content-studio</dc:creator>
  <cp:lastModifiedBy>chain-pharmacy-content-studio</cp:lastModifiedBy>
  <cp:revision>1</cp:revision>
  <dcterms:created xsi:type="dcterms:W3CDTF">2026-08-03T09:29:34Z</dcterms:created>
  <dcterms:modified xsi:type="dcterms:W3CDTF">2026-08-03T09:29:34Z</dcterms:modified>
</cp:coreProperties>
</file>