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0A3A7A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0"/>
            <a:ext cx="960120" cy="2834640"/>
          </a:xfrm>
          <a:prstGeom prst="rect">
            <a:avLst/>
          </a:prstGeom>
          <a:solidFill>
            <a:srgbClr val="1A6BC4">
              <a:alpha val="3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2286000" y="0"/>
            <a:ext cx="960120" cy="3337560"/>
          </a:xfrm>
          <a:prstGeom prst="rect">
            <a:avLst/>
          </a:prstGeom>
          <a:solidFill>
            <a:srgbClr val="1A6BC4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977640" y="0"/>
            <a:ext cx="960120" cy="3840480"/>
          </a:xfrm>
          <a:prstGeom prst="rect">
            <a:avLst/>
          </a:prstGeom>
          <a:solidFill>
            <a:srgbClr val="1A6BC4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669280" y="0"/>
            <a:ext cx="960120" cy="2834640"/>
          </a:xfrm>
          <a:prstGeom prst="rect">
            <a:avLst/>
          </a:prstGeom>
          <a:solidFill>
            <a:srgbClr val="1A6BC4">
              <a:alpha val="3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360920" y="0"/>
            <a:ext cx="960120" cy="3337560"/>
          </a:xfrm>
          <a:prstGeom prst="rect">
            <a:avLst/>
          </a:prstGeom>
          <a:solidFill>
            <a:srgbClr val="1A6BC4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052560" y="0"/>
            <a:ext cx="960120" cy="3840480"/>
          </a:xfrm>
          <a:prstGeom prst="rect">
            <a:avLst/>
          </a:prstGeom>
          <a:solidFill>
            <a:srgbClr val="1A6BC4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44200" y="0"/>
            <a:ext cx="960120" cy="2834640"/>
          </a:xfrm>
          <a:prstGeom prst="rect">
            <a:avLst/>
          </a:prstGeom>
          <a:solidFill>
            <a:srgbClr val="1A6BC4">
              <a:alpha val="3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-2194560" y="2999232"/>
            <a:ext cx="17282160" cy="5394960"/>
          </a:xfrm>
          <a:prstGeom prst="ellipse">
            <a:avLst/>
          </a:prstGeom>
          <a:solidFill>
            <a:srgbClr val="4A90D9">
              <a:alpha val="6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-2011680" y="3310128"/>
            <a:ext cx="16916400" cy="5394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0" descr="/Users/liminrong/Projects/chain-pharmacy-content-studio/production-library/templates/settled/disease-health-shenke-blue-v1/generator/assets/logo-shenke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1795549" cy="5486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138160" y="566928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9DF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371600" y="1627632"/>
            <a:ext cx="9445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9CC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健康知识培训课程  ·  HEALTH TRAINING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97280" y="1993392"/>
            <a:ext cx="9994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急性上呼吸道感染</a:t>
            </a:r>
            <a:endParaRPr lang="en-US" sz="5000" dirty="0"/>
          </a:p>
        </p:txBody>
      </p:sp>
      <p:sp>
        <p:nvSpPr>
          <p:cNvPr id="16" name="Shape 13"/>
          <p:cNvSpPr/>
          <p:nvPr/>
        </p:nvSpPr>
        <p:spPr>
          <a:xfrm>
            <a:off x="4636008" y="3200400"/>
            <a:ext cx="292608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636008" y="3200400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2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呼吸系统系列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0080" y="62910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仅限于内部学习 · 用药须遵医嘱与说明书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635240" y="5230368"/>
            <a:ext cx="4160520" cy="1170432"/>
          </a:xfrm>
          <a:prstGeom prst="roundRect">
            <a:avLst>
              <a:gd name="adj" fmla="val 3906"/>
            </a:avLst>
          </a:prstGeom>
          <a:solidFill>
            <a:srgbClr val="F0F6FC"/>
          </a:solidFill>
          <a:ln w="9525">
            <a:solidFill>
              <a:srgbClr val="C8D6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35240" y="5230368"/>
            <a:ext cx="128016" cy="1170432"/>
          </a:xfrm>
          <a:prstGeom prst="rect">
            <a:avLst/>
          </a:prstGeom>
          <a:solidFill>
            <a:srgbClr val="1E6BB8"/>
          </a:solidFill>
          <a:ln/>
        </p:spPr>
      </p:sp>
      <p:sp>
        <p:nvSpPr>
          <p:cNvPr id="21" name="Text 18"/>
          <p:cNvSpPr/>
          <p:nvPr/>
        </p:nvSpPr>
        <p:spPr>
          <a:xfrm>
            <a:off x="7973568" y="539496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宿凌　</a:t>
            </a:r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 · 教授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973568" y="579729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药事管理学 · 教研室副主任 · 硕士生导师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iminrong/Projects/chain-pharmacy-content-studio/production-library/templates/settled/disease-health-shenke-blue-v1/generator/assets/agenda-buil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0" y="0"/>
            <a:ext cx="41148" cy="6858000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1"/>
          <p:cNvSpPr/>
          <p:nvPr/>
        </p:nvSpPr>
        <p:spPr>
          <a:xfrm>
            <a:off x="5705856" y="0"/>
            <a:ext cx="6485839" cy="68580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1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2309" y="274320"/>
            <a:ext cx="1496291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309360" y="89611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A4F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3800" dirty="0"/>
          </a:p>
        </p:txBody>
      </p:sp>
      <p:sp>
        <p:nvSpPr>
          <p:cNvPr id="7" name="Text 3"/>
          <p:cNvSpPr/>
          <p:nvPr/>
        </p:nvSpPr>
        <p:spPr>
          <a:xfrm>
            <a:off x="6309360" y="15179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6400800" y="1938528"/>
            <a:ext cx="47091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400800" y="1938528"/>
            <a:ext cx="713232" cy="713232"/>
          </a:xfrm>
          <a:prstGeom prst="roundRect">
            <a:avLst>
              <a:gd name="adj" fmla="val 7692"/>
            </a:avLst>
          </a:prstGeom>
          <a:solidFill>
            <a:srgbClr val="1A4F8C"/>
          </a:solidFill>
          <a:ln/>
        </p:spPr>
      </p:sp>
      <p:sp>
        <p:nvSpPr>
          <p:cNvPr id="10" name="Shape 6"/>
          <p:cNvSpPr/>
          <p:nvPr/>
        </p:nvSpPr>
        <p:spPr>
          <a:xfrm>
            <a:off x="6757416" y="1938528"/>
            <a:ext cx="356616" cy="713232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11" name="Text 7"/>
          <p:cNvSpPr/>
          <p:nvPr/>
        </p:nvSpPr>
        <p:spPr>
          <a:xfrm>
            <a:off x="6400800" y="1938528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360920" y="1938528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疾病概览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400800" y="2798064"/>
            <a:ext cx="47091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0" y="2798064"/>
            <a:ext cx="713232" cy="713232"/>
          </a:xfrm>
          <a:prstGeom prst="roundRect">
            <a:avLst>
              <a:gd name="adj" fmla="val 7692"/>
            </a:avLst>
          </a:prstGeom>
          <a:solidFill>
            <a:srgbClr val="1A4F8C"/>
          </a:solidFill>
          <a:ln/>
        </p:spPr>
      </p:sp>
      <p:sp>
        <p:nvSpPr>
          <p:cNvPr id="15" name="Shape 11"/>
          <p:cNvSpPr/>
          <p:nvPr/>
        </p:nvSpPr>
        <p:spPr>
          <a:xfrm>
            <a:off x="6757416" y="2798064"/>
            <a:ext cx="356616" cy="713232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16" name="Text 12"/>
          <p:cNvSpPr/>
          <p:nvPr/>
        </p:nvSpPr>
        <p:spPr>
          <a:xfrm>
            <a:off x="6400800" y="2798064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7360920" y="2798064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临床表现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6400800" y="3657600"/>
            <a:ext cx="47091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00800" y="3657600"/>
            <a:ext cx="713232" cy="713232"/>
          </a:xfrm>
          <a:prstGeom prst="roundRect">
            <a:avLst>
              <a:gd name="adj" fmla="val 7692"/>
            </a:avLst>
          </a:prstGeom>
          <a:solidFill>
            <a:srgbClr val="1A4F8C"/>
          </a:solidFill>
          <a:ln/>
        </p:spPr>
      </p:sp>
      <p:sp>
        <p:nvSpPr>
          <p:cNvPr id="20" name="Shape 16"/>
          <p:cNvSpPr/>
          <p:nvPr/>
        </p:nvSpPr>
        <p:spPr>
          <a:xfrm>
            <a:off x="6757416" y="3657600"/>
            <a:ext cx="356616" cy="713232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21" name="Text 17"/>
          <p:cNvSpPr/>
          <p:nvPr/>
        </p:nvSpPr>
        <p:spPr>
          <a:xfrm>
            <a:off x="6400800" y="36576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7360920" y="3657600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检查方法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6400800" y="4517136"/>
            <a:ext cx="47091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400800" y="4517136"/>
            <a:ext cx="713232" cy="713232"/>
          </a:xfrm>
          <a:prstGeom prst="roundRect">
            <a:avLst>
              <a:gd name="adj" fmla="val 7692"/>
            </a:avLst>
          </a:prstGeom>
          <a:solidFill>
            <a:srgbClr val="1A4F8C"/>
          </a:solidFill>
          <a:ln/>
        </p:spPr>
      </p:sp>
      <p:sp>
        <p:nvSpPr>
          <p:cNvPr id="25" name="Shape 21"/>
          <p:cNvSpPr/>
          <p:nvPr/>
        </p:nvSpPr>
        <p:spPr>
          <a:xfrm>
            <a:off x="6757416" y="4517136"/>
            <a:ext cx="356616" cy="713232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26" name="Text 22"/>
          <p:cNvSpPr/>
          <p:nvPr/>
        </p:nvSpPr>
        <p:spPr>
          <a:xfrm>
            <a:off x="6400800" y="451713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27" name="Text 23"/>
          <p:cNvSpPr/>
          <p:nvPr/>
        </p:nvSpPr>
        <p:spPr>
          <a:xfrm>
            <a:off x="7360920" y="4517136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治疗用药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6400800" y="5376672"/>
            <a:ext cx="470916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0" y="5376672"/>
            <a:ext cx="713232" cy="713232"/>
          </a:xfrm>
          <a:prstGeom prst="roundRect">
            <a:avLst>
              <a:gd name="adj" fmla="val 7692"/>
            </a:avLst>
          </a:prstGeom>
          <a:solidFill>
            <a:srgbClr val="1A4F8C"/>
          </a:solidFill>
          <a:ln/>
        </p:spPr>
      </p:sp>
      <p:sp>
        <p:nvSpPr>
          <p:cNvPr id="30" name="Shape 26"/>
          <p:cNvSpPr/>
          <p:nvPr/>
        </p:nvSpPr>
        <p:spPr>
          <a:xfrm>
            <a:off x="6757416" y="5376672"/>
            <a:ext cx="356616" cy="713232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31" name="Text 27"/>
          <p:cNvSpPr/>
          <p:nvPr/>
        </p:nvSpPr>
        <p:spPr>
          <a:xfrm>
            <a:off x="6400800" y="537667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000" dirty="0"/>
          </a:p>
        </p:txBody>
      </p:sp>
      <p:sp>
        <p:nvSpPr>
          <p:cNvPr id="32" name="Text 28"/>
          <p:cNvSpPr/>
          <p:nvPr/>
        </p:nvSpPr>
        <p:spPr>
          <a:xfrm>
            <a:off x="7360920" y="5376672"/>
            <a:ext cx="3611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专业关怀</a:t>
            </a:r>
            <a:endParaRPr lang="en-US" sz="2000" dirty="0"/>
          </a:p>
        </p:txBody>
      </p:sp>
      <p:sp>
        <p:nvSpPr>
          <p:cNvPr id="33" name="Shape 29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34" name="Text 30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2 / 18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8D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41248"/>
            <a:ext cx="12191695" cy="32004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621792" cy="475488"/>
          </a:xfrm>
          <a:prstGeom prst="roundRect">
            <a:avLst>
              <a:gd name="adj" fmla="val 9615"/>
            </a:avLst>
          </a:prstGeom>
          <a:solidFill>
            <a:srgbClr val="2B6CB0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82880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疾病概览</a:t>
            </a:r>
            <a:endParaRPr lang="en-US" sz="3000" dirty="0"/>
          </a:p>
        </p:txBody>
      </p:sp>
      <p:pic>
        <p:nvPicPr>
          <p:cNvPr id="7" name="Image 0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749" y="210312"/>
            <a:ext cx="1496291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65562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  ·  参课  ·  呼吸系统系列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3 / 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11480" y="1042416"/>
            <a:ext cx="4206240" cy="512064"/>
          </a:xfrm>
          <a:prstGeom prst="roundRect">
            <a:avLst>
              <a:gd name="adj" fmla="val 10714"/>
            </a:avLst>
          </a:prstGeom>
          <a:solidFill>
            <a:srgbClr val="1A4F8C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11480" y="1042416"/>
            <a:ext cx="4206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急性上呼吸道感染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11480" y="1737360"/>
            <a:ext cx="722376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22225">
            <a:solidFill>
              <a:srgbClr val="5B9BD5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9B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1097280" y="1920240"/>
            <a:ext cx="630936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鼻腔、咽或喉部急性炎症</a:t>
            </a:r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的概称，是呼吸道最常见的一种传染疾病。
</a:t>
            </a:r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本病全年皆可发病，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冬春季节多发</a:t>
            </a:r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，多为散发，但常在气候突变时流行。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7818120" y="1737360"/>
            <a:ext cx="39319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pic>
        <p:nvPicPr>
          <p:cNvPr id="17" name="Image 1" descr="/Users/liminrong/Projects/chain-pharmacy-content-studio/production-library/templates/settled/disease-health-shenke-blue-v1/generator/assets/overview-uri-illustra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91272" y="1810512"/>
            <a:ext cx="3785616" cy="200253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11480" y="4114800"/>
            <a:ext cx="2194560" cy="384048"/>
          </a:xfrm>
          <a:prstGeom prst="roundRect">
            <a:avLst>
              <a:gd name="adj" fmla="val 9524"/>
            </a:avLst>
          </a:prstGeom>
          <a:solidFill>
            <a:srgbClr val="E3EEF8"/>
          </a:solidFill>
          <a:ln/>
        </p:spPr>
      </p:sp>
      <p:sp>
        <p:nvSpPr>
          <p:cNvPr id="19" name="Shape 15"/>
          <p:cNvSpPr/>
          <p:nvPr/>
        </p:nvSpPr>
        <p:spPr>
          <a:xfrm>
            <a:off x="411480" y="4114800"/>
            <a:ext cx="91440" cy="38404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20" name="Text 16"/>
          <p:cNvSpPr/>
          <p:nvPr/>
        </p:nvSpPr>
        <p:spPr>
          <a:xfrm>
            <a:off x="612648" y="41148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4F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病因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411480" y="4617720"/>
            <a:ext cx="11338560" cy="178308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640080" y="4754880"/>
            <a:ext cx="108813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大约70%是由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</a:t>
            </a:r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引起，少数由细菌所致。还因淋雨、受凉、气候改变、过度劳累等导致呼吸道防御功能下降，病原体繁殖而诱发本病。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8D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41248"/>
            <a:ext cx="12191695" cy="32004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621792" cy="475488"/>
          </a:xfrm>
          <a:prstGeom prst="roundRect">
            <a:avLst>
              <a:gd name="adj" fmla="val 9615"/>
            </a:avLst>
          </a:prstGeom>
          <a:solidFill>
            <a:srgbClr val="2B6CB0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82880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临床表现</a:t>
            </a:r>
            <a:endParaRPr lang="en-US" sz="3000" dirty="0"/>
          </a:p>
        </p:txBody>
      </p:sp>
      <p:pic>
        <p:nvPicPr>
          <p:cNvPr id="7" name="Image 0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749" y="210312"/>
            <a:ext cx="1496291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65562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  ·  参课  ·  呼吸系统系列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4 / 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1042416"/>
            <a:ext cx="7040880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270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1042416"/>
            <a:ext cx="7040880" cy="384048"/>
          </a:xfrm>
          <a:prstGeom prst="roundRect">
            <a:avLst>
              <a:gd name="adj" fmla="val 14286"/>
            </a:avLst>
          </a:prstGeom>
          <a:solidFill>
            <a:srgbClr val="E3EEF8"/>
          </a:solidFill>
          <a:ln/>
        </p:spPr>
      </p:sp>
      <p:sp>
        <p:nvSpPr>
          <p:cNvPr id="13" name="Shape 10"/>
          <p:cNvSpPr/>
          <p:nvPr/>
        </p:nvSpPr>
        <p:spPr>
          <a:xfrm>
            <a:off x="365760" y="1298448"/>
            <a:ext cx="7040880" cy="146304"/>
          </a:xfrm>
          <a:prstGeom prst="rect">
            <a:avLst/>
          </a:prstGeom>
          <a:solidFill>
            <a:srgbClr val="E3EEF8"/>
          </a:solidFill>
          <a:ln/>
        </p:spPr>
      </p:sp>
      <p:sp>
        <p:nvSpPr>
          <p:cNvPr id="14" name="Shape 11"/>
          <p:cNvSpPr/>
          <p:nvPr/>
        </p:nvSpPr>
        <p:spPr>
          <a:xfrm>
            <a:off x="365760" y="1042416"/>
            <a:ext cx="109728" cy="38404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15" name="Text 12"/>
          <p:cNvSpPr/>
          <p:nvPr/>
        </p:nvSpPr>
        <p:spPr>
          <a:xfrm>
            <a:off x="594360" y="1042416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4F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普通感冒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548640" y="1499616"/>
            <a:ext cx="667512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常见疾病起病，应注意询问有无打喷嚏、鼻塞、流水样鼻涕等鼻咽部卡他症状，有无咽痛、咽痒、声哑等。一般无明显畏寒、高热等全身症状。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365760" y="2560320"/>
            <a:ext cx="7040880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270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560320"/>
            <a:ext cx="7040880" cy="384048"/>
          </a:xfrm>
          <a:prstGeom prst="roundRect">
            <a:avLst>
              <a:gd name="adj" fmla="val 14286"/>
            </a:avLst>
          </a:prstGeom>
          <a:solidFill>
            <a:srgbClr val="E3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65760" y="2816352"/>
            <a:ext cx="7040880" cy="146304"/>
          </a:xfrm>
          <a:prstGeom prst="rect">
            <a:avLst/>
          </a:prstGeom>
          <a:solidFill>
            <a:srgbClr val="E3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365760" y="2560320"/>
            <a:ext cx="109728" cy="38404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256032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4F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病毒性咽炎、喉炎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548640" y="3017520"/>
            <a:ext cx="66751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患者有咽喉部发痒和烧灼感，注意询问有无发热，有无声音嘶哑、讲话困难、咳嗽时疼痛等。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365760" y="4078224"/>
            <a:ext cx="7040880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270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65760" y="4078224"/>
            <a:ext cx="7040880" cy="384048"/>
          </a:xfrm>
          <a:prstGeom prst="roundRect">
            <a:avLst>
              <a:gd name="adj" fmla="val 14286"/>
            </a:avLst>
          </a:prstGeom>
          <a:solidFill>
            <a:srgbClr val="E3EEF8"/>
          </a:solidFill>
          <a:ln/>
        </p:spPr>
      </p:sp>
      <p:sp>
        <p:nvSpPr>
          <p:cNvPr id="25" name="Shape 22"/>
          <p:cNvSpPr/>
          <p:nvPr/>
        </p:nvSpPr>
        <p:spPr>
          <a:xfrm>
            <a:off x="365760" y="4334256"/>
            <a:ext cx="7040880" cy="146304"/>
          </a:xfrm>
          <a:prstGeom prst="rect">
            <a:avLst/>
          </a:prstGeom>
          <a:solidFill>
            <a:srgbClr val="E3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365760" y="4078224"/>
            <a:ext cx="109728" cy="38404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4078224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4F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疱疹性咽峡炎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548640" y="4535424"/>
            <a:ext cx="66751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患者有明显的咽痛、发热。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7589520" y="1042416"/>
            <a:ext cx="4160520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9525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pic>
        <p:nvPicPr>
          <p:cNvPr id="30" name="Image 1" descr="/Users/liminrong/Projects/chain-pharmacy-content-studio/production-library/templates/settled/disease-health-shenke-blue-v1/generator/assets/clinical-throat-anatom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44384" y="1097280"/>
            <a:ext cx="4050792" cy="2048256"/>
          </a:xfrm>
          <a:prstGeom prst="rect">
            <a:avLst/>
          </a:prstGeom>
        </p:spPr>
      </p:pic>
      <p:sp>
        <p:nvSpPr>
          <p:cNvPr id="31" name="Shape 27"/>
          <p:cNvSpPr/>
          <p:nvPr/>
        </p:nvSpPr>
        <p:spPr>
          <a:xfrm>
            <a:off x="7589520" y="3310128"/>
            <a:ext cx="4160520" cy="2157984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9525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pic>
        <p:nvPicPr>
          <p:cNvPr id="32" name="Image 2" descr="/Users/liminrong/Projects/chain-pharmacy-content-studio/production-library/templates/settled/disease-health-shenke-blue-v1/generator/assets/clinical-oral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44384" y="3364992"/>
            <a:ext cx="4050792" cy="2048256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365760" y="5614416"/>
            <a:ext cx="11430000" cy="804672"/>
          </a:xfrm>
          <a:prstGeom prst="roundRect">
            <a:avLst>
              <a:gd name="adj" fmla="val 5682"/>
            </a:avLst>
          </a:prstGeom>
          <a:solidFill>
            <a:srgbClr val="FFF8E8"/>
          </a:solidFill>
          <a:ln w="15875">
            <a:solidFill>
              <a:srgbClr val="F0D090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365760" y="5614416"/>
            <a:ext cx="109728" cy="804672"/>
          </a:xfrm>
          <a:prstGeom prst="rect">
            <a:avLst/>
          </a:prstGeom>
          <a:solidFill>
            <a:srgbClr val="E8A317"/>
          </a:solidFill>
          <a:ln/>
        </p:spPr>
      </p:sp>
      <p:sp>
        <p:nvSpPr>
          <p:cNvPr id="35" name="Text 30"/>
          <p:cNvSpPr/>
          <p:nvPr/>
        </p:nvSpPr>
        <p:spPr>
          <a:xfrm>
            <a:off x="640080" y="5669280"/>
            <a:ext cx="10972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 询问诱因：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有无受凉、淋雨、过度劳累等诱发因素。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8D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41248"/>
            <a:ext cx="12191695" cy="32004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621792" cy="475488"/>
          </a:xfrm>
          <a:prstGeom prst="roundRect">
            <a:avLst>
              <a:gd name="adj" fmla="val 9615"/>
            </a:avLst>
          </a:prstGeom>
          <a:solidFill>
            <a:srgbClr val="2B6CB0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82880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检查方法</a:t>
            </a:r>
            <a:endParaRPr lang="en-US" sz="3000" dirty="0"/>
          </a:p>
        </p:txBody>
      </p:sp>
      <p:pic>
        <p:nvPicPr>
          <p:cNvPr id="7" name="Image 0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749" y="210312"/>
            <a:ext cx="1496291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65562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  ·  参课  ·  呼吸系统系列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5 / 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1042416"/>
            <a:ext cx="566928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02920" y="1170432"/>
            <a:ext cx="3840480" cy="384048"/>
          </a:xfrm>
          <a:prstGeom prst="roundRect">
            <a:avLst>
              <a:gd name="adj" fmla="val 9524"/>
            </a:avLst>
          </a:prstGeom>
          <a:solidFill>
            <a:srgbClr val="E3EE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1170432"/>
            <a:ext cx="91440" cy="38404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14" name="Text 11"/>
          <p:cNvSpPr/>
          <p:nvPr/>
        </p:nvSpPr>
        <p:spPr>
          <a:xfrm>
            <a:off x="704088" y="117043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4F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体格 / 实验室检查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94360" y="164592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▶"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鼻腔粘膜及咽部充血；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▶"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可有扁桃体肿大、充血，甚至化脓；有时咽部、扁桃体表面可有灰白色疱疹及浅表溃疡；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▶"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病毒感染，实验室检查白细胞正常或偏低；细菌感染，则白细胞升高。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365760" y="4114800"/>
            <a:ext cx="566928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pic>
        <p:nvPicPr>
          <p:cNvPr id="17" name="Image 1" descr="/Users/liminrong/Projects/chain-pharmacy-content-studio/production-library/templates/settled/disease-health-shenke-blue-v1/generator/assets/exam-tonsi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0624" y="4169664"/>
            <a:ext cx="5559552" cy="217627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263640" y="1042416"/>
            <a:ext cx="5532120" cy="5358384"/>
          </a:xfrm>
          <a:prstGeom prst="roundRect">
            <a:avLst>
              <a:gd name="adj" fmla="val 1024"/>
            </a:avLst>
          </a:prstGeom>
          <a:solidFill>
            <a:srgbClr val="FFFFFF"/>
          </a:solidFill>
          <a:ln w="1270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00800" y="1170432"/>
            <a:ext cx="3291840" cy="384048"/>
          </a:xfrm>
          <a:prstGeom prst="roundRect">
            <a:avLst>
              <a:gd name="adj" fmla="val 9524"/>
            </a:avLst>
          </a:prstGeom>
          <a:solidFill>
            <a:srgbClr val="E3EEF8"/>
          </a:solidFill>
          <a:ln/>
        </p:spPr>
      </p:sp>
      <p:sp>
        <p:nvSpPr>
          <p:cNvPr id="20" name="Shape 16"/>
          <p:cNvSpPr/>
          <p:nvPr/>
        </p:nvSpPr>
        <p:spPr>
          <a:xfrm>
            <a:off x="6400800" y="1170432"/>
            <a:ext cx="91440" cy="38404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21" name="Text 17"/>
          <p:cNvSpPr/>
          <p:nvPr/>
        </p:nvSpPr>
        <p:spPr>
          <a:xfrm>
            <a:off x="6601968" y="117043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4F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常见病原体</a:t>
            </a:r>
            <a:endParaRPr lang="en-US" sz="2000" dirty="0"/>
          </a:p>
        </p:txBody>
      </p:sp>
      <p:pic>
        <p:nvPicPr>
          <p:cNvPr id="22" name="Image 2" descr="/Users/liminrong/Projects/chain-pharmacy-content-studio/production-library/templates/settled/disease-health-shenke-blue-v1/generator/assets/exam-virus-carto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326880" y="1097280"/>
            <a:ext cx="2194560" cy="155448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446520" y="2834640"/>
            <a:ext cx="5166360" cy="1051560"/>
          </a:xfrm>
          <a:prstGeom prst="roundRect">
            <a:avLst>
              <a:gd name="adj" fmla="val 4348"/>
            </a:avLst>
          </a:prstGeom>
          <a:solidFill>
            <a:srgbClr val="F4F8FC"/>
          </a:solidFill>
          <a:ln w="9525">
            <a:solidFill>
              <a:srgbClr val="DCE8F4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446520" y="2999232"/>
            <a:ext cx="54864" cy="722376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5" name="Text 20"/>
          <p:cNvSpPr/>
          <p:nvPr/>
        </p:nvSpPr>
        <p:spPr>
          <a:xfrm>
            <a:off x="6629400" y="2926080"/>
            <a:ext cx="4800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4F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
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鼻病毒、呼吸道合胞病毒、冠状病毒、柯萨奇病毒和腺病毒；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6446520" y="4005072"/>
            <a:ext cx="5166360" cy="1051560"/>
          </a:xfrm>
          <a:prstGeom prst="roundRect">
            <a:avLst>
              <a:gd name="adj" fmla="val 4348"/>
            </a:avLst>
          </a:prstGeom>
          <a:solidFill>
            <a:srgbClr val="F4F8FC"/>
          </a:solidFill>
          <a:ln w="9525">
            <a:solidFill>
              <a:srgbClr val="DCE8F4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446520" y="4169664"/>
            <a:ext cx="54864" cy="722376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8" name="Text 23"/>
          <p:cNvSpPr/>
          <p:nvPr/>
        </p:nvSpPr>
        <p:spPr>
          <a:xfrm>
            <a:off x="6629400" y="4096512"/>
            <a:ext cx="4800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4F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细菌
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A族溶血性链球菌、肺炎链球菌、流感嗜血杆菌、葡萄球菌、酿脓链球菌、卡他莫拉菌；</a:t>
            </a:r>
            <a:endParaRPr lang="en-US" sz="1800" dirty="0"/>
          </a:p>
        </p:txBody>
      </p:sp>
      <p:sp>
        <p:nvSpPr>
          <p:cNvPr id="29" name="Shape 24"/>
          <p:cNvSpPr/>
          <p:nvPr/>
        </p:nvSpPr>
        <p:spPr>
          <a:xfrm>
            <a:off x="6446520" y="5175504"/>
            <a:ext cx="5166360" cy="1051560"/>
          </a:xfrm>
          <a:prstGeom prst="roundRect">
            <a:avLst>
              <a:gd name="adj" fmla="val 4348"/>
            </a:avLst>
          </a:prstGeom>
          <a:solidFill>
            <a:srgbClr val="F4F8FC"/>
          </a:solidFill>
          <a:ln w="9525">
            <a:solidFill>
              <a:srgbClr val="DCE8F4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446520" y="5340096"/>
            <a:ext cx="54864" cy="722376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31" name="Text 26"/>
          <p:cNvSpPr/>
          <p:nvPr/>
        </p:nvSpPr>
        <p:spPr>
          <a:xfrm>
            <a:off x="6629400" y="5266944"/>
            <a:ext cx="4800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4F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
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肺炎支原体、衣原体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8D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41248"/>
            <a:ext cx="12191695" cy="32004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621792" cy="475488"/>
          </a:xfrm>
          <a:prstGeom prst="roundRect">
            <a:avLst>
              <a:gd name="adj" fmla="val 9615"/>
            </a:avLst>
          </a:prstGeom>
          <a:solidFill>
            <a:srgbClr val="2B6CB0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82880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治疗用药</a:t>
            </a:r>
            <a:endParaRPr lang="en-US" sz="3000" dirty="0"/>
          </a:p>
        </p:txBody>
      </p:sp>
      <p:pic>
        <p:nvPicPr>
          <p:cNvPr id="7" name="Image 0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749" y="210312"/>
            <a:ext cx="1496291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65562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  ·  参课  ·  呼吸系统系列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6 / 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1024128"/>
            <a:ext cx="54864" cy="457200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12" name="Shape 9"/>
          <p:cNvSpPr/>
          <p:nvPr/>
        </p:nvSpPr>
        <p:spPr>
          <a:xfrm>
            <a:off x="457200" y="1024128"/>
            <a:ext cx="347472" cy="54864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1005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一般治疗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2920" y="1463040"/>
            <a:ext cx="5577840" cy="28803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pic>
        <p:nvPicPr>
          <p:cNvPr id="15" name="Image 1" descr="/Users/liminrong/Projects/chain-pharmacy-content-studio/production-library/templates/settled/disease-health-shenke-blue-v1/generator/assets/tx-general-exa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7784" y="1517904"/>
            <a:ext cx="5468112" cy="277063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577840" cy="28803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pic>
        <p:nvPicPr>
          <p:cNvPr id="17" name="Image 2" descr="/Users/liminrong/Projects/chain-pharmacy-content-studio/production-library/templates/settled/disease-health-shenke-blue-v1/generator/assets/tx-general-res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64224" y="1517904"/>
            <a:ext cx="5468112" cy="2770632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11480" y="4526280"/>
            <a:ext cx="256032" cy="5029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19" name="Shape 14"/>
          <p:cNvSpPr/>
          <p:nvPr/>
        </p:nvSpPr>
        <p:spPr>
          <a:xfrm>
            <a:off x="411480" y="4526280"/>
            <a:ext cx="50292" cy="25603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0" name="Shape 15"/>
          <p:cNvSpPr/>
          <p:nvPr/>
        </p:nvSpPr>
        <p:spPr>
          <a:xfrm>
            <a:off x="11494008" y="4526280"/>
            <a:ext cx="256032" cy="5029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1" name="Shape 16"/>
          <p:cNvSpPr/>
          <p:nvPr/>
        </p:nvSpPr>
        <p:spPr>
          <a:xfrm>
            <a:off x="11699748" y="4526280"/>
            <a:ext cx="50292" cy="25603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2" name="Shape 17"/>
          <p:cNvSpPr/>
          <p:nvPr/>
        </p:nvSpPr>
        <p:spPr>
          <a:xfrm>
            <a:off x="411480" y="6350508"/>
            <a:ext cx="256032" cy="5029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3" name="Shape 18"/>
          <p:cNvSpPr/>
          <p:nvPr/>
        </p:nvSpPr>
        <p:spPr>
          <a:xfrm>
            <a:off x="411480" y="6144768"/>
            <a:ext cx="50292" cy="25603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4" name="Shape 19"/>
          <p:cNvSpPr/>
          <p:nvPr/>
        </p:nvSpPr>
        <p:spPr>
          <a:xfrm>
            <a:off x="11494008" y="6350508"/>
            <a:ext cx="256032" cy="5029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5" name="Shape 20"/>
          <p:cNvSpPr/>
          <p:nvPr/>
        </p:nvSpPr>
        <p:spPr>
          <a:xfrm>
            <a:off x="11699748" y="6144768"/>
            <a:ext cx="50292" cy="25603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6" name="Shape 21"/>
          <p:cNvSpPr/>
          <p:nvPr/>
        </p:nvSpPr>
        <p:spPr>
          <a:xfrm>
            <a:off x="466344" y="4581144"/>
            <a:ext cx="11228832" cy="1764792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2700">
            <a:solidFill>
              <a:srgbClr val="D0E0F0"/>
            </a:solidFill>
            <a:prstDash val="dash"/>
          </a:ln>
        </p:spPr>
      </p:sp>
      <p:sp>
        <p:nvSpPr>
          <p:cNvPr id="27" name="Text 22"/>
          <p:cNvSpPr/>
          <p:nvPr/>
        </p:nvSpPr>
        <p:spPr>
          <a:xfrm>
            <a:off x="667512" y="4709160"/>
            <a:ext cx="10826496" cy="1527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□  饮食清淡，营养均衡，增加维生素和微量元素的摄取。多饮开水，注意通便，注意休息，保持室内合适的温度和湿度。如有发热，还应注意退热。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8D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41248"/>
            <a:ext cx="12191695" cy="32004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621792" cy="475488"/>
          </a:xfrm>
          <a:prstGeom prst="roundRect">
            <a:avLst>
              <a:gd name="adj" fmla="val 9615"/>
            </a:avLst>
          </a:prstGeom>
          <a:solidFill>
            <a:srgbClr val="2B6CB0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82880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治疗用药</a:t>
            </a:r>
            <a:endParaRPr lang="en-US" sz="3000" dirty="0"/>
          </a:p>
        </p:txBody>
      </p:sp>
      <p:pic>
        <p:nvPicPr>
          <p:cNvPr id="7" name="Image 0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749" y="210312"/>
            <a:ext cx="1496291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65562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  ·  参课  ·  呼吸系统系列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7 / 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1024128"/>
            <a:ext cx="54864" cy="457200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12" name="Shape 9"/>
          <p:cNvSpPr/>
          <p:nvPr/>
        </p:nvSpPr>
        <p:spPr>
          <a:xfrm>
            <a:off x="457200" y="1024128"/>
            <a:ext cx="347472" cy="54864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1005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全身用药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1828800" y="1508760"/>
            <a:ext cx="8503920" cy="28803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pic>
        <p:nvPicPr>
          <p:cNvPr id="15" name="Image 1" descr="/Users/liminrong/Projects/chain-pharmacy-content-studio/production-library/templates/settled/disease-health-shenke-blue-v1/generator/assets/tx-systemic-penicilli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883664" y="1563624"/>
            <a:ext cx="8394192" cy="277063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411480" y="4526280"/>
            <a:ext cx="256032" cy="5029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17" name="Shape 13"/>
          <p:cNvSpPr/>
          <p:nvPr/>
        </p:nvSpPr>
        <p:spPr>
          <a:xfrm>
            <a:off x="411480" y="4526280"/>
            <a:ext cx="50292" cy="25603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18" name="Shape 14"/>
          <p:cNvSpPr/>
          <p:nvPr/>
        </p:nvSpPr>
        <p:spPr>
          <a:xfrm>
            <a:off x="11494008" y="4526280"/>
            <a:ext cx="256032" cy="5029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19" name="Shape 15"/>
          <p:cNvSpPr/>
          <p:nvPr/>
        </p:nvSpPr>
        <p:spPr>
          <a:xfrm>
            <a:off x="11699748" y="4526280"/>
            <a:ext cx="50292" cy="25603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0" name="Shape 16"/>
          <p:cNvSpPr/>
          <p:nvPr/>
        </p:nvSpPr>
        <p:spPr>
          <a:xfrm>
            <a:off x="411480" y="6350508"/>
            <a:ext cx="256032" cy="5029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1" name="Shape 17"/>
          <p:cNvSpPr/>
          <p:nvPr/>
        </p:nvSpPr>
        <p:spPr>
          <a:xfrm>
            <a:off x="411480" y="6144768"/>
            <a:ext cx="50292" cy="25603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2" name="Shape 18"/>
          <p:cNvSpPr/>
          <p:nvPr/>
        </p:nvSpPr>
        <p:spPr>
          <a:xfrm>
            <a:off x="11494008" y="6350508"/>
            <a:ext cx="256032" cy="5029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3" name="Shape 19"/>
          <p:cNvSpPr/>
          <p:nvPr/>
        </p:nvSpPr>
        <p:spPr>
          <a:xfrm>
            <a:off x="11699748" y="6144768"/>
            <a:ext cx="50292" cy="25603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4" name="Shape 20"/>
          <p:cNvSpPr/>
          <p:nvPr/>
        </p:nvSpPr>
        <p:spPr>
          <a:xfrm>
            <a:off x="466344" y="4581144"/>
            <a:ext cx="11228832" cy="1764792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2700">
            <a:solidFill>
              <a:srgbClr val="D0E0F0"/>
            </a:solidFill>
            <a:prstDash val="dash"/>
          </a:ln>
        </p:spPr>
      </p:sp>
      <p:sp>
        <p:nvSpPr>
          <p:cNvPr id="25" name="Text 21"/>
          <p:cNvSpPr/>
          <p:nvPr/>
        </p:nvSpPr>
        <p:spPr>
          <a:xfrm>
            <a:off x="667512" y="4709160"/>
            <a:ext cx="10826496" cy="1527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□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反复上呼吸道感染急性期应以</a:t>
            </a:r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抗感染治疗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为主。细菌感染者应使用青霉素类如</a:t>
            </a:r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阿莫西林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等抗菌药物。病毒感染者酌情使用抗病毒药物。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8D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41248"/>
            <a:ext cx="12191695" cy="32004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621792" cy="475488"/>
          </a:xfrm>
          <a:prstGeom prst="roundRect">
            <a:avLst>
              <a:gd name="adj" fmla="val 9615"/>
            </a:avLst>
          </a:prstGeom>
          <a:solidFill>
            <a:srgbClr val="2B6CB0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82880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治疗用药</a:t>
            </a:r>
            <a:endParaRPr lang="en-US" sz="3000" dirty="0"/>
          </a:p>
        </p:txBody>
      </p:sp>
      <p:pic>
        <p:nvPicPr>
          <p:cNvPr id="7" name="Image 0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749" y="210312"/>
            <a:ext cx="1496291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65562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  ·  参课  ·  呼吸系统系列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8 / 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1024128"/>
            <a:ext cx="54864" cy="457200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12" name="Shape 9"/>
          <p:cNvSpPr/>
          <p:nvPr/>
        </p:nvSpPr>
        <p:spPr>
          <a:xfrm>
            <a:off x="457200" y="1024128"/>
            <a:ext cx="347472" cy="54864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1005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局部用药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57200" y="1463040"/>
            <a:ext cx="3657600" cy="28803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pic>
        <p:nvPicPr>
          <p:cNvPr id="15" name="Image 1" descr="/Users/liminrong/Projects/chain-pharmacy-content-studio/production-library/templates/settled/disease-health-shenke-blue-v1/generator/assets/tx-local-spra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2064" y="1517904"/>
            <a:ext cx="3547872" cy="277063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4297680" y="1463040"/>
            <a:ext cx="3657600" cy="28803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pic>
        <p:nvPicPr>
          <p:cNvPr id="17" name="Image 2" descr="/Users/liminrong/Projects/chain-pharmacy-content-studio/production-library/templates/settled/disease-health-shenke-blue-v1/generator/assets/tx-local-nebuliz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52544" y="1517904"/>
            <a:ext cx="3547872" cy="2770632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138160" y="1463040"/>
            <a:ext cx="3657600" cy="288036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C8D6E6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pic>
        <p:nvPicPr>
          <p:cNvPr id="19" name="Image 3" descr="/Users/liminrong/Projects/chain-pharmacy-content-studio/production-library/templates/settled/disease-health-shenke-blue-v1/generator/assets/tx-local-ear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93024" y="1517904"/>
            <a:ext cx="3547872" cy="277063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411480" y="4526280"/>
            <a:ext cx="256032" cy="5029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1" name="Shape 15"/>
          <p:cNvSpPr/>
          <p:nvPr/>
        </p:nvSpPr>
        <p:spPr>
          <a:xfrm>
            <a:off x="411480" y="4526280"/>
            <a:ext cx="50292" cy="25603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2" name="Shape 16"/>
          <p:cNvSpPr/>
          <p:nvPr/>
        </p:nvSpPr>
        <p:spPr>
          <a:xfrm>
            <a:off x="11494008" y="4526280"/>
            <a:ext cx="256032" cy="5029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3" name="Shape 17"/>
          <p:cNvSpPr/>
          <p:nvPr/>
        </p:nvSpPr>
        <p:spPr>
          <a:xfrm>
            <a:off x="11699748" y="4526280"/>
            <a:ext cx="50292" cy="25603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4" name="Shape 18"/>
          <p:cNvSpPr/>
          <p:nvPr/>
        </p:nvSpPr>
        <p:spPr>
          <a:xfrm>
            <a:off x="411480" y="6350508"/>
            <a:ext cx="256032" cy="5029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5" name="Shape 19"/>
          <p:cNvSpPr/>
          <p:nvPr/>
        </p:nvSpPr>
        <p:spPr>
          <a:xfrm>
            <a:off x="411480" y="6144768"/>
            <a:ext cx="50292" cy="25603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6" name="Shape 20"/>
          <p:cNvSpPr/>
          <p:nvPr/>
        </p:nvSpPr>
        <p:spPr>
          <a:xfrm>
            <a:off x="11494008" y="6350508"/>
            <a:ext cx="256032" cy="5029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7" name="Shape 21"/>
          <p:cNvSpPr/>
          <p:nvPr/>
        </p:nvSpPr>
        <p:spPr>
          <a:xfrm>
            <a:off x="11699748" y="6144768"/>
            <a:ext cx="50292" cy="256032"/>
          </a:xfrm>
          <a:prstGeom prst="rect">
            <a:avLst/>
          </a:prstGeom>
          <a:solidFill>
            <a:srgbClr val="3A7BC8"/>
          </a:solidFill>
          <a:ln/>
        </p:spPr>
      </p:sp>
      <p:sp>
        <p:nvSpPr>
          <p:cNvPr id="28" name="Shape 22"/>
          <p:cNvSpPr/>
          <p:nvPr/>
        </p:nvSpPr>
        <p:spPr>
          <a:xfrm>
            <a:off x="466344" y="4581144"/>
            <a:ext cx="11228832" cy="1764792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12700">
            <a:solidFill>
              <a:srgbClr val="D0E0F0"/>
            </a:solidFill>
            <a:prstDash val="dash"/>
          </a:ln>
        </p:spPr>
      </p:sp>
      <p:sp>
        <p:nvSpPr>
          <p:cNvPr id="29" name="Text 23"/>
          <p:cNvSpPr/>
          <p:nvPr/>
        </p:nvSpPr>
        <p:spPr>
          <a:xfrm>
            <a:off x="667512" y="4709160"/>
            <a:ext cx="10826496" cy="1527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□  鼻塞严重者可短期使用减充血剂或医用高渗海水，伴有过敏的局部用抗组胺和糖皮质激素喷鼻。咽痛可用局部雾化药物。耳痛或耳流脓局部治疗可采用1%酚甘油滴耳剂，3%双氧水清洗加局部采用非耳毒性抗菌药物滴耳剂等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8D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41248"/>
            <a:ext cx="12191695" cy="32004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621792" cy="475488"/>
          </a:xfrm>
          <a:prstGeom prst="roundRect">
            <a:avLst>
              <a:gd name="adj" fmla="val 9615"/>
            </a:avLst>
          </a:prstGeom>
          <a:solidFill>
            <a:srgbClr val="2B6CB0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82880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治疗用药</a:t>
            </a:r>
            <a:endParaRPr lang="en-US" sz="3000" dirty="0"/>
          </a:p>
        </p:txBody>
      </p:sp>
      <p:pic>
        <p:nvPicPr>
          <p:cNvPr id="7" name="Image 0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749" y="210312"/>
            <a:ext cx="1496291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65562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  ·  参课  ·  呼吸系统系列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9 / 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1024128"/>
            <a:ext cx="7818120" cy="5394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5A8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040" y="1024128"/>
            <a:ext cx="7818120" cy="502920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1024128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临床症状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834640" y="102412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对症用药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2825496" y="1024128"/>
            <a:ext cx="18288" cy="5394960"/>
          </a:xfrm>
          <a:prstGeom prst="rect">
            <a:avLst/>
          </a:prstGeom>
          <a:solidFill>
            <a:srgbClr val="8EB8D0"/>
          </a:solidFill>
          <a:ln/>
        </p:spPr>
      </p:sp>
      <p:sp>
        <p:nvSpPr>
          <p:cNvPr id="16" name="Shape 13"/>
          <p:cNvSpPr/>
          <p:nvPr/>
        </p:nvSpPr>
        <p:spPr>
          <a:xfrm>
            <a:off x="320040" y="1527048"/>
            <a:ext cx="2514600" cy="611505"/>
          </a:xfrm>
          <a:prstGeom prst="rect">
            <a:avLst/>
          </a:prstGeom>
          <a:solidFill>
            <a:srgbClr val="F5F9FC"/>
          </a:solidFill>
          <a:ln/>
        </p:spPr>
      </p:sp>
      <p:sp>
        <p:nvSpPr>
          <p:cNvPr id="17" name="Shape 14"/>
          <p:cNvSpPr/>
          <p:nvPr/>
        </p:nvSpPr>
        <p:spPr>
          <a:xfrm>
            <a:off x="2834640" y="1527048"/>
            <a:ext cx="5303520" cy="61150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320040" y="2127580"/>
            <a:ext cx="781812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19" name="Text 16"/>
          <p:cNvSpPr/>
          <p:nvPr/>
        </p:nvSpPr>
        <p:spPr>
          <a:xfrm>
            <a:off x="393192" y="1527048"/>
            <a:ext cx="2368296" cy="611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流鼻涕，打喷嚏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2980944" y="1563624"/>
            <a:ext cx="5029200" cy="5383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氯雷他定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20040" y="2138553"/>
            <a:ext cx="2514600" cy="611505"/>
          </a:xfrm>
          <a:prstGeom prst="rect">
            <a:avLst/>
          </a:prstGeom>
          <a:solidFill>
            <a:srgbClr val="EAF2F8"/>
          </a:solidFill>
          <a:ln/>
        </p:spPr>
      </p:sp>
      <p:sp>
        <p:nvSpPr>
          <p:cNvPr id="22" name="Shape 19"/>
          <p:cNvSpPr/>
          <p:nvPr/>
        </p:nvSpPr>
        <p:spPr>
          <a:xfrm>
            <a:off x="2834640" y="2138553"/>
            <a:ext cx="5303520" cy="611505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23" name="Shape 20"/>
          <p:cNvSpPr/>
          <p:nvPr/>
        </p:nvSpPr>
        <p:spPr>
          <a:xfrm>
            <a:off x="320040" y="2739085"/>
            <a:ext cx="781812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24" name="Text 21"/>
          <p:cNvSpPr/>
          <p:nvPr/>
        </p:nvSpPr>
        <p:spPr>
          <a:xfrm>
            <a:off x="393192" y="2138553"/>
            <a:ext cx="2368296" cy="611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鼻塞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2980944" y="2175129"/>
            <a:ext cx="5029200" cy="5383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盐酸伪麻黄碱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320040" y="2750058"/>
            <a:ext cx="2514600" cy="611505"/>
          </a:xfrm>
          <a:prstGeom prst="rect">
            <a:avLst/>
          </a:prstGeom>
          <a:solidFill>
            <a:srgbClr val="F5F9FC"/>
          </a:solidFill>
          <a:ln/>
        </p:spPr>
      </p:sp>
      <p:sp>
        <p:nvSpPr>
          <p:cNvPr id="27" name="Shape 24"/>
          <p:cNvSpPr/>
          <p:nvPr/>
        </p:nvSpPr>
        <p:spPr>
          <a:xfrm>
            <a:off x="2834640" y="2750058"/>
            <a:ext cx="5303520" cy="61150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5"/>
          <p:cNvSpPr/>
          <p:nvPr/>
        </p:nvSpPr>
        <p:spPr>
          <a:xfrm>
            <a:off x="320040" y="3350590"/>
            <a:ext cx="781812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29" name="Text 26"/>
          <p:cNvSpPr/>
          <p:nvPr/>
        </p:nvSpPr>
        <p:spPr>
          <a:xfrm>
            <a:off x="393192" y="2750058"/>
            <a:ext cx="2368296" cy="611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发热，头痛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2980944" y="2786634"/>
            <a:ext cx="5029200" cy="5383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精氨酸布洛芬颗粒、对乙酰氨基酚、</a:t>
            </a:r>
            <a:pPr algn="l" indent="0" marL="0">
              <a:buNone/>
            </a:pPr>
            <a:r>
              <a:rPr lang="en-US" sz="1600" b="1" dirty="0">
                <a:solidFill>
                  <a:srgbClr val="1A4F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复方氨酚烷胺胶囊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320040" y="3361563"/>
            <a:ext cx="2514600" cy="611505"/>
          </a:xfrm>
          <a:prstGeom prst="rect">
            <a:avLst/>
          </a:prstGeom>
          <a:solidFill>
            <a:srgbClr val="EAF2F8"/>
          </a:solidFill>
          <a:ln/>
        </p:spPr>
      </p:sp>
      <p:sp>
        <p:nvSpPr>
          <p:cNvPr id="32" name="Shape 29"/>
          <p:cNvSpPr/>
          <p:nvPr/>
        </p:nvSpPr>
        <p:spPr>
          <a:xfrm>
            <a:off x="2834640" y="3361563"/>
            <a:ext cx="5303520" cy="611505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3962095"/>
            <a:ext cx="781812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34" name="Text 31"/>
          <p:cNvSpPr/>
          <p:nvPr/>
        </p:nvSpPr>
        <p:spPr>
          <a:xfrm>
            <a:off x="393192" y="3361563"/>
            <a:ext cx="2368296" cy="611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咳嗽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2980944" y="3398139"/>
            <a:ext cx="5029200" cy="5383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右美沙芬、氨溴索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320040" y="3973068"/>
            <a:ext cx="2514600" cy="611505"/>
          </a:xfrm>
          <a:prstGeom prst="rect">
            <a:avLst/>
          </a:prstGeom>
          <a:solidFill>
            <a:srgbClr val="F5F9FC"/>
          </a:solidFill>
          <a:ln/>
        </p:spPr>
      </p:sp>
      <p:sp>
        <p:nvSpPr>
          <p:cNvPr id="37" name="Shape 34"/>
          <p:cNvSpPr/>
          <p:nvPr/>
        </p:nvSpPr>
        <p:spPr>
          <a:xfrm>
            <a:off x="2834640" y="3973068"/>
            <a:ext cx="5303520" cy="61150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Shape 35"/>
          <p:cNvSpPr/>
          <p:nvPr/>
        </p:nvSpPr>
        <p:spPr>
          <a:xfrm>
            <a:off x="320040" y="4573600"/>
            <a:ext cx="781812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39" name="Text 36"/>
          <p:cNvSpPr/>
          <p:nvPr/>
        </p:nvSpPr>
        <p:spPr>
          <a:xfrm>
            <a:off x="393192" y="3973068"/>
            <a:ext cx="2368296" cy="611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咽喉及扁桃体红肿、疼痛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2980944" y="4009644"/>
            <a:ext cx="5029200" cy="5383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冬凌草糖浆、利咽解毒颗粒、清咽滴丸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320040" y="4584573"/>
            <a:ext cx="2514600" cy="611505"/>
          </a:xfrm>
          <a:prstGeom prst="rect">
            <a:avLst/>
          </a:prstGeom>
          <a:solidFill>
            <a:srgbClr val="EAF2F8"/>
          </a:solidFill>
          <a:ln/>
        </p:spPr>
      </p:sp>
      <p:sp>
        <p:nvSpPr>
          <p:cNvPr id="42" name="Shape 39"/>
          <p:cNvSpPr/>
          <p:nvPr/>
        </p:nvSpPr>
        <p:spPr>
          <a:xfrm>
            <a:off x="2834640" y="4584573"/>
            <a:ext cx="5303520" cy="611505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43" name="Shape 40"/>
          <p:cNvSpPr/>
          <p:nvPr/>
        </p:nvSpPr>
        <p:spPr>
          <a:xfrm>
            <a:off x="320040" y="5185105"/>
            <a:ext cx="781812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44" name="Text 41"/>
          <p:cNvSpPr/>
          <p:nvPr/>
        </p:nvSpPr>
        <p:spPr>
          <a:xfrm>
            <a:off x="393192" y="4584573"/>
            <a:ext cx="2368296" cy="611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病毒感染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2980944" y="4621149"/>
            <a:ext cx="5029200" cy="5383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抗病毒口服液、</a:t>
            </a:r>
            <a:pPr algn="l" indent="0" marL="0">
              <a:buNone/>
            </a:pPr>
            <a:r>
              <a:rPr lang="en-US" sz="1600" b="1" dirty="0">
                <a:solidFill>
                  <a:srgbClr val="1A4F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奥司他韦</a:t>
            </a:r>
            <a:pPr algn="l"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（1岁以下慎用）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320040" y="5196078"/>
            <a:ext cx="2514600" cy="611505"/>
          </a:xfrm>
          <a:prstGeom prst="rect">
            <a:avLst/>
          </a:prstGeom>
          <a:solidFill>
            <a:srgbClr val="F5F9FC"/>
          </a:solidFill>
          <a:ln/>
        </p:spPr>
      </p:sp>
      <p:sp>
        <p:nvSpPr>
          <p:cNvPr id="47" name="Shape 44"/>
          <p:cNvSpPr/>
          <p:nvPr/>
        </p:nvSpPr>
        <p:spPr>
          <a:xfrm>
            <a:off x="2834640" y="5196078"/>
            <a:ext cx="5303520" cy="61150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5"/>
          <p:cNvSpPr/>
          <p:nvPr/>
        </p:nvSpPr>
        <p:spPr>
          <a:xfrm>
            <a:off x="320040" y="5796610"/>
            <a:ext cx="781812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49" name="Text 46"/>
          <p:cNvSpPr/>
          <p:nvPr/>
        </p:nvSpPr>
        <p:spPr>
          <a:xfrm>
            <a:off x="393192" y="5196078"/>
            <a:ext cx="2368296" cy="611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细菌感染</a:t>
            </a:r>
            <a:endParaRPr lang="en-US" sz="1600" dirty="0"/>
          </a:p>
        </p:txBody>
      </p:sp>
      <p:sp>
        <p:nvSpPr>
          <p:cNvPr id="50" name="Text 47"/>
          <p:cNvSpPr/>
          <p:nvPr/>
        </p:nvSpPr>
        <p:spPr>
          <a:xfrm>
            <a:off x="2980944" y="5232654"/>
            <a:ext cx="5029200" cy="5383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4F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阿莫西林</a:t>
            </a:r>
            <a:pPr algn="l"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（3个月以下慎用）、头孢拉定、罗红霉素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320040" y="5807583"/>
            <a:ext cx="2514600" cy="611505"/>
          </a:xfrm>
          <a:prstGeom prst="rect">
            <a:avLst/>
          </a:prstGeom>
          <a:solidFill>
            <a:srgbClr val="EAF2F8"/>
          </a:solidFill>
          <a:ln/>
        </p:spPr>
      </p:sp>
      <p:sp>
        <p:nvSpPr>
          <p:cNvPr id="52" name="Shape 49"/>
          <p:cNvSpPr/>
          <p:nvPr/>
        </p:nvSpPr>
        <p:spPr>
          <a:xfrm>
            <a:off x="2834640" y="5807583"/>
            <a:ext cx="5303520" cy="611505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20040" y="6408115"/>
            <a:ext cx="781812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54" name="Text 51"/>
          <p:cNvSpPr/>
          <p:nvPr/>
        </p:nvSpPr>
        <p:spPr>
          <a:xfrm>
            <a:off x="393192" y="5807583"/>
            <a:ext cx="2368296" cy="611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免疫力低下</a:t>
            </a:r>
            <a:endParaRPr lang="en-US" sz="1600" dirty="0"/>
          </a:p>
        </p:txBody>
      </p:sp>
      <p:sp>
        <p:nvSpPr>
          <p:cNvPr id="55" name="Text 52"/>
          <p:cNvSpPr/>
          <p:nvPr/>
        </p:nvSpPr>
        <p:spPr>
          <a:xfrm>
            <a:off x="2980944" y="5844159"/>
            <a:ext cx="5029200" cy="5383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复合维生素、维生素C</a:t>
            </a:r>
            <a:endParaRPr lang="en-US" sz="1600" dirty="0"/>
          </a:p>
        </p:txBody>
      </p:sp>
      <p:sp>
        <p:nvSpPr>
          <p:cNvPr id="56" name="Shape 53"/>
          <p:cNvSpPr/>
          <p:nvPr/>
        </p:nvSpPr>
        <p:spPr>
          <a:xfrm>
            <a:off x="8366760" y="1024128"/>
            <a:ext cx="34290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397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366760" y="1024128"/>
            <a:ext cx="3429000" cy="6400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58" name="Shape 55"/>
          <p:cNvSpPr/>
          <p:nvPr/>
        </p:nvSpPr>
        <p:spPr>
          <a:xfrm>
            <a:off x="8513064" y="1143000"/>
            <a:ext cx="3136392" cy="630936"/>
          </a:xfrm>
          <a:prstGeom prst="roundRect">
            <a:avLst>
              <a:gd name="adj" fmla="val 7246"/>
            </a:avLst>
          </a:prstGeom>
          <a:solidFill>
            <a:srgbClr val="F0F6FC"/>
          </a:solidFill>
          <a:ln w="12700">
            <a:solidFill>
              <a:srgbClr val="5A9BD5"/>
            </a:solidFill>
            <a:prstDash val="dash"/>
          </a:ln>
        </p:spPr>
      </p:sp>
      <p:sp>
        <p:nvSpPr>
          <p:cNvPr id="59" name="Shape 56"/>
          <p:cNvSpPr/>
          <p:nvPr/>
        </p:nvSpPr>
        <p:spPr>
          <a:xfrm rot="19800000">
            <a:off x="9825228" y="1348740"/>
            <a:ext cx="51206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B6CB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rot="19800000">
            <a:off x="9825228" y="1348740"/>
            <a:ext cx="256032" cy="219456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/>
        </p:spPr>
      </p:sp>
      <p:sp>
        <p:nvSpPr>
          <p:cNvPr id="61" name="Text 58"/>
          <p:cNvSpPr/>
          <p:nvPr/>
        </p:nvSpPr>
        <p:spPr>
          <a:xfrm>
            <a:off x="8421624" y="180136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复方氨酚烷胺胶囊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8421624" y="2075688"/>
            <a:ext cx="3319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授权包装图替换位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8366760" y="2377440"/>
            <a:ext cx="34290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397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366760" y="2377440"/>
            <a:ext cx="3429000" cy="6400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65" name="Shape 62"/>
          <p:cNvSpPr/>
          <p:nvPr/>
        </p:nvSpPr>
        <p:spPr>
          <a:xfrm>
            <a:off x="8513064" y="2496312"/>
            <a:ext cx="3136392" cy="630936"/>
          </a:xfrm>
          <a:prstGeom prst="roundRect">
            <a:avLst>
              <a:gd name="adj" fmla="val 7246"/>
            </a:avLst>
          </a:prstGeom>
          <a:solidFill>
            <a:srgbClr val="F0F6FC"/>
          </a:solidFill>
          <a:ln w="12700">
            <a:solidFill>
              <a:srgbClr val="5A9BD5"/>
            </a:solidFill>
            <a:prstDash val="dash"/>
          </a:ln>
        </p:spPr>
      </p:sp>
      <p:sp>
        <p:nvSpPr>
          <p:cNvPr id="66" name="Shape 63"/>
          <p:cNvSpPr/>
          <p:nvPr/>
        </p:nvSpPr>
        <p:spPr>
          <a:xfrm rot="19800000">
            <a:off x="9825228" y="2702052"/>
            <a:ext cx="51206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B6CB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 rot="19800000">
            <a:off x="9825228" y="2702052"/>
            <a:ext cx="256032" cy="219456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/>
        </p:spPr>
      </p:sp>
      <p:sp>
        <p:nvSpPr>
          <p:cNvPr id="68" name="Text 65"/>
          <p:cNvSpPr/>
          <p:nvPr/>
        </p:nvSpPr>
        <p:spPr>
          <a:xfrm>
            <a:off x="8421624" y="3154680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冬凌草糖浆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8421624" y="3429000"/>
            <a:ext cx="3319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授权包装图替换位</a:t>
            </a:r>
            <a:endParaRPr lang="en-US" sz="900" dirty="0"/>
          </a:p>
        </p:txBody>
      </p:sp>
      <p:sp>
        <p:nvSpPr>
          <p:cNvPr id="70" name="Shape 67"/>
          <p:cNvSpPr/>
          <p:nvPr/>
        </p:nvSpPr>
        <p:spPr>
          <a:xfrm>
            <a:off x="8366760" y="3730752"/>
            <a:ext cx="34290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397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71" name="Shape 68"/>
          <p:cNvSpPr/>
          <p:nvPr/>
        </p:nvSpPr>
        <p:spPr>
          <a:xfrm>
            <a:off x="8366760" y="3730752"/>
            <a:ext cx="3429000" cy="6400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72" name="Shape 69"/>
          <p:cNvSpPr/>
          <p:nvPr/>
        </p:nvSpPr>
        <p:spPr>
          <a:xfrm>
            <a:off x="8513064" y="3849624"/>
            <a:ext cx="3136392" cy="630936"/>
          </a:xfrm>
          <a:prstGeom prst="roundRect">
            <a:avLst>
              <a:gd name="adj" fmla="val 7246"/>
            </a:avLst>
          </a:prstGeom>
          <a:solidFill>
            <a:srgbClr val="F0F6FC"/>
          </a:solidFill>
          <a:ln w="12700">
            <a:solidFill>
              <a:srgbClr val="5A9BD5"/>
            </a:solidFill>
            <a:prstDash val="dash"/>
          </a:ln>
        </p:spPr>
      </p:sp>
      <p:sp>
        <p:nvSpPr>
          <p:cNvPr id="73" name="Shape 70"/>
          <p:cNvSpPr/>
          <p:nvPr/>
        </p:nvSpPr>
        <p:spPr>
          <a:xfrm rot="19800000">
            <a:off x="9825228" y="4055364"/>
            <a:ext cx="51206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B6CB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 rot="19800000">
            <a:off x="9825228" y="4055364"/>
            <a:ext cx="256032" cy="219456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/>
        </p:spPr>
      </p:sp>
      <p:sp>
        <p:nvSpPr>
          <p:cNvPr id="75" name="Text 72"/>
          <p:cNvSpPr/>
          <p:nvPr/>
        </p:nvSpPr>
        <p:spPr>
          <a:xfrm>
            <a:off x="8421624" y="450799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磷酸奥司他韦颗粒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8421624" y="4782312"/>
            <a:ext cx="3319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授权包装图替换位</a:t>
            </a:r>
            <a:endParaRPr lang="en-US" sz="900" dirty="0"/>
          </a:p>
        </p:txBody>
      </p:sp>
      <p:sp>
        <p:nvSpPr>
          <p:cNvPr id="77" name="Shape 74"/>
          <p:cNvSpPr/>
          <p:nvPr/>
        </p:nvSpPr>
        <p:spPr>
          <a:xfrm>
            <a:off x="8366760" y="5084064"/>
            <a:ext cx="3429000" cy="1261872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397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78" name="Shape 75"/>
          <p:cNvSpPr/>
          <p:nvPr/>
        </p:nvSpPr>
        <p:spPr>
          <a:xfrm>
            <a:off x="8366760" y="5084064"/>
            <a:ext cx="3429000" cy="6400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79" name="Shape 76"/>
          <p:cNvSpPr/>
          <p:nvPr/>
        </p:nvSpPr>
        <p:spPr>
          <a:xfrm>
            <a:off x="8513064" y="5202936"/>
            <a:ext cx="3136392" cy="630936"/>
          </a:xfrm>
          <a:prstGeom prst="roundRect">
            <a:avLst>
              <a:gd name="adj" fmla="val 7246"/>
            </a:avLst>
          </a:prstGeom>
          <a:solidFill>
            <a:srgbClr val="F0F6FC"/>
          </a:solidFill>
          <a:ln w="12700">
            <a:solidFill>
              <a:srgbClr val="5A9BD5"/>
            </a:solidFill>
            <a:prstDash val="dash"/>
          </a:ln>
        </p:spPr>
      </p:sp>
      <p:sp>
        <p:nvSpPr>
          <p:cNvPr id="80" name="Shape 77"/>
          <p:cNvSpPr/>
          <p:nvPr/>
        </p:nvSpPr>
        <p:spPr>
          <a:xfrm rot="19800000">
            <a:off x="9825228" y="5408676"/>
            <a:ext cx="51206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B6CB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rot="19800000">
            <a:off x="9825228" y="5408676"/>
            <a:ext cx="256032" cy="219456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/>
        </p:spPr>
      </p:sp>
      <p:sp>
        <p:nvSpPr>
          <p:cNvPr id="82" name="Text 79"/>
          <p:cNvSpPr/>
          <p:nvPr/>
        </p:nvSpPr>
        <p:spPr>
          <a:xfrm>
            <a:off x="8421624" y="5861304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阿莫西林胶囊</a:t>
            </a:r>
            <a:endParaRPr lang="en-US" sz="1300" dirty="0"/>
          </a:p>
        </p:txBody>
      </p:sp>
      <p:sp>
        <p:nvSpPr>
          <p:cNvPr id="83" name="Text 80"/>
          <p:cNvSpPr/>
          <p:nvPr/>
        </p:nvSpPr>
        <p:spPr>
          <a:xfrm>
            <a:off x="8421624" y="6135624"/>
            <a:ext cx="3319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授权包装图替换位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8D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41248"/>
            <a:ext cx="12191695" cy="32004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621792" cy="475488"/>
          </a:xfrm>
          <a:prstGeom prst="roundRect">
            <a:avLst>
              <a:gd name="adj" fmla="val 9615"/>
            </a:avLst>
          </a:prstGeom>
          <a:solidFill>
            <a:srgbClr val="2B6CB0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82880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治疗用药</a:t>
            </a:r>
            <a:endParaRPr lang="en-US" sz="3000" dirty="0"/>
          </a:p>
        </p:txBody>
      </p:sp>
      <p:pic>
        <p:nvPicPr>
          <p:cNvPr id="7" name="Image 0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749" y="210312"/>
            <a:ext cx="1496291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65562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  ·  参课  ·  呼吸系统系列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10 / 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11480" y="1051560"/>
            <a:ext cx="11338560" cy="5257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5A8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11480" y="1051560"/>
            <a:ext cx="11338560" cy="457200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13" name="Text 10"/>
          <p:cNvSpPr/>
          <p:nvPr/>
        </p:nvSpPr>
        <p:spPr>
          <a:xfrm>
            <a:off x="411480" y="10515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药品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560320" y="1051560"/>
            <a:ext cx="9189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注意事项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2551176" y="1051560"/>
            <a:ext cx="18288" cy="5257800"/>
          </a:xfrm>
          <a:prstGeom prst="rect">
            <a:avLst/>
          </a:prstGeom>
          <a:solidFill>
            <a:srgbClr val="8EB8D0"/>
          </a:solidFill>
          <a:ln/>
        </p:spPr>
      </p:sp>
      <p:sp>
        <p:nvSpPr>
          <p:cNvPr id="16" name="Shape 13"/>
          <p:cNvSpPr/>
          <p:nvPr/>
        </p:nvSpPr>
        <p:spPr>
          <a:xfrm>
            <a:off x="411480" y="1508760"/>
            <a:ext cx="2148840" cy="960120"/>
          </a:xfrm>
          <a:prstGeom prst="rect">
            <a:avLst/>
          </a:prstGeom>
          <a:solidFill>
            <a:srgbClr val="F5F9FC"/>
          </a:solidFill>
          <a:ln/>
        </p:spPr>
      </p:sp>
      <p:sp>
        <p:nvSpPr>
          <p:cNvPr id="17" name="Shape 14"/>
          <p:cNvSpPr/>
          <p:nvPr/>
        </p:nvSpPr>
        <p:spPr>
          <a:xfrm>
            <a:off x="2560320" y="1508760"/>
            <a:ext cx="91897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411480" y="2457907"/>
            <a:ext cx="1133856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19" name="Text 16"/>
          <p:cNvSpPr/>
          <p:nvPr/>
        </p:nvSpPr>
        <p:spPr>
          <a:xfrm>
            <a:off x="466344" y="1508760"/>
            <a:ext cx="20391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阿莫西林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胶囊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2724912" y="1604772"/>
            <a:ext cx="886053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对青霉素过敏及皮肤试验阳性患者禁用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孕妇、哺乳期妇女慎用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11480" y="2468880"/>
            <a:ext cx="2148840" cy="960120"/>
          </a:xfrm>
          <a:prstGeom prst="rect">
            <a:avLst/>
          </a:prstGeom>
          <a:solidFill>
            <a:srgbClr val="EAF2F8"/>
          </a:solidFill>
          <a:ln/>
        </p:spPr>
      </p:sp>
      <p:sp>
        <p:nvSpPr>
          <p:cNvPr id="22" name="Shape 19"/>
          <p:cNvSpPr/>
          <p:nvPr/>
        </p:nvSpPr>
        <p:spPr>
          <a:xfrm>
            <a:off x="2560320" y="2468880"/>
            <a:ext cx="9189720" cy="96012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3418027"/>
            <a:ext cx="1133856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24" name="Text 21"/>
          <p:cNvSpPr/>
          <p:nvPr/>
        </p:nvSpPr>
        <p:spPr>
          <a:xfrm>
            <a:off x="466344" y="2468880"/>
            <a:ext cx="20391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头孢拉定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胶囊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2724912" y="2564892"/>
            <a:ext cx="886053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对头孢菌素过敏者及有青霉素过敏性休克者禁用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孕妇、哺乳期妇女慎用，儿童慎用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11480" y="3429000"/>
            <a:ext cx="2148840" cy="960120"/>
          </a:xfrm>
          <a:prstGeom prst="rect">
            <a:avLst/>
          </a:prstGeom>
          <a:solidFill>
            <a:srgbClr val="F5F9FC"/>
          </a:solidFill>
          <a:ln/>
        </p:spPr>
      </p:sp>
      <p:sp>
        <p:nvSpPr>
          <p:cNvPr id="27" name="Shape 24"/>
          <p:cNvSpPr/>
          <p:nvPr/>
        </p:nvSpPr>
        <p:spPr>
          <a:xfrm>
            <a:off x="2560320" y="3429000"/>
            <a:ext cx="91897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5"/>
          <p:cNvSpPr/>
          <p:nvPr/>
        </p:nvSpPr>
        <p:spPr>
          <a:xfrm>
            <a:off x="411480" y="4378147"/>
            <a:ext cx="1133856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29" name="Text 26"/>
          <p:cNvSpPr/>
          <p:nvPr/>
        </p:nvSpPr>
        <p:spPr>
          <a:xfrm>
            <a:off x="466344" y="3429000"/>
            <a:ext cx="20391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罗红霉素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胶囊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2724912" y="3525012"/>
            <a:ext cx="886053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对本品、红霉素或其他大环内酯类药物过敏者禁用
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肝功能不全者禁用，肾功能不全者慎用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孕妇及哺乳期妇女慎用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411480" y="4389120"/>
            <a:ext cx="2148840" cy="960120"/>
          </a:xfrm>
          <a:prstGeom prst="rect">
            <a:avLst/>
          </a:prstGeom>
          <a:solidFill>
            <a:srgbClr val="EAF2F8"/>
          </a:solidFill>
          <a:ln/>
        </p:spPr>
      </p:sp>
      <p:sp>
        <p:nvSpPr>
          <p:cNvPr id="32" name="Shape 29"/>
          <p:cNvSpPr/>
          <p:nvPr/>
        </p:nvSpPr>
        <p:spPr>
          <a:xfrm>
            <a:off x="2560320" y="4389120"/>
            <a:ext cx="9189720" cy="96012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33" name="Shape 30"/>
          <p:cNvSpPr/>
          <p:nvPr/>
        </p:nvSpPr>
        <p:spPr>
          <a:xfrm>
            <a:off x="411480" y="5338267"/>
            <a:ext cx="1133856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34" name="Text 31"/>
          <p:cNvSpPr/>
          <p:nvPr/>
        </p:nvSpPr>
        <p:spPr>
          <a:xfrm>
            <a:off x="466344" y="4389120"/>
            <a:ext cx="20391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抗病毒口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服液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2724912" y="4485132"/>
            <a:ext cx="886053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孕妇、哺乳期妇女禁用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脾胃虚寒泄泻者慎服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11480" y="5349240"/>
            <a:ext cx="2148840" cy="960120"/>
          </a:xfrm>
          <a:prstGeom prst="rect">
            <a:avLst/>
          </a:prstGeom>
          <a:solidFill>
            <a:srgbClr val="F5F9FC"/>
          </a:solidFill>
          <a:ln/>
        </p:spPr>
      </p:sp>
      <p:sp>
        <p:nvSpPr>
          <p:cNvPr id="37" name="Shape 34"/>
          <p:cNvSpPr/>
          <p:nvPr/>
        </p:nvSpPr>
        <p:spPr>
          <a:xfrm>
            <a:off x="2560320" y="5349240"/>
            <a:ext cx="91897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5"/>
          <p:cNvSpPr/>
          <p:nvPr/>
        </p:nvSpPr>
        <p:spPr>
          <a:xfrm>
            <a:off x="466344" y="5349240"/>
            <a:ext cx="20391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奥司他韦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2724912" y="5445252"/>
            <a:ext cx="886053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1岁以下儿童慎用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8D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41248"/>
            <a:ext cx="12191695" cy="32004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621792" cy="475488"/>
          </a:xfrm>
          <a:prstGeom prst="roundRect">
            <a:avLst>
              <a:gd name="adj" fmla="val 9615"/>
            </a:avLst>
          </a:prstGeom>
          <a:solidFill>
            <a:srgbClr val="2B6CB0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82880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治疗用药</a:t>
            </a:r>
            <a:endParaRPr lang="en-US" sz="3000" dirty="0"/>
          </a:p>
        </p:txBody>
      </p:sp>
      <p:pic>
        <p:nvPicPr>
          <p:cNvPr id="7" name="Image 0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749" y="210312"/>
            <a:ext cx="1496291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65562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  ·  参课  ·  呼吸系统系列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11 / 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11480" y="1051560"/>
            <a:ext cx="1133856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E5A8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11480" y="1051560"/>
            <a:ext cx="11338560" cy="457200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13" name="Text 10"/>
          <p:cNvSpPr/>
          <p:nvPr/>
        </p:nvSpPr>
        <p:spPr>
          <a:xfrm>
            <a:off x="411480" y="10515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药品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560320" y="1051560"/>
            <a:ext cx="9189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注意事项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2551176" y="1051560"/>
            <a:ext cx="18288" cy="4754880"/>
          </a:xfrm>
          <a:prstGeom prst="rect">
            <a:avLst/>
          </a:prstGeom>
          <a:solidFill>
            <a:srgbClr val="8EB8D0"/>
          </a:solidFill>
          <a:ln/>
        </p:spPr>
      </p:sp>
      <p:sp>
        <p:nvSpPr>
          <p:cNvPr id="16" name="Shape 13"/>
          <p:cNvSpPr/>
          <p:nvPr/>
        </p:nvSpPr>
        <p:spPr>
          <a:xfrm>
            <a:off x="411480" y="1508760"/>
            <a:ext cx="2148840" cy="2148840"/>
          </a:xfrm>
          <a:prstGeom prst="rect">
            <a:avLst/>
          </a:prstGeom>
          <a:solidFill>
            <a:srgbClr val="F5F9FC"/>
          </a:solidFill>
          <a:ln/>
        </p:spPr>
      </p:sp>
      <p:sp>
        <p:nvSpPr>
          <p:cNvPr id="17" name="Shape 14"/>
          <p:cNvSpPr/>
          <p:nvPr/>
        </p:nvSpPr>
        <p:spPr>
          <a:xfrm>
            <a:off x="2560320" y="1508760"/>
            <a:ext cx="9189720" cy="2148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411480" y="3646627"/>
            <a:ext cx="1133856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19" name="Text 16"/>
          <p:cNvSpPr/>
          <p:nvPr/>
        </p:nvSpPr>
        <p:spPr>
          <a:xfrm>
            <a:off x="466344" y="1508760"/>
            <a:ext cx="203911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氯雷他定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2724912" y="1636776"/>
            <a:ext cx="8860536" cy="1892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不推荐6岁以下、6岁以上但体重≤30公斤的儿童使用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妊娠期及哺乳期妇女慎用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肝功能不全的患者在医生指导下使用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411480" y="3657600"/>
            <a:ext cx="2148840" cy="2148840"/>
          </a:xfrm>
          <a:prstGeom prst="rect">
            <a:avLst/>
          </a:prstGeom>
          <a:solidFill>
            <a:srgbClr val="EAF2F8"/>
          </a:solidFill>
          <a:ln/>
        </p:spPr>
      </p:sp>
      <p:sp>
        <p:nvSpPr>
          <p:cNvPr id="22" name="Shape 19"/>
          <p:cNvSpPr/>
          <p:nvPr/>
        </p:nvSpPr>
        <p:spPr>
          <a:xfrm>
            <a:off x="2560320" y="3657600"/>
            <a:ext cx="9189720" cy="214884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23" name="Text 20"/>
          <p:cNvSpPr/>
          <p:nvPr/>
        </p:nvSpPr>
        <p:spPr>
          <a:xfrm>
            <a:off x="466344" y="3657600"/>
            <a:ext cx="203911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盐酸伪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麻黄碱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2724912" y="3785616"/>
            <a:ext cx="8860536" cy="1892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严重肝肾功能不全者禁用，肝、肾功能不全者慎用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用药不超过7天，症状未缓解，请咨询医师或药师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不能同时服用成份相似的其他抗感冒药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服用本品期间不得饮酒或含有酒精的饮料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心脏病、高血压、甲状腺疾病、糖尿病等患者应在医师指导下使用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8D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41248"/>
            <a:ext cx="12191695" cy="32004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621792" cy="475488"/>
          </a:xfrm>
          <a:prstGeom prst="roundRect">
            <a:avLst>
              <a:gd name="adj" fmla="val 9615"/>
            </a:avLst>
          </a:prstGeom>
          <a:solidFill>
            <a:srgbClr val="2B6CB0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82880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治疗用药</a:t>
            </a:r>
            <a:endParaRPr lang="en-US" sz="3000" dirty="0"/>
          </a:p>
        </p:txBody>
      </p:sp>
      <p:pic>
        <p:nvPicPr>
          <p:cNvPr id="7" name="Image 0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749" y="210312"/>
            <a:ext cx="1496291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65562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  ·  参课  ·  呼吸系统系列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12 / 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11480" y="1078992"/>
            <a:ext cx="11384280" cy="475488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12" name="Text 9"/>
          <p:cNvSpPr/>
          <p:nvPr/>
        </p:nvSpPr>
        <p:spPr>
          <a:xfrm>
            <a:off x="411480" y="107899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药品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691640" y="1078992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对乙酰氨基酚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903720" y="1078992"/>
            <a:ext cx="4892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布洛芬颗粒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411480" y="1554480"/>
            <a:ext cx="11384280" cy="4828032"/>
          </a:xfrm>
          <a:prstGeom prst="rect">
            <a:avLst/>
          </a:prstGeom>
          <a:solidFill>
            <a:srgbClr val="FFFFFF"/>
          </a:solidFill>
          <a:ln w="9525">
            <a:solidFill>
              <a:srgbClr val="C8D6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691640" y="1554480"/>
            <a:ext cx="18288" cy="4828032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17" name="Shape 14"/>
          <p:cNvSpPr/>
          <p:nvPr/>
        </p:nvSpPr>
        <p:spPr>
          <a:xfrm>
            <a:off x="6903720" y="1554480"/>
            <a:ext cx="18288" cy="4828032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20040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事项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874520" y="1783080"/>
            <a:ext cx="484632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严重肝肾功能不全者禁用，过敏者禁用
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对阿司匹林过敏者慎用，肝肾功能不全者慎用，孕妇及哺乳期妇女慎用
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应尽量避免合并使用含有对乙酰氨基酚或其他解热镇痛药的药品
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口服一日最大量不超过2克
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用于解热连续使用不超过3天，用于止痛不超过5天
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服用期间不得饮酒或含有酒精的饮料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086600" y="1783080"/>
            <a:ext cx="452628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消化性溃疡患者、重度血液异常患者、重度肝脏病患者、重度肾脏病患者、重度心功能不全患者、重度高血压患者禁用，对成分有过敏既往史的患者禁用，对其他非甾体抗炎药过敏者禁用，阿司匹林哮喘或有既往史的患者禁用，孕妇及哺乳期妇女禁用
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老年人和儿童（6个月以下）慎重用药，尽可能将用量控制在所需的最小限度内
</a:t>
            </a:r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如出现胃肠道出血或溃疡、胸痛、气短、无力、言语含糊等情况，应停药并咨询医师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8D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41248"/>
            <a:ext cx="12191695" cy="32004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621792" cy="475488"/>
          </a:xfrm>
          <a:prstGeom prst="roundRect">
            <a:avLst>
              <a:gd name="adj" fmla="val 9615"/>
            </a:avLst>
          </a:prstGeom>
          <a:solidFill>
            <a:srgbClr val="2B6CB0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82880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治疗用药</a:t>
            </a:r>
            <a:endParaRPr lang="en-US" sz="3000" dirty="0"/>
          </a:p>
        </p:txBody>
      </p:sp>
      <p:pic>
        <p:nvPicPr>
          <p:cNvPr id="7" name="Image 0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749" y="210312"/>
            <a:ext cx="1496291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65562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  ·  参课  ·  呼吸系统系列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13 / 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11480" y="1051560"/>
            <a:ext cx="1133856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E5A8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11480" y="1051560"/>
            <a:ext cx="11338560" cy="457200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13" name="Text 10"/>
          <p:cNvSpPr/>
          <p:nvPr/>
        </p:nvSpPr>
        <p:spPr>
          <a:xfrm>
            <a:off x="411480" y="10515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药品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560320" y="1051560"/>
            <a:ext cx="9189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注意事项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2551176" y="1051560"/>
            <a:ext cx="18288" cy="4754880"/>
          </a:xfrm>
          <a:prstGeom prst="rect">
            <a:avLst/>
          </a:prstGeom>
          <a:solidFill>
            <a:srgbClr val="8EB8D0"/>
          </a:solidFill>
          <a:ln/>
        </p:spPr>
      </p:sp>
      <p:sp>
        <p:nvSpPr>
          <p:cNvPr id="16" name="Shape 13"/>
          <p:cNvSpPr/>
          <p:nvPr/>
        </p:nvSpPr>
        <p:spPr>
          <a:xfrm>
            <a:off x="411480" y="1508760"/>
            <a:ext cx="2148840" cy="2148840"/>
          </a:xfrm>
          <a:prstGeom prst="rect">
            <a:avLst/>
          </a:prstGeom>
          <a:solidFill>
            <a:srgbClr val="F5F9FC"/>
          </a:solidFill>
          <a:ln/>
        </p:spPr>
      </p:sp>
      <p:sp>
        <p:nvSpPr>
          <p:cNvPr id="17" name="Shape 14"/>
          <p:cNvSpPr/>
          <p:nvPr/>
        </p:nvSpPr>
        <p:spPr>
          <a:xfrm>
            <a:off x="2560320" y="1508760"/>
            <a:ext cx="9189720" cy="2148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411480" y="3646627"/>
            <a:ext cx="1133856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19" name="Text 16"/>
          <p:cNvSpPr/>
          <p:nvPr/>
        </p:nvSpPr>
        <p:spPr>
          <a:xfrm>
            <a:off x="466344" y="1508760"/>
            <a:ext cx="203911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右美沙芬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2724912" y="1636776"/>
            <a:ext cx="8860536" cy="1892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妊娠3个月内妇女，有精神病史者及哺乳期妇女禁用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肝肾功能不全者禁用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2周岁以下儿童使用时请咨询医师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不得与单胺氧化酶抑制剂及抗抑郁药并用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用药不得超过7天，症状未缓解应向医师或药师咨询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服药期间不得驾驶机、车、船，从事高空作业、机械作业及操作精密仪器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411480" y="3657600"/>
            <a:ext cx="2148840" cy="2148840"/>
          </a:xfrm>
          <a:prstGeom prst="rect">
            <a:avLst/>
          </a:prstGeom>
          <a:solidFill>
            <a:srgbClr val="EAF2F8"/>
          </a:solidFill>
          <a:ln/>
        </p:spPr>
      </p:sp>
      <p:sp>
        <p:nvSpPr>
          <p:cNvPr id="22" name="Shape 19"/>
          <p:cNvSpPr/>
          <p:nvPr/>
        </p:nvSpPr>
        <p:spPr>
          <a:xfrm>
            <a:off x="2560320" y="3657600"/>
            <a:ext cx="9189720" cy="214884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23" name="Text 20"/>
          <p:cNvSpPr/>
          <p:nvPr/>
        </p:nvSpPr>
        <p:spPr>
          <a:xfrm>
            <a:off x="466344" y="3657600"/>
            <a:ext cx="203911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氨溴索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2724912" y="3785616"/>
            <a:ext cx="8860536" cy="1892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孕妇、哺乳期妇女慎用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6岁以下儿童应在医师指导下使用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肝肾功能不全者应在医师指导下使用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应避免与中枢镇咳药（如右美沙芬）同时使用，以免稀化的痰液堵塞气道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8D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41248"/>
            <a:ext cx="12191695" cy="32004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621792" cy="475488"/>
          </a:xfrm>
          <a:prstGeom prst="roundRect">
            <a:avLst>
              <a:gd name="adj" fmla="val 9615"/>
            </a:avLst>
          </a:prstGeom>
          <a:solidFill>
            <a:srgbClr val="2B6CB0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82880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治疗用药</a:t>
            </a:r>
            <a:endParaRPr lang="en-US" sz="3000" dirty="0"/>
          </a:p>
        </p:txBody>
      </p:sp>
      <p:pic>
        <p:nvPicPr>
          <p:cNvPr id="7" name="Image 0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749" y="210312"/>
            <a:ext cx="1496291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65562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  ·  参课  ·  呼吸系统系列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14 / 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11480" y="1051560"/>
            <a:ext cx="11338560" cy="4754880"/>
          </a:xfrm>
          <a:prstGeom prst="rect">
            <a:avLst/>
          </a:prstGeom>
          <a:solidFill>
            <a:srgbClr val="FFFFFF"/>
          </a:solidFill>
          <a:ln w="15875">
            <a:solidFill>
              <a:srgbClr val="1E5A8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11480" y="1051560"/>
            <a:ext cx="11338560" cy="457200"/>
          </a:xfrm>
          <a:prstGeom prst="rect">
            <a:avLst/>
          </a:prstGeom>
          <a:solidFill>
            <a:srgbClr val="1E5A8A"/>
          </a:solidFill>
          <a:ln/>
        </p:spPr>
      </p:sp>
      <p:sp>
        <p:nvSpPr>
          <p:cNvPr id="13" name="Text 10"/>
          <p:cNvSpPr/>
          <p:nvPr/>
        </p:nvSpPr>
        <p:spPr>
          <a:xfrm>
            <a:off x="411480" y="10515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药品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2560320" y="1051560"/>
            <a:ext cx="9189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注意事项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2551176" y="1051560"/>
            <a:ext cx="18288" cy="4754880"/>
          </a:xfrm>
          <a:prstGeom prst="rect">
            <a:avLst/>
          </a:prstGeom>
          <a:solidFill>
            <a:srgbClr val="8EB8D0"/>
          </a:solidFill>
          <a:ln/>
        </p:spPr>
      </p:sp>
      <p:sp>
        <p:nvSpPr>
          <p:cNvPr id="16" name="Shape 13"/>
          <p:cNvSpPr/>
          <p:nvPr/>
        </p:nvSpPr>
        <p:spPr>
          <a:xfrm>
            <a:off x="411480" y="1508760"/>
            <a:ext cx="2148840" cy="2148840"/>
          </a:xfrm>
          <a:prstGeom prst="rect">
            <a:avLst/>
          </a:prstGeom>
          <a:solidFill>
            <a:srgbClr val="F5F9FC"/>
          </a:solidFill>
          <a:ln/>
        </p:spPr>
      </p:sp>
      <p:sp>
        <p:nvSpPr>
          <p:cNvPr id="17" name="Shape 14"/>
          <p:cNvSpPr/>
          <p:nvPr/>
        </p:nvSpPr>
        <p:spPr>
          <a:xfrm>
            <a:off x="2560320" y="1508760"/>
            <a:ext cx="9189720" cy="2148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5"/>
          <p:cNvSpPr/>
          <p:nvPr/>
        </p:nvSpPr>
        <p:spPr>
          <a:xfrm>
            <a:off x="411480" y="3646627"/>
            <a:ext cx="11338560" cy="10973"/>
          </a:xfrm>
          <a:prstGeom prst="rect">
            <a:avLst/>
          </a:prstGeom>
          <a:solidFill>
            <a:srgbClr val="C8D6E6"/>
          </a:solidFill>
          <a:ln/>
        </p:spPr>
      </p:sp>
      <p:sp>
        <p:nvSpPr>
          <p:cNvPr id="19" name="Text 16"/>
          <p:cNvSpPr/>
          <p:nvPr/>
        </p:nvSpPr>
        <p:spPr>
          <a:xfrm>
            <a:off x="466344" y="1508760"/>
            <a:ext cx="203911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利咽解毒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颗粒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2724912" y="1636776"/>
            <a:ext cx="8860536" cy="1892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声嘶、咽痛初起，兼见恶寒发热、鼻流清涕等外感风寒者不适用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有高血压、心脏病、肝病、糖尿病、肾病等慢性病严重者应在医师指导下服用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儿童、孕妇、哺乳期妇女、年老体弱、脾虚便溏者应在医师指导下服用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扁桃体有化脓或发热体温超过38.5℃的患者应医院就诊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服药3天症状无缓解，应去医院就诊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411480" y="3657600"/>
            <a:ext cx="2148840" cy="2148840"/>
          </a:xfrm>
          <a:prstGeom prst="rect">
            <a:avLst/>
          </a:prstGeom>
          <a:solidFill>
            <a:srgbClr val="EAF2F8"/>
          </a:solidFill>
          <a:ln/>
        </p:spPr>
      </p:sp>
      <p:sp>
        <p:nvSpPr>
          <p:cNvPr id="22" name="Shape 19"/>
          <p:cNvSpPr/>
          <p:nvPr/>
        </p:nvSpPr>
        <p:spPr>
          <a:xfrm>
            <a:off x="2560320" y="3657600"/>
            <a:ext cx="9189720" cy="214884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23" name="Text 20"/>
          <p:cNvSpPr/>
          <p:nvPr/>
        </p:nvSpPr>
        <p:spPr>
          <a:xfrm>
            <a:off x="466344" y="3657600"/>
            <a:ext cx="203911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清咽滴丸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2724912" y="3785616"/>
            <a:ext cx="8860536" cy="1892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孕妇慎用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不宜在服药期间同时服用温补性中成药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按照用法用量服用，儿童应在医师指导下服用
</a:t>
            </a:r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服药3天后症状无改善，或出现其他症状，应医院就诊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8D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41248"/>
            <a:ext cx="12191695" cy="32004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621792" cy="475488"/>
          </a:xfrm>
          <a:prstGeom prst="roundRect">
            <a:avLst>
              <a:gd name="adj" fmla="val 9615"/>
            </a:avLst>
          </a:prstGeom>
          <a:solidFill>
            <a:srgbClr val="2B6CB0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82880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专业关怀</a:t>
            </a:r>
            <a:endParaRPr lang="en-US" sz="3000" dirty="0"/>
          </a:p>
        </p:txBody>
      </p:sp>
      <p:pic>
        <p:nvPicPr>
          <p:cNvPr id="7" name="Image 0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749" y="210312"/>
            <a:ext cx="1496291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65562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  ·  参课  ·  呼吸系统系列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15 / 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1005840"/>
            <a:ext cx="11430000" cy="960120"/>
          </a:xfrm>
          <a:prstGeom prst="roundRect">
            <a:avLst>
              <a:gd name="adj" fmla="val 5714"/>
            </a:avLst>
          </a:prstGeom>
          <a:solidFill>
            <a:srgbClr val="EAF2FA"/>
          </a:solidFill>
          <a:ln w="12700">
            <a:solidFill>
              <a:srgbClr val="A8C5E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1078992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急性期须积极采取抗感染治疗</a:t>
            </a:r>
            <a:pPr indent="0" marL="0">
              <a:buNone/>
            </a:pPr>
            <a:r>
              <a:rPr lang="en-US" sz="18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，以免耽误病情，病情稳定后注意增强和改善自身免疫功能的，减少再次感染的机率。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365760" y="2148840"/>
            <a:ext cx="3749040" cy="4224528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5875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30352" y="2313432"/>
            <a:ext cx="3419856" cy="2395728"/>
          </a:xfrm>
          <a:prstGeom prst="roundRect">
            <a:avLst>
              <a:gd name="adj" fmla="val 1908"/>
            </a:avLst>
          </a:prstGeom>
          <a:solidFill>
            <a:srgbClr val="F7FAFD"/>
          </a:solidFill>
          <a:ln/>
        </p:spPr>
      </p:sp>
      <p:pic>
        <p:nvPicPr>
          <p:cNvPr id="15" name="Image 1" descr="/Users/liminrong/Projects/chain-pharmacy-content-studio/production-library/templates/settled/disease-health-shenke-blue-v1/generator/assets/care-drin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359152"/>
            <a:ext cx="3200400" cy="230428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94360" y="4828032"/>
            <a:ext cx="3291840" cy="27432"/>
          </a:xfrm>
          <a:prstGeom prst="rect">
            <a:avLst/>
          </a:prstGeom>
          <a:solidFill>
            <a:srgbClr val="E3EEF8"/>
          </a:solidFill>
          <a:ln/>
        </p:spPr>
      </p:sp>
      <p:sp>
        <p:nvSpPr>
          <p:cNvPr id="17" name="Text 13"/>
          <p:cNvSpPr/>
          <p:nvPr/>
        </p:nvSpPr>
        <p:spPr>
          <a:xfrm>
            <a:off x="621792" y="4956048"/>
            <a:ext cx="324612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饮食清淡，营养均衡、多休息、</a:t>
            </a:r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多饮水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、男士戒烟，女士避免接触二手烟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4251960" y="2148840"/>
            <a:ext cx="3749040" cy="4224528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5875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416552" y="2313432"/>
            <a:ext cx="3419856" cy="2395728"/>
          </a:xfrm>
          <a:prstGeom prst="roundRect">
            <a:avLst>
              <a:gd name="adj" fmla="val 1908"/>
            </a:avLst>
          </a:prstGeom>
          <a:solidFill>
            <a:srgbClr val="F7FAFD"/>
          </a:solidFill>
          <a:ln/>
        </p:spPr>
      </p:sp>
      <p:pic>
        <p:nvPicPr>
          <p:cNvPr id="20" name="Image 2" descr="/Users/liminrong/Projects/chain-pharmacy-content-studio/production-library/templates/settled/disease-health-shenke-blue-v1/generator/assets/care-no-crow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26280" y="2359152"/>
            <a:ext cx="3200400" cy="2304288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4480560" y="4828032"/>
            <a:ext cx="3291840" cy="27432"/>
          </a:xfrm>
          <a:prstGeom prst="rect">
            <a:avLst/>
          </a:prstGeom>
          <a:solidFill>
            <a:srgbClr val="E3EEF8"/>
          </a:solidFill>
          <a:ln/>
        </p:spPr>
      </p:sp>
      <p:sp>
        <p:nvSpPr>
          <p:cNvPr id="22" name="Text 17"/>
          <p:cNvSpPr/>
          <p:nvPr/>
        </p:nvSpPr>
        <p:spPr>
          <a:xfrm>
            <a:off x="4507992" y="4956048"/>
            <a:ext cx="324612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生活环境保持整洁</a:t>
            </a:r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通风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，尽量避免去人群聚集的场所，减少与病原体的接触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8138160" y="2148840"/>
            <a:ext cx="3749040" cy="4224528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5875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302752" y="2313432"/>
            <a:ext cx="3419856" cy="2395728"/>
          </a:xfrm>
          <a:prstGeom prst="roundRect">
            <a:avLst>
              <a:gd name="adj" fmla="val 1908"/>
            </a:avLst>
          </a:prstGeom>
          <a:solidFill>
            <a:srgbClr val="F7FAFD"/>
          </a:solidFill>
          <a:ln/>
        </p:spPr>
      </p:sp>
      <p:pic>
        <p:nvPicPr>
          <p:cNvPr id="25" name="Image 3" descr="/Users/liminrong/Projects/chain-pharmacy-content-studio/production-library/templates/settled/disease-health-shenke-blue-v1/generator/assets/care-exercis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2480" y="2359152"/>
            <a:ext cx="3200400" cy="2304288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8366760" y="4828032"/>
            <a:ext cx="3291840" cy="27432"/>
          </a:xfrm>
          <a:prstGeom prst="rect">
            <a:avLst/>
          </a:prstGeom>
          <a:solidFill>
            <a:srgbClr val="E3EEF8"/>
          </a:solidFill>
          <a:ln/>
        </p:spPr>
      </p:sp>
      <p:sp>
        <p:nvSpPr>
          <p:cNvPr id="27" name="Text 21"/>
          <p:cNvSpPr/>
          <p:nvPr/>
        </p:nvSpPr>
        <p:spPr>
          <a:xfrm>
            <a:off x="8394192" y="4956048"/>
            <a:ext cx="324612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经常锻炼，增强体质，</a:t>
            </a:r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提高自身免疫力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C8D6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41248"/>
            <a:ext cx="12191695" cy="32004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82880"/>
            <a:ext cx="621792" cy="475488"/>
          </a:xfrm>
          <a:prstGeom prst="roundRect">
            <a:avLst>
              <a:gd name="adj" fmla="val 9615"/>
            </a:avLst>
          </a:prstGeom>
          <a:solidFill>
            <a:srgbClr val="2B6CB0"/>
          </a:solidFill>
          <a:ln/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82880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专业关怀</a:t>
            </a:r>
            <a:endParaRPr lang="en-US" sz="3000" dirty="0"/>
          </a:p>
        </p:txBody>
      </p:sp>
      <p:pic>
        <p:nvPicPr>
          <p:cNvPr id="7" name="Image 0" descr="/Users/liminrong/Projects/chain-pharmacy-content-studio/production-library/templates/settled/disease-health-shenke-blue-v1/generator/assets/logo-shen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3749" y="210312"/>
            <a:ext cx="1496291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6510528"/>
            <a:ext cx="11368735" cy="10973"/>
          </a:xfrm>
          <a:prstGeom prst="rect">
            <a:avLst/>
          </a:prstGeom>
          <a:solidFill>
            <a:srgbClr val="D8E2EE"/>
          </a:solidFill>
          <a:ln/>
        </p:spPr>
      </p:sp>
      <p:sp>
        <p:nvSpPr>
          <p:cNvPr id="9" name="Text 6"/>
          <p:cNvSpPr/>
          <p:nvPr/>
        </p:nvSpPr>
        <p:spPr>
          <a:xfrm>
            <a:off x="411480" y="65562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大参林医药集团  ·  参课  ·  呼吸系统系列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138160" y="65562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仅限内部学习  ·  16 / 18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1051560"/>
            <a:ext cx="3749040" cy="53492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905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1051560"/>
            <a:ext cx="3749040" cy="10972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1325880"/>
            <a:ext cx="33375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儿童、老人可以常规接种</a:t>
            </a:r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流感疫苗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，同时并合用其他的预防手段</a:t>
            </a:r>
            <a:endParaRPr lang="en-US" sz="1700" dirty="0"/>
          </a:p>
        </p:txBody>
      </p:sp>
      <p:pic>
        <p:nvPicPr>
          <p:cNvPr id="14" name="Image 1" descr="/Users/liminrong/Projects/chain-pharmacy-content-studio/production-library/templates/settled/disease-health-shenke-blue-v1/generator/assets/care-vacc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4360" y="3520440"/>
            <a:ext cx="3291840" cy="269748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251960" y="1051560"/>
            <a:ext cx="3749040" cy="53492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905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251960" y="1051560"/>
            <a:ext cx="3749040" cy="10972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17" name="Text 13"/>
          <p:cNvSpPr/>
          <p:nvPr/>
        </p:nvSpPr>
        <p:spPr>
          <a:xfrm>
            <a:off x="4453128" y="1325880"/>
            <a:ext cx="33375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1岁以下幼儿慎用感冒药；孕妇、哺乳期妇女慎用感冒药</a:t>
            </a:r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，以免影响胎儿婴儿</a:t>
            </a:r>
            <a:endParaRPr lang="en-US" sz="1700" dirty="0"/>
          </a:p>
        </p:txBody>
      </p:sp>
      <p:pic>
        <p:nvPicPr>
          <p:cNvPr id="18" name="Image 2" descr="/Users/liminrong/Projects/chain-pharmacy-content-studio/production-library/templates/settled/disease-health-shenke-blue-v1/generator/assets/care-special-pop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80560" y="3520440"/>
            <a:ext cx="3291840" cy="26974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8138160" y="1051560"/>
            <a:ext cx="3749040" cy="53492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905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138160" y="1051560"/>
            <a:ext cx="3749040" cy="10972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21" name="Text 16"/>
          <p:cNvSpPr/>
          <p:nvPr/>
        </p:nvSpPr>
        <p:spPr>
          <a:xfrm>
            <a:off x="8339328" y="1325880"/>
            <a:ext cx="33375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具有一定的传染性，提醒患者密切接触的家人注意隔离防护，</a:t>
            </a:r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避免交叉感染</a:t>
            </a:r>
            <a:endParaRPr lang="en-US" sz="1700" dirty="0"/>
          </a:p>
        </p:txBody>
      </p:sp>
      <p:pic>
        <p:nvPicPr>
          <p:cNvPr id="22" name="Image 3" descr="/Users/liminrong/Projects/chain-pharmacy-content-studio/production-library/templates/settled/disease-health-shenke-blue-v1/generator/assets/care-ventilat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366760" y="3520440"/>
            <a:ext cx="329184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3A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365760"/>
            <a:ext cx="1645920" cy="1097280"/>
          </a:xfrm>
          <a:prstGeom prst="ellipse">
            <a:avLst/>
          </a:prstGeom>
          <a:solidFill>
            <a:srgbClr val="1A6BC4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194560" y="365760"/>
            <a:ext cx="1645920" cy="1097280"/>
          </a:xfrm>
          <a:prstGeom prst="ellipse">
            <a:avLst/>
          </a:prstGeom>
          <a:solidFill>
            <a:srgbClr val="1A6BC4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114800" y="365760"/>
            <a:ext cx="1645920" cy="1097280"/>
          </a:xfrm>
          <a:prstGeom prst="ellipse">
            <a:avLst/>
          </a:prstGeom>
          <a:solidFill>
            <a:srgbClr val="1A6BC4">
              <a:alpha val="1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035040" y="365760"/>
            <a:ext cx="1645920" cy="1097280"/>
          </a:xfrm>
          <a:prstGeom prst="ellipse">
            <a:avLst/>
          </a:prstGeom>
          <a:solidFill>
            <a:srgbClr val="1A6BC4">
              <a:alpha val="1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955280" y="365760"/>
            <a:ext cx="1645920" cy="1097280"/>
          </a:xfrm>
          <a:prstGeom prst="ellipse">
            <a:avLst/>
          </a:prstGeom>
          <a:solidFill>
            <a:srgbClr val="1A6BC4">
              <a:alpha val="1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875520" y="365760"/>
            <a:ext cx="1645920" cy="1097280"/>
          </a:xfrm>
          <a:prstGeom prst="ellipse">
            <a:avLst/>
          </a:prstGeom>
          <a:solidFill>
            <a:srgbClr val="1A6BC4">
              <a:alpha val="1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3291840"/>
            <a:ext cx="1645920" cy="1097280"/>
          </a:xfrm>
          <a:prstGeom prst="ellipse">
            <a:avLst/>
          </a:prstGeom>
          <a:solidFill>
            <a:srgbClr val="1A6BC4">
              <a:alpha val="1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194560" y="3291840"/>
            <a:ext cx="1645920" cy="1097280"/>
          </a:xfrm>
          <a:prstGeom prst="ellipse">
            <a:avLst/>
          </a:prstGeom>
          <a:solidFill>
            <a:srgbClr val="1A6BC4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0" y="3291840"/>
            <a:ext cx="1645920" cy="1097280"/>
          </a:xfrm>
          <a:prstGeom prst="ellipse">
            <a:avLst/>
          </a:prstGeom>
          <a:solidFill>
            <a:srgbClr val="1A6BC4">
              <a:alpha val="1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0" y="3291840"/>
            <a:ext cx="1645920" cy="1097280"/>
          </a:xfrm>
          <a:prstGeom prst="ellipse">
            <a:avLst/>
          </a:prstGeom>
          <a:solidFill>
            <a:srgbClr val="1A6BC4">
              <a:alpha val="1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955280" y="3291840"/>
            <a:ext cx="1645920" cy="1097280"/>
          </a:xfrm>
          <a:prstGeom prst="ellipse">
            <a:avLst/>
          </a:prstGeom>
          <a:solidFill>
            <a:srgbClr val="1A6BC4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75520" y="3291840"/>
            <a:ext cx="1645920" cy="1097280"/>
          </a:xfrm>
          <a:prstGeom prst="ellipse">
            <a:avLst/>
          </a:prstGeom>
          <a:solidFill>
            <a:srgbClr val="1A6BC4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-2194560" y="5440680"/>
            <a:ext cx="17282160" cy="4206240"/>
          </a:xfrm>
          <a:prstGeom prst="ellipse">
            <a:avLst/>
          </a:prstGeom>
          <a:solidFill>
            <a:srgbClr val="4A90D9">
              <a:alpha val="6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-2011680" y="5742432"/>
            <a:ext cx="16916400" cy="4206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0" descr="/Users/liminrong/Projects/chain-pharmacy-content-studio/production-library/templates/settled/disease-health-shenke-blue-v1/generator/assets/logo-shenke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2309" y="274320"/>
            <a:ext cx="1496291" cy="457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737360" y="1828800"/>
            <a:ext cx="8686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专业服务</a:t>
            </a:r>
            <a:endParaRPr lang="en-US" sz="4600" dirty="0"/>
          </a:p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助力健康</a:t>
            </a:r>
            <a:endParaRPr lang="en-US" sz="4600" dirty="0"/>
          </a:p>
        </p:txBody>
      </p:sp>
      <p:sp>
        <p:nvSpPr>
          <p:cNvPr id="18" name="Shape 15"/>
          <p:cNvSpPr/>
          <p:nvPr/>
        </p:nvSpPr>
        <p:spPr>
          <a:xfrm>
            <a:off x="5641848" y="4224528"/>
            <a:ext cx="914400" cy="64008"/>
          </a:xfrm>
          <a:prstGeom prst="roundRect">
            <a:avLst>
              <a:gd name="adj" fmla="val 50000"/>
            </a:avLst>
          </a:prstGeom>
          <a:solidFill>
            <a:srgbClr val="7FB6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635240" y="5321808"/>
            <a:ext cx="4160520" cy="1170432"/>
          </a:xfrm>
          <a:prstGeom prst="roundRect">
            <a:avLst>
              <a:gd name="adj" fmla="val 3906"/>
            </a:avLst>
          </a:prstGeom>
          <a:solidFill>
            <a:srgbClr val="F0F6FC"/>
          </a:solidFill>
          <a:ln w="9525">
            <a:solidFill>
              <a:srgbClr val="C8D6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35240" y="5321808"/>
            <a:ext cx="128016" cy="1170432"/>
          </a:xfrm>
          <a:prstGeom prst="rect">
            <a:avLst/>
          </a:prstGeom>
          <a:solidFill>
            <a:srgbClr val="1E6BB8"/>
          </a:solidFill>
          <a:ln/>
        </p:spPr>
      </p:sp>
      <p:sp>
        <p:nvSpPr>
          <p:cNvPr id="21" name="Text 18"/>
          <p:cNvSpPr/>
          <p:nvPr/>
        </p:nvSpPr>
        <p:spPr>
          <a:xfrm>
            <a:off x="7973568" y="543153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宿凌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7973568" y="577900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 副教授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973568" y="607161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药事管理学教研室副主任 硕士生导师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38524" y="192024"/>
            <a:ext cx="4806086" cy="6583680"/>
          </a:xfrm>
          <a:prstGeom prst="roundRect">
            <a:avLst>
              <a:gd name="adj" fmla="val 1142"/>
            </a:avLst>
          </a:prstGeom>
          <a:solidFill>
            <a:srgbClr val="C5D0DE"/>
          </a:solidFill>
          <a:ln/>
        </p:spPr>
      </p:sp>
      <p:sp>
        <p:nvSpPr>
          <p:cNvPr id="3" name="Shape 1"/>
          <p:cNvSpPr/>
          <p:nvPr/>
        </p:nvSpPr>
        <p:spPr>
          <a:xfrm>
            <a:off x="3692804" y="137160"/>
            <a:ext cx="4806086" cy="6583680"/>
          </a:xfrm>
          <a:prstGeom prst="roundRect">
            <a:avLst>
              <a:gd name="adj" fmla="val 951"/>
            </a:avLst>
          </a:prstGeom>
          <a:solidFill>
            <a:srgbClr val="FFFFFF"/>
          </a:solidFill>
          <a:ln w="22225">
            <a:solidFill>
              <a:srgbClr val="1A4F8C"/>
            </a:solidFill>
            <a:prstDash val="solid"/>
          </a:ln>
        </p:spPr>
      </p:sp>
      <p:pic>
        <p:nvPicPr>
          <p:cNvPr id="4" name="Image 0" descr="/Users/liminrong/Projects/chain-pharmacy-content-studio/production-library/templates/settled/disease-health-shenke-blue-v1/generator/assets/summary-serie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857396" y="283464"/>
            <a:ext cx="9692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81524" y="283464"/>
            <a:ext cx="34253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健康顾问专业力系列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857396" y="667512"/>
            <a:ext cx="4476902" cy="438912"/>
          </a:xfrm>
          <a:prstGeom prst="roundRect">
            <a:avLst>
              <a:gd name="adj" fmla="val 8333"/>
            </a:avLst>
          </a:prstGeom>
          <a:solidFill>
            <a:srgbClr val="1A4F8C"/>
          </a:solidFill>
          <a:ln/>
        </p:spPr>
      </p:sp>
      <p:sp>
        <p:nvSpPr>
          <p:cNvPr id="7" name="Text 4"/>
          <p:cNvSpPr/>
          <p:nvPr/>
        </p:nvSpPr>
        <p:spPr>
          <a:xfrm>
            <a:off x="3857396" y="667512"/>
            <a:ext cx="447690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呼吸系统课程  急性上呼吸道感染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857396" y="1234440"/>
            <a:ext cx="128016" cy="128016"/>
          </a:xfrm>
          <a:prstGeom prst="rect">
            <a:avLst/>
          </a:prstGeom>
          <a:solidFill>
            <a:srgbClr val="8EB8E0"/>
          </a:solidFill>
          <a:ln/>
        </p:spPr>
      </p:sp>
      <p:sp>
        <p:nvSpPr>
          <p:cNvPr id="9" name="Shape 6"/>
          <p:cNvSpPr/>
          <p:nvPr/>
        </p:nvSpPr>
        <p:spPr>
          <a:xfrm>
            <a:off x="4058564" y="1197864"/>
            <a:ext cx="1051560" cy="310896"/>
          </a:xfrm>
          <a:prstGeom prst="roundRect">
            <a:avLst>
              <a:gd name="adj" fmla="val 8824"/>
            </a:avLst>
          </a:prstGeom>
          <a:solidFill>
            <a:srgbClr val="1A4F8C"/>
          </a:solidFill>
          <a:ln/>
        </p:spPr>
      </p:sp>
      <p:sp>
        <p:nvSpPr>
          <p:cNvPr id="10" name="Text 7"/>
          <p:cNvSpPr/>
          <p:nvPr/>
        </p:nvSpPr>
        <p:spPr>
          <a:xfrm>
            <a:off x="4058564" y="119786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疾病概览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219852" y="1197864"/>
            <a:ext cx="31144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急性上呼吸道感染是鼻腔、咽或喉部急性炎症的概称，是呼吸道最常见的一种传染疾病。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857396" y="1892808"/>
            <a:ext cx="128016" cy="128016"/>
          </a:xfrm>
          <a:prstGeom prst="rect">
            <a:avLst/>
          </a:prstGeom>
          <a:solidFill>
            <a:srgbClr val="8EB8E0"/>
          </a:solidFill>
          <a:ln/>
        </p:spPr>
      </p:sp>
      <p:sp>
        <p:nvSpPr>
          <p:cNvPr id="13" name="Shape 10"/>
          <p:cNvSpPr/>
          <p:nvPr/>
        </p:nvSpPr>
        <p:spPr>
          <a:xfrm>
            <a:off x="4058564" y="1856232"/>
            <a:ext cx="1051560" cy="310896"/>
          </a:xfrm>
          <a:prstGeom prst="roundRect">
            <a:avLst>
              <a:gd name="adj" fmla="val 8824"/>
            </a:avLst>
          </a:prstGeom>
          <a:solidFill>
            <a:srgbClr val="1A4F8C"/>
          </a:solidFill>
          <a:ln/>
        </p:spPr>
      </p:sp>
      <p:sp>
        <p:nvSpPr>
          <p:cNvPr id="14" name="Text 11"/>
          <p:cNvSpPr/>
          <p:nvPr/>
        </p:nvSpPr>
        <p:spPr>
          <a:xfrm>
            <a:off x="4058564" y="185623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临床表现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219852" y="1856232"/>
            <a:ext cx="311444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1、普通感冒：打喷嚏、鼻塞、流水样鼻涕等鼻咽部卡他症状，有无咽痛、咽痒、声哑等。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2、病毒性咽炎、喉炎：患者有咽喉部发痒和烧灼感，声音嘶哑，讲话困难，咳嗽时疼痛等。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3、疱疹性咽峡炎：患者有明显的咽痛、发热。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857396" y="2944368"/>
            <a:ext cx="128016" cy="128016"/>
          </a:xfrm>
          <a:prstGeom prst="rect">
            <a:avLst/>
          </a:prstGeom>
          <a:solidFill>
            <a:srgbClr val="8EB8E0"/>
          </a:solidFill>
          <a:ln/>
        </p:spPr>
      </p:sp>
      <p:sp>
        <p:nvSpPr>
          <p:cNvPr id="17" name="Shape 14"/>
          <p:cNvSpPr/>
          <p:nvPr/>
        </p:nvSpPr>
        <p:spPr>
          <a:xfrm>
            <a:off x="4058564" y="2907792"/>
            <a:ext cx="1051560" cy="292608"/>
          </a:xfrm>
          <a:prstGeom prst="roundRect">
            <a:avLst>
              <a:gd name="adj" fmla="val 9375"/>
            </a:avLst>
          </a:prstGeom>
          <a:solidFill>
            <a:srgbClr val="1A4F8C"/>
          </a:solidFill>
          <a:ln/>
        </p:spPr>
      </p:sp>
      <p:sp>
        <p:nvSpPr>
          <p:cNvPr id="18" name="Text 15"/>
          <p:cNvSpPr/>
          <p:nvPr/>
        </p:nvSpPr>
        <p:spPr>
          <a:xfrm>
            <a:off x="4058564" y="290779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治疗用药</a:t>
            </a:r>
            <a:endParaRPr lang="en-US" sz="1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48836" y="3255264"/>
          <a:ext cx="4294022" cy="960120"/>
        </p:xfrm>
        <a:graphic>
          <a:graphicData uri="http://schemas.openxmlformats.org/drawingml/2006/table">
            <a:tbl>
              <a:tblPr/>
              <a:tblGrid>
                <a:gridCol w="858804"/>
                <a:gridCol w="944685"/>
                <a:gridCol w="2490533"/>
              </a:tblGrid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5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5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具体用药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5A8A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消炎杀菌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阿莫西林、头孢拉定、罗红霉素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辅药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缓解症状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EF4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冬凌草糖浆、利咽解毒颗粒、清咽滴丸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EF4FA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关联用药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增强体质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复合维生素、维生素C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C8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3948836" y="4306824"/>
            <a:ext cx="1358189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397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948836" y="4306824"/>
            <a:ext cx="1358189" cy="6400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22" name="Shape 18"/>
          <p:cNvSpPr/>
          <p:nvPr/>
        </p:nvSpPr>
        <p:spPr>
          <a:xfrm>
            <a:off x="4095140" y="4425696"/>
            <a:ext cx="1065581" cy="192024"/>
          </a:xfrm>
          <a:prstGeom prst="roundRect">
            <a:avLst>
              <a:gd name="adj" fmla="val 23810"/>
            </a:avLst>
          </a:prstGeom>
          <a:solidFill>
            <a:srgbClr val="F0F6FC"/>
          </a:solidFill>
          <a:ln w="12700">
            <a:solidFill>
              <a:srgbClr val="5A9BD5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 rot="19800000">
            <a:off x="4435907" y="4439412"/>
            <a:ext cx="384048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B6CB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 rot="19800000">
            <a:off x="4435907" y="4439412"/>
            <a:ext cx="192024" cy="164592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/>
        </p:spPr>
      </p:sp>
      <p:sp>
        <p:nvSpPr>
          <p:cNvPr id="25" name="Text 21"/>
          <p:cNvSpPr/>
          <p:nvPr/>
        </p:nvSpPr>
        <p:spPr>
          <a:xfrm>
            <a:off x="4003700" y="4645152"/>
            <a:ext cx="12484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阿莫西林胶囊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4003700" y="4882896"/>
            <a:ext cx="124846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授权包装图替换位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5380177" y="4306824"/>
            <a:ext cx="1358189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397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5380177" y="4306824"/>
            <a:ext cx="1358189" cy="6400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29" name="Shape 25"/>
          <p:cNvSpPr/>
          <p:nvPr/>
        </p:nvSpPr>
        <p:spPr>
          <a:xfrm>
            <a:off x="5526481" y="4425696"/>
            <a:ext cx="1065581" cy="192024"/>
          </a:xfrm>
          <a:prstGeom prst="roundRect">
            <a:avLst>
              <a:gd name="adj" fmla="val 23810"/>
            </a:avLst>
          </a:prstGeom>
          <a:solidFill>
            <a:srgbClr val="F0F6FC"/>
          </a:solidFill>
          <a:ln w="12700">
            <a:solidFill>
              <a:srgbClr val="5A9BD5"/>
            </a:solidFill>
            <a:prstDash val="dash"/>
          </a:ln>
        </p:spPr>
      </p:sp>
      <p:sp>
        <p:nvSpPr>
          <p:cNvPr id="30" name="Shape 26"/>
          <p:cNvSpPr/>
          <p:nvPr/>
        </p:nvSpPr>
        <p:spPr>
          <a:xfrm rot="19800000">
            <a:off x="5867248" y="4439412"/>
            <a:ext cx="384048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B6CB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 rot="19800000">
            <a:off x="5867248" y="4439412"/>
            <a:ext cx="192024" cy="164592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/>
        </p:spPr>
      </p:sp>
      <p:sp>
        <p:nvSpPr>
          <p:cNvPr id="32" name="Text 28"/>
          <p:cNvSpPr/>
          <p:nvPr/>
        </p:nvSpPr>
        <p:spPr>
          <a:xfrm>
            <a:off x="5435041" y="4645152"/>
            <a:ext cx="12484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冬凌草糖浆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5435041" y="4882896"/>
            <a:ext cx="124846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授权包装图替换位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6811518" y="4306824"/>
            <a:ext cx="1358189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3970">
            <a:solidFill>
              <a:srgbClr val="A8C5E2"/>
            </a:solidFill>
            <a:prstDash val="solid"/>
          </a:ln>
          <a:effectLst>
            <a:outerShdw sx="100000" sy="100000" kx="0" ky="0" algn="bl" rotWithShape="0" blurRad="88900" dist="25400" dir="5400000">
              <a:srgbClr val="1A2B4A">
                <a:alpha val="14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6811518" y="4306824"/>
            <a:ext cx="1358189" cy="64008"/>
          </a:xfrm>
          <a:prstGeom prst="rect">
            <a:avLst/>
          </a:prstGeom>
          <a:solidFill>
            <a:srgbClr val="1A4F8C"/>
          </a:solidFill>
          <a:ln/>
        </p:spPr>
      </p:sp>
      <p:sp>
        <p:nvSpPr>
          <p:cNvPr id="36" name="Shape 32"/>
          <p:cNvSpPr/>
          <p:nvPr/>
        </p:nvSpPr>
        <p:spPr>
          <a:xfrm>
            <a:off x="6957822" y="4425696"/>
            <a:ext cx="1065581" cy="192024"/>
          </a:xfrm>
          <a:prstGeom prst="roundRect">
            <a:avLst>
              <a:gd name="adj" fmla="val 23810"/>
            </a:avLst>
          </a:prstGeom>
          <a:solidFill>
            <a:srgbClr val="F0F6FC"/>
          </a:solidFill>
          <a:ln w="12700">
            <a:solidFill>
              <a:srgbClr val="5A9BD5"/>
            </a:solidFill>
            <a:prstDash val="dash"/>
          </a:ln>
        </p:spPr>
      </p:sp>
      <p:sp>
        <p:nvSpPr>
          <p:cNvPr id="37" name="Shape 33"/>
          <p:cNvSpPr/>
          <p:nvPr/>
        </p:nvSpPr>
        <p:spPr>
          <a:xfrm rot="19800000">
            <a:off x="7298588" y="4439412"/>
            <a:ext cx="384048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B6CB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 rot="19800000">
            <a:off x="7298588" y="4439412"/>
            <a:ext cx="192024" cy="164592"/>
          </a:xfrm>
          <a:prstGeom prst="roundRect">
            <a:avLst>
              <a:gd name="adj" fmla="val 50000"/>
            </a:avLst>
          </a:prstGeom>
          <a:solidFill>
            <a:srgbClr val="2B6CB0"/>
          </a:solidFill>
          <a:ln/>
        </p:spPr>
      </p:sp>
      <p:sp>
        <p:nvSpPr>
          <p:cNvPr id="39" name="Text 35"/>
          <p:cNvSpPr/>
          <p:nvPr/>
        </p:nvSpPr>
        <p:spPr>
          <a:xfrm>
            <a:off x="6866382" y="4645152"/>
            <a:ext cx="12484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2B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维生素C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6866382" y="4882896"/>
            <a:ext cx="124846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A6A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授权包装图替换位</a:t>
            </a:r>
            <a:endParaRPr lang="en-US" sz="750" dirty="0"/>
          </a:p>
        </p:txBody>
      </p:sp>
      <p:sp>
        <p:nvSpPr>
          <p:cNvPr id="41" name="Shape 37"/>
          <p:cNvSpPr/>
          <p:nvPr/>
        </p:nvSpPr>
        <p:spPr>
          <a:xfrm>
            <a:off x="3857396" y="5212080"/>
            <a:ext cx="128016" cy="128016"/>
          </a:xfrm>
          <a:prstGeom prst="rect">
            <a:avLst/>
          </a:prstGeom>
          <a:solidFill>
            <a:srgbClr val="8EB8E0"/>
          </a:solidFill>
          <a:ln/>
        </p:spPr>
      </p:sp>
      <p:sp>
        <p:nvSpPr>
          <p:cNvPr id="42" name="Shape 38"/>
          <p:cNvSpPr/>
          <p:nvPr/>
        </p:nvSpPr>
        <p:spPr>
          <a:xfrm>
            <a:off x="4058564" y="5175504"/>
            <a:ext cx="1051560" cy="292608"/>
          </a:xfrm>
          <a:prstGeom prst="roundRect">
            <a:avLst>
              <a:gd name="adj" fmla="val 9375"/>
            </a:avLst>
          </a:prstGeom>
          <a:solidFill>
            <a:srgbClr val="1A4F8C"/>
          </a:solidFill>
          <a:ln/>
        </p:spPr>
      </p:sp>
      <p:sp>
        <p:nvSpPr>
          <p:cNvPr id="43" name="Text 39"/>
          <p:cNvSpPr/>
          <p:nvPr/>
        </p:nvSpPr>
        <p:spPr>
          <a:xfrm>
            <a:off x="4058564" y="517550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专业关怀</a:t>
            </a:r>
            <a:endParaRPr lang="en-US" sz="1100" dirty="0"/>
          </a:p>
        </p:txBody>
      </p:sp>
      <p:sp>
        <p:nvSpPr>
          <p:cNvPr id="44" name="Text 40"/>
          <p:cNvSpPr/>
          <p:nvPr/>
        </p:nvSpPr>
        <p:spPr>
          <a:xfrm>
            <a:off x="3967124" y="5522976"/>
            <a:ext cx="433974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注意隔离防护，避免交叉感染。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1岁以下幼儿慎用感冒药；孕妇、哺乳期妇女慎用感冒药，以免影响胎儿婴儿。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经常锻炼，增强体质，提高自身免疫力。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饮食清淡，营养均衡，多休息、多饮水。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5.生活环境保持整洁通风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82880" y="65379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A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手机竖版一页通 · 可截图转发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急性上呼吸道感染 · 疾病健康知识培训（可编辑金样 v3）</dc:title>
  <dc:subject>template.disease-health-shenke-blue-v1</dc:subject>
  <dc:creator>chain-pharmacy-content-studio</dc:creator>
  <cp:lastModifiedBy>chain-pharmacy-content-studio</cp:lastModifiedBy>
  <cp:revision>1</cp:revision>
  <dcterms:created xsi:type="dcterms:W3CDTF">2026-08-04T05:45:27Z</dcterms:created>
  <dcterms:modified xsi:type="dcterms:W3CDTF">2026-08-04T05:45:27Z</dcterms:modified>
</cp:coreProperties>
</file>