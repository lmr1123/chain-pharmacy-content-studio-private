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b20c7a9b9460a" /><Relationship Type="http://schemas.openxmlformats.org/officeDocument/2006/relationships/extended-properties" Target="/docProps/app.xml" Id="R1f4a7db99aff4898" /><Relationship Type="http://schemas.openxmlformats.org/officeDocument/2006/relationships/officeDocument" Target="/ppt/presentation.xml" Id="Rdfbcc9dc0338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5ffd7cf364d5d"/>
  </p:sldMasterIdLst>
  <p:notesMasterIdLst>
    <p:notesMasterId xmlns:r="http://schemas.openxmlformats.org/officeDocument/2006/relationships" r:id="Rc0e0d8afb50a4572"/>
  </p:notesMasterIdLst>
  <p:sldIdLst>
    <p:sldId xmlns:r="http://schemas.openxmlformats.org/officeDocument/2006/relationships" id="256" r:id="R3daaabb06391428f"/>
    <p:sldId xmlns:r="http://schemas.openxmlformats.org/officeDocument/2006/relationships" id="257" r:id="Ra5437ecd24ce4884"/>
    <p:sldId xmlns:r="http://schemas.openxmlformats.org/officeDocument/2006/relationships" id="258" r:id="R6357e2098b674649"/>
    <p:sldId xmlns:r="http://schemas.openxmlformats.org/officeDocument/2006/relationships" id="259" r:id="R66dac2c0274844ef"/>
    <p:sldId xmlns:r="http://schemas.openxmlformats.org/officeDocument/2006/relationships" id="260" r:id="Rc7fcbe9e63e747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87440ea9c4a4c" /><Relationship Type="http://schemas.openxmlformats.org/officeDocument/2006/relationships/slideMaster" Target="/ppt/slideMasters/slideMaster1.xml" Id="R7d35ffd7cf364d5d" /><Relationship Type="http://schemas.openxmlformats.org/officeDocument/2006/relationships/notesMaster" Target="/ppt/notesMasters/notesMaster1.xml" Id="Rc0e0d8afb50a4572" /><Relationship Type="http://schemas.openxmlformats.org/officeDocument/2006/relationships/presProps" Target="/ppt/presProps.xml" Id="Rb7149b9733954207" /><Relationship Type="http://schemas.openxmlformats.org/officeDocument/2006/relationships/tableStyles" Target="/ppt/tableStyles.xml" Id="Rda8b7bef3713427c" /><Relationship Type="http://schemas.openxmlformats.org/officeDocument/2006/relationships/slide" Target="/ppt/slides/slide1.xml" Id="R3daaabb06391428f" /><Relationship Type="http://schemas.openxmlformats.org/officeDocument/2006/relationships/slide" Target="/ppt/slides/slide2.xml" Id="Ra5437ecd24ce4884" /><Relationship Type="http://schemas.openxmlformats.org/officeDocument/2006/relationships/slide" Target="/ppt/slides/slide3.xml" Id="R6357e2098b674649" /><Relationship Type="http://schemas.openxmlformats.org/officeDocument/2006/relationships/slide" Target="/ppt/slides/slide4.xml" Id="R66dac2c0274844ef" /><Relationship Type="http://schemas.openxmlformats.org/officeDocument/2006/relationships/slide" Target="/ppt/slides/slide5.xml" Id="Rc7fcbe9e63e747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20715dcbf149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f537443d04e87" /><Relationship Type="http://schemas.openxmlformats.org/officeDocument/2006/relationships/notesMaster" Target="/ppt/notesMasters/notesMaster1.xml" Id="R912f71d4df4143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e53d6442f4d69" /><Relationship Type="http://schemas.openxmlformats.org/officeDocument/2006/relationships/notesMaster" Target="/ppt/notesMasters/notesMaster1.xml" Id="Rabc4741dff2c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405c9842a6419c" /><Relationship Type="http://schemas.openxmlformats.org/officeDocument/2006/relationships/notesMaster" Target="/ppt/notesMasters/notesMaster1.xml" Id="R3faf9973c6d5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4c56734594d99" /><Relationship Type="http://schemas.openxmlformats.org/officeDocument/2006/relationships/notesMaster" Target="/ppt/notesMasters/notesMaster1.xml" Id="R8a1b5c68d73745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035b07a8b4846" /><Relationship Type="http://schemas.openxmlformats.org/officeDocument/2006/relationships/notesMaster" Target="/ppt/notesMasters/notesMaster1.xml" Id="Rb9de4b383fe8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33CC7A3A-9CB3-4383-9587-7564FD74AFAF.png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171FA13F-202E-4B0D-A440-2614EF985EFF.png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1DBBECEC-9258-48D6-82A6-793D6B539DBE.png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C0D1AC4D-8CD3-497C-98A0-2B8D0DDB6B39.png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CBD2D8CD-6DC6-442A-A16F-EEFFF500E9EC.png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c28583df44a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2807553bd439e" /><Relationship Type="http://schemas.openxmlformats.org/officeDocument/2006/relationships/slideLayout" Target="/ppt/slideLayouts/slideLayout1.xml" Id="R0ba9b1c6c6de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9b1c6c6de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54084734042e2" /><Relationship Type="http://schemas.openxmlformats.org/officeDocument/2006/relationships/notesSlide" Target="/ppt/notesSlides/notesSlide1.xml" Id="Rf1f3a482579a41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8bba61b3747e8" /><Relationship Type="http://schemas.openxmlformats.org/officeDocument/2006/relationships/notesSlide" Target="/ppt/notesSlides/notesSlide2.xml" Id="R2e204805c9da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b39f5408542f0" /><Relationship Type="http://schemas.openxmlformats.org/officeDocument/2006/relationships/notesSlide" Target="/ppt/notesSlides/notesSlide3.xml" Id="R6883700c60d346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29a55304d4da1" /><Relationship Type="http://schemas.openxmlformats.org/officeDocument/2006/relationships/notesSlide" Target="/ppt/notesSlides/notesSlide4.xml" Id="R736d129568ed4e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8c3ca41544c0" /><Relationship Type="http://schemas.openxmlformats.org/officeDocument/2006/relationships/notesSlide" Target="/ppt/notesSlides/notesSlide5.xml" Id="R0bfa0eb8f048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over-color-field">
            <a:extLst xmlns:a="http://schemas.openxmlformats.org/drawingml/2006/main">
              <a:ext uri="{FF2B5EF4-FFF2-40B4-BE49-F238E27FC236}">
                <a16:creationId xmlns:a16="http://schemas.microsoft.com/office/drawing/2014/main" id="{2D92BC73-472F-4141-B0A9-9903B259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ue-field">
            <a:extLst xmlns:a="http://schemas.openxmlformats.org/drawingml/2006/main">
              <a:ext uri="{FF2B5EF4-FFF2-40B4-BE49-F238E27FC236}">
                <a16:creationId xmlns:a16="http://schemas.microsoft.com/office/drawing/2014/main" id="{4CEA14E4-7B32-447B-BEB9-32077CC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green-overlay">
            <a:extLst xmlns:a="http://schemas.openxmlformats.org/drawingml/2006/main">
              <a:ext uri="{FF2B5EF4-FFF2-40B4-BE49-F238E27FC236}">
                <a16:creationId xmlns:a16="http://schemas.microsoft.com/office/drawing/2014/main" id="{6AC862DB-288C-48FE-A2B0-2D01069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building-band-1">
            <a:extLst xmlns:a="http://schemas.openxmlformats.org/drawingml/2006/main">
              <a:ext uri="{FF2B5EF4-FFF2-40B4-BE49-F238E27FC236}">
                <a16:creationId xmlns:a16="http://schemas.microsoft.com/office/drawing/2014/main" id="{F94CE231-7507-4B0F-961B-03D6D35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building-band-2">
            <a:extLst xmlns:a="http://schemas.openxmlformats.org/drawingml/2006/main">
              <a:ext uri="{FF2B5EF4-FFF2-40B4-BE49-F238E27FC236}">
                <a16:creationId xmlns:a16="http://schemas.microsoft.com/office/drawing/2014/main" id="{957AC37C-61BF-42B9-9C1B-3143388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532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building-band-3">
            <a:extLst xmlns:a="http://schemas.openxmlformats.org/drawingml/2006/main">
              <a:ext uri="{FF2B5EF4-FFF2-40B4-BE49-F238E27FC236}">
                <a16:creationId xmlns:a16="http://schemas.microsoft.com/office/drawing/2014/main" id="{8510F02C-BB71-434F-A8C1-9803EB8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66775"/>
            <a:ext cx="247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building-band-4">
            <a:extLst xmlns:a="http://schemas.openxmlformats.org/drawingml/2006/main">
              <a:ext uri="{FF2B5EF4-FFF2-40B4-BE49-F238E27FC236}">
                <a16:creationId xmlns:a16="http://schemas.microsoft.com/office/drawing/2014/main" id="{DE97C303-9F81-451E-A0FD-9AD5A254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"/>
            <a:ext cx="24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building-band-5">
            <a:extLst xmlns:a="http://schemas.openxmlformats.org/drawingml/2006/main">
              <a:ext uri="{FF2B5EF4-FFF2-40B4-BE49-F238E27FC236}">
                <a16:creationId xmlns:a16="http://schemas.microsoft.com/office/drawing/2014/main" id="{EC284BD8-9047-41B3-B5EA-66819BF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9532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building-band-6">
            <a:extLst xmlns:a="http://schemas.openxmlformats.org/drawingml/2006/main">
              <a:ext uri="{FF2B5EF4-FFF2-40B4-BE49-F238E27FC236}">
                <a16:creationId xmlns:a16="http://schemas.microsoft.com/office/drawing/2014/main" id="{4A5C3F9B-68C9-48AA-87F8-766F4EF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6677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building-band-7">
            <a:extLst xmlns:a="http://schemas.openxmlformats.org/drawingml/2006/main">
              <a:ext uri="{FF2B5EF4-FFF2-40B4-BE49-F238E27FC236}">
                <a16:creationId xmlns:a16="http://schemas.microsoft.com/office/drawing/2014/main" id="{83836507-BDD5-4EE4-B9FF-256E545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"/>
            <a:ext cx="247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building-band-8">
            <a:extLst xmlns:a="http://schemas.openxmlformats.org/drawingml/2006/main">
              <a:ext uri="{FF2B5EF4-FFF2-40B4-BE49-F238E27FC236}">
                <a16:creationId xmlns:a16="http://schemas.microsoft.com/office/drawing/2014/main" id="{9E5FEBF6-0197-408C-8BBF-7F91D172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95325"/>
            <a:ext cx="24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building-band-9">
            <a:extLst xmlns:a="http://schemas.openxmlformats.org/drawingml/2006/main">
              <a:ext uri="{FF2B5EF4-FFF2-40B4-BE49-F238E27FC236}">
                <a16:creationId xmlns:a16="http://schemas.microsoft.com/office/drawing/2014/main" id="{52A4D055-5067-4BAD-84BD-9016D57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6677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building-band-10">
            <a:extLst xmlns:a="http://schemas.openxmlformats.org/drawingml/2006/main">
              <a:ext uri="{FF2B5EF4-FFF2-40B4-BE49-F238E27FC236}">
                <a16:creationId xmlns:a16="http://schemas.microsoft.com/office/drawing/2014/main" id="{6D6E2A18-59D7-4065-A912-138D04B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white-bottom">
            <a:extLst xmlns:a="http://schemas.openxmlformats.org/drawingml/2006/main">
              <a:ext uri="{FF2B5EF4-FFF2-40B4-BE49-F238E27FC236}">
                <a16:creationId xmlns:a16="http://schemas.microsoft.com/office/drawing/2014/main" id="{7A5D23CE-CC38-403A-A719-5C47573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white-curve">
            <a:extLst xmlns:a="http://schemas.openxmlformats.org/drawingml/2006/main">
              <a:ext uri="{FF2B5EF4-FFF2-40B4-BE49-F238E27FC236}">
                <a16:creationId xmlns:a16="http://schemas.microsoft.com/office/drawing/2014/main" id="{9B66A4B1-6255-4DC4-952C-8B62992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43250"/>
            <a:ext cx="12192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frame-top">
            <a:extLst xmlns:a="http://schemas.openxmlformats.org/drawingml/2006/main">
              <a:ext uri="{FF2B5EF4-FFF2-40B4-BE49-F238E27FC236}">
                <a16:creationId xmlns:a16="http://schemas.microsoft.com/office/drawing/2014/main" id="{A11BD63C-8A3F-4EAB-BB63-70B0748F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4300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frame-left">
            <a:extLst xmlns:a="http://schemas.openxmlformats.org/drawingml/2006/main">
              <a:ext uri="{FF2B5EF4-FFF2-40B4-BE49-F238E27FC236}">
                <a16:creationId xmlns:a16="http://schemas.microsoft.com/office/drawing/2014/main" id="{87D4538C-F6EF-42D4-8485-1959942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43000"/>
            <a:ext cx="381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ver-frame-right">
            <a:extLst xmlns:a="http://schemas.openxmlformats.org/drawingml/2006/main">
              <a:ext uri="{FF2B5EF4-FFF2-40B4-BE49-F238E27FC236}">
                <a16:creationId xmlns:a16="http://schemas.microsoft.com/office/drawing/2014/main" id="{B1E30C66-063C-4958-BF47-F0BB4288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143000"/>
            <a:ext cx="381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frame-bottom">
            <a:extLst xmlns:a="http://schemas.openxmlformats.org/drawingml/2006/main">
              <a:ext uri="{FF2B5EF4-FFF2-40B4-BE49-F238E27FC236}">
                <a16:creationId xmlns:a16="http://schemas.microsoft.com/office/drawing/2014/main" id="{EBDE74D3-BDB4-4DEB-9812-545CDD3E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9590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brand">
            <a:extLst xmlns:a="http://schemas.openxmlformats.org/drawingml/2006/main">
              <a:ext uri="{FF2B5EF4-FFF2-40B4-BE49-F238E27FC236}">
                <a16:creationId xmlns:a16="http://schemas.microsoft.com/office/drawing/2014/main" id="{50A9A166-BE20-4077-AD50-AE2825F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954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大参林 dashenlin</a:t>
            </a:r>
          </a:p>
        </p:txBody>
      </p:sp>
      <p:sp>
        <p:nvSpPr>
          <p:cNvPr id="21" name="cover-organization">
            <a:extLst xmlns:a="http://schemas.openxmlformats.org/drawingml/2006/main">
              <a:ext uri="{FF2B5EF4-FFF2-40B4-BE49-F238E27FC236}">
                <a16:creationId xmlns:a16="http://schemas.microsoft.com/office/drawing/2014/main" id="{B166DB1A-FFEF-4440-9312-08F330E7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大参林医药集团</a:t>
            </a:r>
          </a:p>
        </p:txBody>
      </p:sp>
      <p:sp>
        <p:nvSpPr>
          <p:cNvPr id="22" name="cover-rule-left">
            <a:extLst xmlns:a="http://schemas.openxmlformats.org/drawingml/2006/main">
              <a:ext uri="{FF2B5EF4-FFF2-40B4-BE49-F238E27FC236}">
                <a16:creationId xmlns:a16="http://schemas.microsoft.com/office/drawing/2014/main" id="{4CAE5C57-E717-40A3-B016-873BEF8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1666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ver-rule-right">
            <a:extLst xmlns:a="http://schemas.openxmlformats.org/drawingml/2006/main">
              <a:ext uri="{FF2B5EF4-FFF2-40B4-BE49-F238E27FC236}">
                <a16:creationId xmlns:a16="http://schemas.microsoft.com/office/drawing/2014/main" id="{581169B5-9513-45EF-B494-12D88E0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1666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C5C53E-72DA-4A9B-BA7C-184A4C5D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</a:t>
            </a:r>
          </a:p>
        </p:txBody>
      </p:sp>
      <p:sp>
        <p:nvSpPr>
          <p:cNvPr id="25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6EC2B856-7145-4EDD-A1B1-602179E8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62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【专业力】</a:t>
            </a:r>
          </a:p>
        </p:txBody>
      </p:sp>
      <p:sp>
        <p:nvSpPr>
          <p:cNvPr id="26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52E4474C-FD94-4A5C-A8B9-69AA336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</p:spTree>
    <p:extLst>
      <p:ext uri="{BB962C8B-B14F-4D97-AF65-F5344CB8AC3E}">
        <p14:creationId xmlns:p14="http://schemas.microsoft.com/office/powerpoint/2010/main" val="903781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9350AE7E-7599-4A53-8840-A22813A1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AA915000-F40E-453B-9032-4BF8D57A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883D1093-06E9-49C3-A869-FED1DA36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533ACA-D69D-45C7-9ECD-3DB8104F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A91EB9EF-8AF2-45DD-93B6-6C4B2700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商品介绍、核心卖点、适宜人群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9AF2567E-92FF-42B7-BDFD-1352EF2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88937BBE-AF98-4340-95E7-2076F27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primary-packshot-surface">
            <a:extLst xmlns:a="http://schemas.openxmlformats.org/drawingml/2006/main">
              <a:ext uri="{FF2B5EF4-FFF2-40B4-BE49-F238E27FC236}">
                <a16:creationId xmlns:a16="http://schemas.microsoft.com/office/drawing/2014/main" id="{B23426B2-63EA-4C01-9BC6-6F5B044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81050"/>
            <a:ext cx="1952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9" name="primary-packshot-label">
            <a:extLst xmlns:a="http://schemas.openxmlformats.org/drawingml/2006/main">
              <a:ext uri="{FF2B5EF4-FFF2-40B4-BE49-F238E27FC236}">
                <a16:creationId xmlns:a16="http://schemas.microsoft.com/office/drawing/2014/main" id="{7B758532-0C18-4373-9BAE-7B0791B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288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商品包装高清图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10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866CD997-CE32-4ABC-96FE-3E7EC921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0012"/>
                </a:solidFill>
              </a:defRPr>
            </a:pPr>
            <a:r>
              <a:rPr sz="1725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金银花露（可可康）</a:t>
            </a:r>
          </a:p>
        </p:txBody>
      </p:sp>
      <p:sp>
        <p:nvSpPr>
          <p:cNvPr id="11" name="product-table-head-0-surface">
            <a:extLst xmlns:a="http://schemas.openxmlformats.org/drawingml/2006/main">
              <a:ext uri="{FF2B5EF4-FFF2-40B4-BE49-F238E27FC236}">
                <a16:creationId xmlns:a16="http://schemas.microsoft.com/office/drawing/2014/main" id="{558376F9-6A7D-4321-B697-1BDB47D0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product-table-head-0-text">
            <a:extLst xmlns:a="http://schemas.openxmlformats.org/drawingml/2006/main">
              <a:ext uri="{FF2B5EF4-FFF2-40B4-BE49-F238E27FC236}">
                <a16:creationId xmlns:a16="http://schemas.microsoft.com/office/drawing/2014/main" id="{B9343447-9F17-4D1A-A503-43818690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767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编码</a:t>
            </a:r>
          </a:p>
        </p:txBody>
      </p:sp>
      <p:sp>
        <p:nvSpPr>
          <p:cNvPr id="13" name="product-table-head-1-surface">
            <a:extLst xmlns:a="http://schemas.openxmlformats.org/drawingml/2006/main">
              <a:ext uri="{FF2B5EF4-FFF2-40B4-BE49-F238E27FC236}">
                <a16:creationId xmlns:a16="http://schemas.microsoft.com/office/drawing/2014/main" id="{13A98EBD-63F1-49E5-A3CE-0F35042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product-table-head-1-text">
            <a:extLst xmlns:a="http://schemas.openxmlformats.org/drawingml/2006/main">
              <a:ext uri="{FF2B5EF4-FFF2-40B4-BE49-F238E27FC236}">
                <a16:creationId xmlns:a16="http://schemas.microsoft.com/office/drawing/2014/main" id="{DA59B7F1-E0BD-4323-8266-C0774D68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主推</a:t>
            </a:r>
          </a:p>
        </p:txBody>
      </p:sp>
      <p:sp>
        <p:nvSpPr>
          <p:cNvPr id="15" name="product-table-head-2-surface">
            <a:extLst xmlns:a="http://schemas.openxmlformats.org/drawingml/2006/main">
              <a:ext uri="{FF2B5EF4-FFF2-40B4-BE49-F238E27FC236}">
                <a16:creationId xmlns:a16="http://schemas.microsoft.com/office/drawing/2014/main" id="{C594CDC5-697C-4FDE-B98A-72190AD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14573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product-table-head-2-text">
            <a:extLst xmlns:a="http://schemas.openxmlformats.org/drawingml/2006/main">
              <a:ext uri="{FF2B5EF4-FFF2-40B4-BE49-F238E27FC236}">
                <a16:creationId xmlns:a16="http://schemas.microsoft.com/office/drawing/2014/main" id="{2F0CFB6E-6DCC-40F0-BC57-48371358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规格</a:t>
            </a:r>
          </a:p>
        </p:txBody>
      </p:sp>
      <p:sp>
        <p:nvSpPr>
          <p:cNvPr id="17" name="product-table-head-3-surface">
            <a:extLst xmlns:a="http://schemas.openxmlformats.org/drawingml/2006/main">
              <a:ext uri="{FF2B5EF4-FFF2-40B4-BE49-F238E27FC236}">
                <a16:creationId xmlns:a16="http://schemas.microsoft.com/office/drawing/2014/main" id="{029F586C-6423-4963-A52E-F4D0E802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0050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roduct-table-head-3-text">
            <a:extLst xmlns:a="http://schemas.openxmlformats.org/drawingml/2006/main">
              <a:ext uri="{FF2B5EF4-FFF2-40B4-BE49-F238E27FC236}">
                <a16:creationId xmlns:a16="http://schemas.microsoft.com/office/drawing/2014/main" id="{4924D1C4-A4C1-4A2C-8A74-80BF80ED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767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零售价</a:t>
            </a:r>
          </a:p>
        </p:txBody>
      </p:sp>
      <p:sp>
        <p:nvSpPr>
          <p:cNvPr id="19" name="product-table-value-0-surface">
            <a:extLst xmlns:a="http://schemas.openxmlformats.org/drawingml/2006/main">
              <a:ext uri="{FF2B5EF4-FFF2-40B4-BE49-F238E27FC236}">
                <a16:creationId xmlns:a16="http://schemas.microsoft.com/office/drawing/2014/main" id="{0CF04EE2-22C9-484A-B55F-21A3F89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57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product-table-value-0-text">
            <a:extLst xmlns:a="http://schemas.openxmlformats.org/drawingml/2006/main">
              <a:ext uri="{FF2B5EF4-FFF2-40B4-BE49-F238E27FC236}">
                <a16:creationId xmlns:a16="http://schemas.microsoft.com/office/drawing/2014/main" id="{266E472A-FB56-4EFE-8F46-8B15F492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33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2429715</a:t>
            </a:r>
          </a:p>
        </p:txBody>
      </p:sp>
      <p:sp>
        <p:nvSpPr>
          <p:cNvPr id="21" name="product-table-value-1-surface">
            <a:extLst xmlns:a="http://schemas.openxmlformats.org/drawingml/2006/main">
              <a:ext uri="{FF2B5EF4-FFF2-40B4-BE49-F238E27FC236}">
                <a16:creationId xmlns:a16="http://schemas.microsoft.com/office/drawing/2014/main" id="{06EA32AB-0DCC-4AF2-BBC1-5D4F1C8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78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roduct-table-value-1-text">
            <a:extLst xmlns:a="http://schemas.openxmlformats.org/drawingml/2006/main">
              <a:ext uri="{FF2B5EF4-FFF2-40B4-BE49-F238E27FC236}">
                <a16:creationId xmlns:a16="http://schemas.microsoft.com/office/drawing/2014/main" id="{40307FCE-8AF4-401B-BB6E-67E071A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339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3" name="product-table-value-2-surface">
            <a:extLst xmlns:a="http://schemas.openxmlformats.org/drawingml/2006/main">
              <a:ext uri="{FF2B5EF4-FFF2-40B4-BE49-F238E27FC236}">
                <a16:creationId xmlns:a16="http://schemas.microsoft.com/office/drawing/2014/main" id="{3C85361F-B817-4F2B-8BCB-8066B3A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57700"/>
            <a:ext cx="14573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roduct-table-value-2-text">
            <a:extLst xmlns:a="http://schemas.openxmlformats.org/drawingml/2006/main">
              <a:ext uri="{FF2B5EF4-FFF2-40B4-BE49-F238E27FC236}">
                <a16:creationId xmlns:a16="http://schemas.microsoft.com/office/drawing/2014/main" id="{7C9A2146-15C5-471A-BB55-B4EFFDE6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33900"/>
            <a:ext cx="130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265ml</a:t>
            </a:r>
          </a:p>
        </p:txBody>
      </p:sp>
      <p:sp>
        <p:nvSpPr>
          <p:cNvPr id="25" name="product-table-value-3-surface">
            <a:extLst xmlns:a="http://schemas.openxmlformats.org/drawingml/2006/main">
              <a:ext uri="{FF2B5EF4-FFF2-40B4-BE49-F238E27FC236}">
                <a16:creationId xmlns:a16="http://schemas.microsoft.com/office/drawing/2014/main" id="{5F38B988-2A05-4EA1-8F1D-16397EB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577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6" name="product-table-value-3-text">
            <a:extLst xmlns:a="http://schemas.openxmlformats.org/drawingml/2006/main">
              <a:ext uri="{FF2B5EF4-FFF2-40B4-BE49-F238E27FC236}">
                <a16:creationId xmlns:a16="http://schemas.microsoft.com/office/drawing/2014/main" id="{1D39D952-92A8-45CC-9AB0-8B49C12E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339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9.9元</a:t>
            </a:r>
          </a:p>
        </p:txBody>
      </p:sp>
      <p:sp>
        <p:nvSpPr>
          <p:cNvPr id="27" name="selling-point-highlight">
            <a:extLst xmlns:a="http://schemas.openxmlformats.org/drawingml/2006/main">
              <a:ext uri="{FF2B5EF4-FFF2-40B4-BE49-F238E27FC236}">
                <a16:creationId xmlns:a16="http://schemas.microsoft.com/office/drawing/2014/main" id="{C77FA5ED-7E92-4001-A204-52C3538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81600"/>
            <a:ext cx="44481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lling-point">
            <a:extLst xmlns:a="http://schemas.openxmlformats.org/drawingml/2006/main">
              <a:ext uri="{FF2B5EF4-FFF2-40B4-BE49-F238E27FC236}">
                <a16:creationId xmlns:a16="http://schemas.microsoft.com/office/drawing/2014/main" id="{02CD5498-9404-407F-88BD-FF19259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一句话卖点：宝宝去火，温和安全，甘甜又好喝</a:t>
            </a:r>
          </a:p>
        </p:txBody>
      </p:sp>
      <p:sp>
        <p:nvSpPr>
          <p:cNvPr id="2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E06B790-734C-48F7-9BE4-63FC10E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971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一、商品介绍：</a:t>
            </a:r>
          </a:p>
        </p:txBody>
      </p:sp>
      <p:sp>
        <p:nvSpPr>
          <p:cNvPr id="30" name="section-0-item-0">
            <a:extLst xmlns:a="http://schemas.openxmlformats.org/drawingml/2006/main">
              <a:ext uri="{FF2B5EF4-FFF2-40B4-BE49-F238E27FC236}">
                <a16:creationId xmlns:a16="http://schemas.microsoft.com/office/drawing/2014/main" id="{3C4F4A92-C675-449B-98DE-A925A6A8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430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1、主要成分：金银花</a:t>
            </a:r>
          </a:p>
        </p:txBody>
      </p:sp>
      <p:sp>
        <p:nvSpPr>
          <p:cNvPr id="31" name="section-0-item-1">
            <a:extLst xmlns:a="http://schemas.openxmlformats.org/drawingml/2006/main">
              <a:ext uri="{FF2B5EF4-FFF2-40B4-BE49-F238E27FC236}">
                <a16:creationId xmlns:a16="http://schemas.microsoft.com/office/drawing/2014/main" id="{D87E317D-44DA-419B-A0A8-3A61F593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859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2、功能主治：清热解毒。用于小儿痱毒，暑热口渴</a:t>
            </a:r>
          </a:p>
        </p:txBody>
      </p:sp>
      <p:sp>
        <p:nvSpPr>
          <p:cNvPr id="32" name="section-0-item-2">
            <a:extLst xmlns:a="http://schemas.openxmlformats.org/drawingml/2006/main">
              <a:ext uri="{FF2B5EF4-FFF2-40B4-BE49-F238E27FC236}">
                <a16:creationId xmlns:a16="http://schemas.microsoft.com/office/drawing/2014/main" id="{944A00BF-ADAB-4C8E-B13D-BEE12401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288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3、用法用量：口服。一次60～120毫升，一日2～3次。</a:t>
            </a:r>
          </a:p>
        </p:txBody>
      </p:sp>
      <p:sp>
        <p:nvSpPr>
          <p:cNvPr id="33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90CD483A-DEC6-42BB-88E1-CC523511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66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二、核心卖点：</a:t>
            </a:r>
          </a:p>
        </p:txBody>
      </p:sp>
      <p:sp>
        <p:nvSpPr>
          <p:cNvPr id="34" name="section-1-item-0">
            <a:extLst xmlns:a="http://schemas.openxmlformats.org/drawingml/2006/main">
              <a:ext uri="{FF2B5EF4-FFF2-40B4-BE49-F238E27FC236}">
                <a16:creationId xmlns:a16="http://schemas.microsoft.com/office/drawing/2014/main" id="{77A9372D-11EF-4842-AFE6-365AF7B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38425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1、专为小儿体质设计，温和不伤胃：单方金银花制剂，药性平和，清热去火不损伤婴幼儿娇嫩肠胃。</a:t>
            </a:r>
          </a:p>
        </p:txBody>
      </p:sp>
      <p:sp>
        <p:nvSpPr>
          <p:cNvPr id="35" name="section-1-item-1">
            <a:extLst xmlns:a="http://schemas.openxmlformats.org/drawingml/2006/main">
              <a:ext uri="{FF2B5EF4-FFF2-40B4-BE49-F238E27FC236}">
                <a16:creationId xmlns:a16="http://schemas.microsoft.com/office/drawing/2014/main" id="{22392990-23D2-47DC-9E24-7B63827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19450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2、药食同源，安全无添加：无添加色素，药食同源。</a:t>
            </a:r>
          </a:p>
        </p:txBody>
      </p:sp>
      <p:sp>
        <p:nvSpPr>
          <p:cNvPr id="36" name="section-1-item-2">
            <a:extLst xmlns:a="http://schemas.openxmlformats.org/drawingml/2006/main">
              <a:ext uri="{FF2B5EF4-FFF2-40B4-BE49-F238E27FC236}">
                <a16:creationId xmlns:a16="http://schemas.microsoft.com/office/drawing/2014/main" id="{90ACB314-5AF1-4CBB-8CAD-81E717BA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3、靶向解决小儿夏季常见问题：精准应对痱毒、暑热口渴、小便黄、咽喉不适等夏季上火症状，一瓶多效。</a:t>
            </a:r>
          </a:p>
        </p:txBody>
      </p:sp>
      <p:sp>
        <p:nvSpPr>
          <p:cNvPr id="37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92D34840-5E27-431C-81DD-AAEFA67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48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三、适宜人群：</a:t>
            </a:r>
          </a:p>
        </p:txBody>
      </p:sp>
      <p:sp>
        <p:nvSpPr>
          <p:cNvPr id="38" name="section-2-item-0">
            <a:extLst xmlns:a="http://schemas.openxmlformats.org/drawingml/2006/main">
              <a:ext uri="{FF2B5EF4-FFF2-40B4-BE49-F238E27FC236}">
                <a16:creationId xmlns:a16="http://schemas.microsoft.com/office/drawing/2014/main" id="{5DC27201-9700-4652-A2EC-ACAD16E7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196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1、夏季易生痱子的幼儿；</a:t>
            </a:r>
          </a:p>
        </p:txBody>
      </p:sp>
      <p:sp>
        <p:nvSpPr>
          <p:cNvPr id="39" name="section-2-item-1">
            <a:extLst xmlns:a="http://schemas.openxmlformats.org/drawingml/2006/main">
              <a:ext uri="{FF2B5EF4-FFF2-40B4-BE49-F238E27FC236}">
                <a16:creationId xmlns:a16="http://schemas.microsoft.com/office/drawing/2014/main" id="{2CFB3095-0CC5-46FB-A746-01CB9F29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625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2、上火症状明显的儿童；</a:t>
            </a:r>
          </a:p>
        </p:txBody>
      </p:sp>
      <p:sp>
        <p:nvSpPr>
          <p:cNvPr id="40" name="section-2-item-2">
            <a:extLst xmlns:a="http://schemas.openxmlformats.org/drawingml/2006/main">
              <a:ext uri="{FF2B5EF4-FFF2-40B4-BE49-F238E27FC236}">
                <a16:creationId xmlns:a16="http://schemas.microsoft.com/office/drawing/2014/main" id="{21E9C768-60B1-4E95-B881-A3BD9EA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054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3、暑热烦渴、食欲不振的儿童。</a:t>
            </a:r>
          </a:p>
        </p:txBody>
      </p:sp>
    </p:spTree>
    <p:extLst>
      <p:ext uri="{BB962C8B-B14F-4D97-AF65-F5344CB8AC3E}">
        <p14:creationId xmlns:p14="http://schemas.microsoft.com/office/powerpoint/2010/main" val="1147715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90355CFB-B233-42EE-B1C7-BA719497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BCCAFB1E-E2C0-4CB0-9B8D-79C3983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1D2997E3-FE89-41D8-8899-4AA4E564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116990-A1F4-4D2A-905C-C0936F92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C974EDCE-AC23-4943-85CA-8D6035E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联合用药话术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B815E871-B640-4227-97BE-9AB167D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8BBE637D-CD6A-46B8-BD2A-1100E52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combination-head-0-surface">
            <a:extLst xmlns:a="http://schemas.openxmlformats.org/drawingml/2006/main">
              <a:ext uri="{FF2B5EF4-FFF2-40B4-BE49-F238E27FC236}">
                <a16:creationId xmlns:a16="http://schemas.microsoft.com/office/drawing/2014/main" id="{5C661D69-8C01-4C31-BF5A-73D148A5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14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combination-head-0-text">
            <a:extLst xmlns:a="http://schemas.openxmlformats.org/drawingml/2006/main">
              <a:ext uri="{FF2B5EF4-FFF2-40B4-BE49-F238E27FC236}">
                <a16:creationId xmlns:a16="http://schemas.microsoft.com/office/drawing/2014/main" id="{3D0FDA0C-9A40-45B4-9111-0D94CDF9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应用场景（适宜人群）</a:t>
            </a:r>
          </a:p>
        </p:txBody>
      </p:sp>
      <p:sp>
        <p:nvSpPr>
          <p:cNvPr id="10" name="combination-head-1-surface">
            <a:extLst xmlns:a="http://schemas.openxmlformats.org/drawingml/2006/main">
              <a:ext uri="{FF2B5EF4-FFF2-40B4-BE49-F238E27FC236}">
                <a16:creationId xmlns:a16="http://schemas.microsoft.com/office/drawing/2014/main" id="{33184911-1E0E-4551-92F2-62B45C56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combination-head-1-text">
            <a:extLst xmlns:a="http://schemas.openxmlformats.org/drawingml/2006/main">
              <a:ext uri="{FF2B5EF4-FFF2-40B4-BE49-F238E27FC236}">
                <a16:creationId xmlns:a16="http://schemas.microsoft.com/office/drawing/2014/main" id="{E2683E7A-863E-4BAC-912E-DF77294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90600"/>
            <a:ext cx="1514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联合用药</a:t>
            </a:r>
          </a:p>
        </p:txBody>
      </p:sp>
      <p:sp>
        <p:nvSpPr>
          <p:cNvPr id="12" name="combination-head-2-surface">
            <a:extLst xmlns:a="http://schemas.openxmlformats.org/drawingml/2006/main">
              <a:ext uri="{FF2B5EF4-FFF2-40B4-BE49-F238E27FC236}">
                <a16:creationId xmlns:a16="http://schemas.microsoft.com/office/drawing/2014/main" id="{DB3A85F2-E717-4DC3-BCCE-152E5C0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914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combination-head-2-text">
            <a:extLst xmlns:a="http://schemas.openxmlformats.org/drawingml/2006/main">
              <a:ext uri="{FF2B5EF4-FFF2-40B4-BE49-F238E27FC236}">
                <a16:creationId xmlns:a16="http://schemas.microsoft.com/office/drawing/2014/main" id="{0CCDA7B3-1A87-47C2-934C-1FD0915A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990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联合商品图</a:t>
            </a:r>
          </a:p>
        </p:txBody>
      </p:sp>
      <p:sp>
        <p:nvSpPr>
          <p:cNvPr id="14" name="combination-head-3-surface">
            <a:extLst xmlns:a="http://schemas.openxmlformats.org/drawingml/2006/main">
              <a:ext uri="{FF2B5EF4-FFF2-40B4-BE49-F238E27FC236}">
                <a16:creationId xmlns:a16="http://schemas.microsoft.com/office/drawing/2014/main" id="{FCC5B310-CF7C-4252-8D81-5C3BD28D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14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combination-head-3-text">
            <a:extLst xmlns:a="http://schemas.openxmlformats.org/drawingml/2006/main">
              <a:ext uri="{FF2B5EF4-FFF2-40B4-BE49-F238E27FC236}">
                <a16:creationId xmlns:a16="http://schemas.microsoft.com/office/drawing/2014/main" id="{FFEB17F0-2BD2-4EB1-952F-AF55C0A0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9906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本品图</a:t>
            </a:r>
          </a:p>
        </p:txBody>
      </p:sp>
      <p:sp>
        <p:nvSpPr>
          <p:cNvPr id="16" name="combination-head-4-surface">
            <a:extLst xmlns:a="http://schemas.openxmlformats.org/drawingml/2006/main">
              <a:ext uri="{FF2B5EF4-FFF2-40B4-BE49-F238E27FC236}">
                <a16:creationId xmlns:a16="http://schemas.microsoft.com/office/drawing/2014/main" id="{049A6379-D28F-41B4-B17F-689BB58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914400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combination-head-4-text">
            <a:extLst xmlns:a="http://schemas.openxmlformats.org/drawingml/2006/main">
              <a:ext uri="{FF2B5EF4-FFF2-40B4-BE49-F238E27FC236}">
                <a16:creationId xmlns:a16="http://schemas.microsoft.com/office/drawing/2014/main" id="{E2F7C293-932A-4184-8134-27892D2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90600"/>
            <a:ext cx="4276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销售话术</a:t>
            </a:r>
          </a:p>
        </p:txBody>
      </p:sp>
      <p:sp>
        <p:nvSpPr>
          <p:cNvPr id="18" name="combination-scenario-0-surface">
            <a:extLst xmlns:a="http://schemas.openxmlformats.org/drawingml/2006/main">
              <a:ext uri="{FF2B5EF4-FFF2-40B4-BE49-F238E27FC236}">
                <a16:creationId xmlns:a16="http://schemas.microsoft.com/office/drawing/2014/main" id="{3955E5A3-5D51-4490-BB75-B674066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14287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combination-scenario-0-text">
            <a:extLst xmlns:a="http://schemas.openxmlformats.org/drawingml/2006/main">
              <a:ext uri="{FF2B5EF4-FFF2-40B4-BE49-F238E27FC236}">
                <a16:creationId xmlns:a16="http://schemas.microsoft.com/office/drawing/2014/main" id="{1BBDED48-53FA-436E-BAA9-F2E4C575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12763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风热感冒引起的咽喉肿痛</a:t>
            </a:r>
          </a:p>
        </p:txBody>
      </p:sp>
      <p:sp>
        <p:nvSpPr>
          <p:cNvPr id="20" name="combination-name-0-surface">
            <a:extLst xmlns:a="http://schemas.openxmlformats.org/drawingml/2006/main">
              <a:ext uri="{FF2B5EF4-FFF2-40B4-BE49-F238E27FC236}">
                <a16:creationId xmlns:a16="http://schemas.microsoft.com/office/drawing/2014/main" id="{29CA0CA0-2FD6-4C1D-A0FD-0789EB8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66850"/>
            <a:ext cx="166687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combination-name-0-text">
            <a:extLst xmlns:a="http://schemas.openxmlformats.org/drawingml/2006/main">
              <a:ext uri="{FF2B5EF4-FFF2-40B4-BE49-F238E27FC236}">
                <a16:creationId xmlns:a16="http://schemas.microsoft.com/office/drawing/2014/main" id="{A59A991D-7379-43EC-9CF7-B74D834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43050"/>
            <a:ext cx="151447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金银花露 + 小儿咽扁颗粒</a:t>
            </a:r>
          </a:p>
        </p:txBody>
      </p:sp>
      <p:sp>
        <p:nvSpPr>
          <p:cNvPr id="22" name="combination-partner-surface-0">
            <a:extLst xmlns:a="http://schemas.openxmlformats.org/drawingml/2006/main">
              <a:ext uri="{FF2B5EF4-FFF2-40B4-BE49-F238E27FC236}">
                <a16:creationId xmlns:a16="http://schemas.microsoft.com/office/drawing/2014/main" id="{3201833F-AF84-4D40-9037-39DA280B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66850"/>
            <a:ext cx="21907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partner-slot-0-surface">
            <a:extLst xmlns:a="http://schemas.openxmlformats.org/drawingml/2006/main">
              <a:ext uri="{FF2B5EF4-FFF2-40B4-BE49-F238E27FC236}">
                <a16:creationId xmlns:a16="http://schemas.microsoft.com/office/drawing/2014/main" id="{5AE3612C-A10B-4309-B224-DB6D1DC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05013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4" name="partner-slot-0-label">
            <a:extLst xmlns:a="http://schemas.openxmlformats.org/drawingml/2006/main">
              <a:ext uri="{FF2B5EF4-FFF2-40B4-BE49-F238E27FC236}">
                <a16:creationId xmlns:a16="http://schemas.microsoft.com/office/drawing/2014/main" id="{0F9D3660-AC71-4312-9D4E-8D8E284E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81263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小儿咽扁颗粒（康乐仔）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  <p:sp>
        <p:nvSpPr>
          <p:cNvPr id="25" name="combination-talk-0-surface">
            <a:extLst xmlns:a="http://schemas.openxmlformats.org/drawingml/2006/main">
              <a:ext uri="{FF2B5EF4-FFF2-40B4-BE49-F238E27FC236}">
                <a16:creationId xmlns:a16="http://schemas.microsoft.com/office/drawing/2014/main" id="{FCCD4262-FE45-459F-96B9-29C173E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66850"/>
            <a:ext cx="442912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combination-talk-0-text">
            <a:extLst xmlns:a="http://schemas.openxmlformats.org/drawingml/2006/main">
              <a:ext uri="{FF2B5EF4-FFF2-40B4-BE49-F238E27FC236}">
                <a16:creationId xmlns:a16="http://schemas.microsoft.com/office/drawing/2014/main" id="{7163CF82-8921-4B4D-954C-692C24AD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43050"/>
            <a:ext cx="427672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小儿咽扁颗粒直击咽喉炎症，消肿止痛；金银花露清解内热，辅助降火。二者联用，内外兼治，加速缓解咽喉肿痛、暑热烦躁。</a:t>
            </a:r>
          </a:p>
        </p:txBody>
      </p:sp>
      <p:sp>
        <p:nvSpPr>
          <p:cNvPr id="27" name="combination-scenario-1-surface">
            <a:extLst xmlns:a="http://schemas.openxmlformats.org/drawingml/2006/main">
              <a:ext uri="{FF2B5EF4-FFF2-40B4-BE49-F238E27FC236}">
                <a16:creationId xmlns:a16="http://schemas.microsoft.com/office/drawing/2014/main" id="{F6A7ECF2-A7FB-47C2-B93A-B51B2464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71925"/>
            <a:ext cx="14287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combination-scenario-1-text">
            <a:extLst xmlns:a="http://schemas.openxmlformats.org/drawingml/2006/main">
              <a:ext uri="{FF2B5EF4-FFF2-40B4-BE49-F238E27FC236}">
                <a16:creationId xmlns:a16="http://schemas.microsoft.com/office/drawing/2014/main" id="{3F4212BD-2BD3-4339-960F-F68A2B4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2763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风热感冒引起的发热、鼻塞流涕</a:t>
            </a:r>
          </a:p>
        </p:txBody>
      </p:sp>
      <p:sp>
        <p:nvSpPr>
          <p:cNvPr id="29" name="combination-name-1-surface">
            <a:extLst xmlns:a="http://schemas.openxmlformats.org/drawingml/2006/main">
              <a:ext uri="{FF2B5EF4-FFF2-40B4-BE49-F238E27FC236}">
                <a16:creationId xmlns:a16="http://schemas.microsoft.com/office/drawing/2014/main" id="{867B9E86-1A91-4793-9F37-5B88253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166687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combination-name-1-text">
            <a:extLst xmlns:a="http://schemas.openxmlformats.org/drawingml/2006/main">
              <a:ext uri="{FF2B5EF4-FFF2-40B4-BE49-F238E27FC236}">
                <a16:creationId xmlns:a16="http://schemas.microsoft.com/office/drawing/2014/main" id="{BEF1E8EC-6216-4990-B7D9-67D6616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48125"/>
            <a:ext cx="151447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金银花露 + 小儿氨酚黄那敏颗粒</a:t>
            </a:r>
          </a:p>
        </p:txBody>
      </p:sp>
      <p:sp>
        <p:nvSpPr>
          <p:cNvPr id="31" name="combination-partner-surface-1">
            <a:extLst xmlns:a="http://schemas.openxmlformats.org/drawingml/2006/main">
              <a:ext uri="{FF2B5EF4-FFF2-40B4-BE49-F238E27FC236}">
                <a16:creationId xmlns:a16="http://schemas.microsoft.com/office/drawing/2014/main" id="{4CC92B05-0C4C-418D-846A-4B8B6AD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971925"/>
            <a:ext cx="21907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partner-slot-1-surface">
            <a:extLst xmlns:a="http://schemas.openxmlformats.org/drawingml/2006/main">
              <a:ext uri="{FF2B5EF4-FFF2-40B4-BE49-F238E27FC236}">
                <a16:creationId xmlns:a16="http://schemas.microsoft.com/office/drawing/2014/main" id="{9949A598-7D35-4682-B8E4-5AD58B16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10088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33" name="partner-slot-1-label">
            <a:extLst xmlns:a="http://schemas.openxmlformats.org/drawingml/2006/main">
              <a:ext uri="{FF2B5EF4-FFF2-40B4-BE49-F238E27FC236}">
                <a16:creationId xmlns:a16="http://schemas.microsoft.com/office/drawing/2014/main" id="{828CD8DE-8587-44C3-8103-2ED2542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86338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小儿氨酚黄那敏颗粒（康乐仔）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  <p:sp>
        <p:nvSpPr>
          <p:cNvPr id="34" name="combination-talk-1-surface">
            <a:extLst xmlns:a="http://schemas.openxmlformats.org/drawingml/2006/main">
              <a:ext uri="{FF2B5EF4-FFF2-40B4-BE49-F238E27FC236}">
                <a16:creationId xmlns:a16="http://schemas.microsoft.com/office/drawing/2014/main" id="{75553D0D-3CA3-460C-95D5-B9ACA5A8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442912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combination-talk-1-text">
            <a:extLst xmlns:a="http://schemas.openxmlformats.org/drawingml/2006/main">
              <a:ext uri="{FF2B5EF4-FFF2-40B4-BE49-F238E27FC236}">
                <a16:creationId xmlns:a16="http://schemas.microsoft.com/office/drawing/2014/main" id="{0677210C-22BE-40A8-AA85-AE816A0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48125"/>
            <a:ext cx="427672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小儿氨酚黄那敏颗粒用于缓解感冒症状，帮助退热、通鼻塞、止咳；金银花露清热解毒、利咽消肿。二者搭配，一个缓解外在症状，一个清解内热，快速缓解不适。</a:t>
            </a:r>
          </a:p>
        </p:txBody>
      </p:sp>
      <p:sp>
        <p:nvSpPr>
          <p:cNvPr id="36" name="combination-primary-merge-surface">
            <a:extLst xmlns:a="http://schemas.openxmlformats.org/drawingml/2006/main">
              <a:ext uri="{FF2B5EF4-FFF2-40B4-BE49-F238E27FC236}">
                <a16:creationId xmlns:a16="http://schemas.microsoft.com/office/drawing/2014/main" id="{292DFA3B-E738-422F-8491-9C5A7738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66850"/>
            <a:ext cx="19050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combination-primary-divider">
            <a:extLst xmlns:a="http://schemas.openxmlformats.org/drawingml/2006/main">
              <a:ext uri="{FF2B5EF4-FFF2-40B4-BE49-F238E27FC236}">
                <a16:creationId xmlns:a16="http://schemas.microsoft.com/office/drawing/2014/main" id="{85885375-4A2D-48F0-926A-747BB8C0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66850"/>
            <a:ext cx="28575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bination-plus">
            <a:extLst xmlns:a="http://schemas.openxmlformats.org/drawingml/2006/main">
              <a:ext uri="{FF2B5EF4-FFF2-40B4-BE49-F238E27FC236}">
                <a16:creationId xmlns:a16="http://schemas.microsoft.com/office/drawing/2014/main" id="{26DB1EE9-5E5A-4015-9267-A7F8125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705225"/>
            <a:ext cx="38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60012"/>
                </a:solidFill>
              </a:defRPr>
            </a:pPr>
            <a:r>
              <a:rPr sz="3000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+</a:t>
            </a:r>
          </a:p>
        </p:txBody>
      </p:sp>
      <p:sp>
        <p:nvSpPr>
          <p:cNvPr id="39" name="combination-primary-product-surface">
            <a:extLst xmlns:a="http://schemas.openxmlformats.org/drawingml/2006/main">
              <a:ext uri="{FF2B5EF4-FFF2-40B4-BE49-F238E27FC236}">
                <a16:creationId xmlns:a16="http://schemas.microsoft.com/office/drawing/2014/main" id="{154CD35F-07F1-49E5-A7D5-EA83E59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38425"/>
            <a:ext cx="123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40" name="combination-primary-product-label">
            <a:extLst xmlns:a="http://schemas.openxmlformats.org/drawingml/2006/main">
              <a:ext uri="{FF2B5EF4-FFF2-40B4-BE49-F238E27FC236}">
                <a16:creationId xmlns:a16="http://schemas.microsoft.com/office/drawing/2014/main" id="{63E1479C-9A7F-4713-8981-F0F9832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金银花露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</p:spTree>
    <p:extLst>
      <p:ext uri="{BB962C8B-B14F-4D97-AF65-F5344CB8AC3E}">
        <p14:creationId xmlns:p14="http://schemas.microsoft.com/office/powerpoint/2010/main" val="1723522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A716A7AE-1D69-463A-ADB6-31BA091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4A6885D7-0C5F-4EB6-B5B7-1D1DBA2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5B79D46D-8DAA-4403-96E5-8B713148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4202D5-E332-46C3-91F0-2C681CE4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F5B4A4B6-5AD1-4DC5-B492-A844A35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品种对标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FCAEC9D1-8837-4C15-8A1C-06C4EE04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283464BE-C75D-495B-893E-318C88A7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benchmark-head-0-surface">
            <a:extLst xmlns:a="http://schemas.openxmlformats.org/drawingml/2006/main">
              <a:ext uri="{FF2B5EF4-FFF2-40B4-BE49-F238E27FC236}">
                <a16:creationId xmlns:a16="http://schemas.microsoft.com/office/drawing/2014/main" id="{DA491F3C-C566-4BD3-B590-0C5B60EB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benchmark-head-0-text">
            <a:extLst xmlns:a="http://schemas.openxmlformats.org/drawingml/2006/main">
              <a:ext uri="{FF2B5EF4-FFF2-40B4-BE49-F238E27FC236}">
                <a16:creationId xmlns:a16="http://schemas.microsoft.com/office/drawing/2014/main" id="{5C90DA02-4040-4874-B5F4-12B838B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76325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对比维度</a:t>
            </a:r>
          </a:p>
        </p:txBody>
      </p:sp>
      <p:sp>
        <p:nvSpPr>
          <p:cNvPr id="10" name="benchmark-head-1-surface">
            <a:extLst xmlns:a="http://schemas.openxmlformats.org/drawingml/2006/main">
              <a:ext uri="{FF2B5EF4-FFF2-40B4-BE49-F238E27FC236}">
                <a16:creationId xmlns:a16="http://schemas.microsoft.com/office/drawing/2014/main" id="{169CE64D-A44D-4C97-96AD-5AD9B60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00125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benchmark-head-1-text">
            <a:extLst xmlns:a="http://schemas.openxmlformats.org/drawingml/2006/main">
              <a:ext uri="{FF2B5EF4-FFF2-40B4-BE49-F238E27FC236}">
                <a16:creationId xmlns:a16="http://schemas.microsoft.com/office/drawing/2014/main" id="{E24B4AA8-F5E0-466B-A32E-80CAAF8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07632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金银花露（可可康）</a:t>
            </a:r>
          </a:p>
        </p:txBody>
      </p:sp>
      <p:sp>
        <p:nvSpPr>
          <p:cNvPr id="12" name="benchmark-head-2-surface">
            <a:extLst xmlns:a="http://schemas.openxmlformats.org/drawingml/2006/main">
              <a:ext uri="{FF2B5EF4-FFF2-40B4-BE49-F238E27FC236}">
                <a16:creationId xmlns:a16="http://schemas.microsoft.com/office/drawing/2014/main" id="{52A5CA66-0AAD-44F7-BD4F-1999697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000125"/>
            <a:ext cx="466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benchmark-head-2-text">
            <a:extLst xmlns:a="http://schemas.openxmlformats.org/drawingml/2006/main">
              <a:ext uri="{FF2B5EF4-FFF2-40B4-BE49-F238E27FC236}">
                <a16:creationId xmlns:a16="http://schemas.microsoft.com/office/drawing/2014/main" id="{12982CAA-1275-490C-86CF-08D846B0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076325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金银花露（小葵花露-葵花药业）</a:t>
            </a:r>
          </a:p>
        </p:txBody>
      </p:sp>
      <p:sp>
        <p:nvSpPr>
          <p:cNvPr id="14" name="benchmark-label-0-surface">
            <a:extLst xmlns:a="http://schemas.openxmlformats.org/drawingml/2006/main">
              <a:ext uri="{FF2B5EF4-FFF2-40B4-BE49-F238E27FC236}">
                <a16:creationId xmlns:a16="http://schemas.microsoft.com/office/drawing/2014/main" id="{F3CCD76B-E664-460F-8282-D499881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067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benchmark-label-0-text">
            <a:extLst xmlns:a="http://schemas.openxmlformats.org/drawingml/2006/main">
              <a:ext uri="{FF2B5EF4-FFF2-40B4-BE49-F238E27FC236}">
                <a16:creationId xmlns:a16="http://schemas.microsoft.com/office/drawing/2014/main" id="{FF502929-3932-487A-AD46-01FCB5C9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1562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产品展示</a:t>
            </a:r>
          </a:p>
        </p:txBody>
      </p:sp>
      <p:sp>
        <p:nvSpPr>
          <p:cNvPr id="16" name="benchmark-product-left-cell">
            <a:extLst xmlns:a="http://schemas.openxmlformats.org/drawingml/2006/main">
              <a:ext uri="{FF2B5EF4-FFF2-40B4-BE49-F238E27FC236}">
                <a16:creationId xmlns:a16="http://schemas.microsoft.com/office/drawing/2014/main" id="{E3DD7A8D-9DD5-4C06-A3AD-ECBE91A8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90675"/>
            <a:ext cx="5048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benchmark-product-right-cell">
            <a:extLst xmlns:a="http://schemas.openxmlformats.org/drawingml/2006/main">
              <a:ext uri="{FF2B5EF4-FFF2-40B4-BE49-F238E27FC236}">
                <a16:creationId xmlns:a16="http://schemas.microsoft.com/office/drawing/2014/main" id="{EEC779E1-C0EB-4B0D-BDD7-D174B61F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90675"/>
            <a:ext cx="4667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benchmark-primary-packshot-surface">
            <a:extLst xmlns:a="http://schemas.openxmlformats.org/drawingml/2006/main">
              <a:ext uri="{FF2B5EF4-FFF2-40B4-BE49-F238E27FC236}">
                <a16:creationId xmlns:a16="http://schemas.microsoft.com/office/drawing/2014/main" id="{4953B16E-04ED-46C6-9CF7-317F4547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133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19" name="benchmark-primary-packshot-label">
            <a:extLst xmlns:a="http://schemas.openxmlformats.org/drawingml/2006/main">
              <a:ext uri="{FF2B5EF4-FFF2-40B4-BE49-F238E27FC236}">
                <a16:creationId xmlns:a16="http://schemas.microsoft.com/office/drawing/2014/main" id="{3AC97CB4-083E-4CBA-AB2A-E2AF978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574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可可康包装图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20" name="benchmark-competitor-packshot-surface">
            <a:extLst xmlns:a="http://schemas.openxmlformats.org/drawingml/2006/main">
              <a:ext uri="{FF2B5EF4-FFF2-40B4-BE49-F238E27FC236}">
                <a16:creationId xmlns:a16="http://schemas.microsoft.com/office/drawing/2014/main" id="{7315980E-F28A-49CF-933E-6889C84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33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8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1" name="benchmark-competitor-packshot-label">
            <a:extLst xmlns:a="http://schemas.openxmlformats.org/drawingml/2006/main">
              <a:ext uri="{FF2B5EF4-FFF2-40B4-BE49-F238E27FC236}">
                <a16:creationId xmlns:a16="http://schemas.microsoft.com/office/drawing/2014/main" id="{D19C30EB-1112-4C00-9964-E6B31142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竞品包装图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22" name="benchmark-label-1-surface">
            <a:extLst xmlns:a="http://schemas.openxmlformats.org/drawingml/2006/main">
              <a:ext uri="{FF2B5EF4-FFF2-40B4-BE49-F238E27FC236}">
                <a16:creationId xmlns:a16="http://schemas.microsoft.com/office/drawing/2014/main" id="{B7244DE0-0062-4BF8-BF15-E386AFBA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04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benchmark-label-1-text">
            <a:extLst xmlns:a="http://schemas.openxmlformats.org/drawingml/2006/main">
              <a:ext uri="{FF2B5EF4-FFF2-40B4-BE49-F238E27FC236}">
                <a16:creationId xmlns:a16="http://schemas.microsoft.com/office/drawing/2014/main" id="{917FC163-CA1E-439F-AD53-16DB140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766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功效主治</a:t>
            </a:r>
          </a:p>
        </p:txBody>
      </p:sp>
      <p:sp>
        <p:nvSpPr>
          <p:cNvPr id="24" name="benchmark-merged-1-surface">
            <a:extLst xmlns:a="http://schemas.openxmlformats.org/drawingml/2006/main">
              <a:ext uri="{FF2B5EF4-FFF2-40B4-BE49-F238E27FC236}">
                <a16:creationId xmlns:a16="http://schemas.microsoft.com/office/drawing/2014/main" id="{48B6769F-D118-4A23-8CFF-2E42F58B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00425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benchmark-merged-1-text">
            <a:extLst xmlns:a="http://schemas.openxmlformats.org/drawingml/2006/main">
              <a:ext uri="{FF2B5EF4-FFF2-40B4-BE49-F238E27FC236}">
                <a16:creationId xmlns:a16="http://schemas.microsoft.com/office/drawing/2014/main" id="{C7D98EE7-3E69-4528-9C40-4BC254BF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76625"/>
            <a:ext cx="956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清热解毒。用于小儿痱毒，暑热口渴</a:t>
            </a:r>
          </a:p>
        </p:txBody>
      </p:sp>
    </p:spTree>
    <p:extLst>
      <p:ext uri="{BB962C8B-B14F-4D97-AF65-F5344CB8AC3E}">
        <p14:creationId xmlns:p14="http://schemas.microsoft.com/office/powerpoint/2010/main" val="724482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093D09BE-276F-4459-9FA8-01494855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F054FE13-80A4-46A7-A88D-E15C187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5EAED49B-5774-444D-B745-8563A05D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0890C1-72D6-4B4F-A45D-3CA3BF9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42E12F-A61D-4C49-91ED-DE8E6F89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注意事项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358B5118-8C29-47B0-8A81-8D37356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8BD82708-036D-485C-A2AF-B4E09B85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precautions-label">
            <a:extLst xmlns:a="http://schemas.openxmlformats.org/drawingml/2006/main">
              <a:ext uri="{FF2B5EF4-FFF2-40B4-BE49-F238E27FC236}">
                <a16:creationId xmlns:a16="http://schemas.microsoft.com/office/drawing/2014/main" id="{BB782595-8CF9-4983-85CC-42F57DAC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注意事项：</a:t>
            </a:r>
          </a:p>
        </p:txBody>
      </p:sp>
      <p:sp>
        <p:nvSpPr>
          <p:cNvPr id="9" name="precaution-item-0">
            <a:extLst xmlns:a="http://schemas.openxmlformats.org/drawingml/2006/main">
              <a:ext uri="{FF2B5EF4-FFF2-40B4-BE49-F238E27FC236}">
                <a16:creationId xmlns:a16="http://schemas.microsoft.com/office/drawing/2014/main" id="{13ABCBEE-E0F3-4503-9C67-634A69F6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1、服药时饮食宜清淡。</a:t>
            </a:r>
          </a:p>
        </p:txBody>
      </p:sp>
      <p:sp>
        <p:nvSpPr>
          <p:cNvPr id="10" name="precaution-item-1">
            <a:extLst xmlns:a="http://schemas.openxmlformats.org/drawingml/2006/main">
              <a:ext uri="{FF2B5EF4-FFF2-40B4-BE49-F238E27FC236}">
                <a16:creationId xmlns:a16="http://schemas.microsoft.com/office/drawing/2014/main" id="{2648489E-C2DD-42A2-B523-05120AC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2、服用本药时，不宜同时服滋补性中成药。</a:t>
            </a:r>
          </a:p>
        </p:txBody>
      </p:sp>
      <p:sp>
        <p:nvSpPr>
          <p:cNvPr id="11" name="precaution-item-2">
            <a:extLst xmlns:a="http://schemas.openxmlformats.org/drawingml/2006/main">
              <a:ext uri="{FF2B5EF4-FFF2-40B4-BE49-F238E27FC236}">
                <a16:creationId xmlns:a16="http://schemas.microsoft.com/office/drawing/2014/main" id="{68609A39-ABD5-4514-856B-7940422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3、脾虚大便溏者慎服。</a:t>
            </a:r>
          </a:p>
        </p:txBody>
      </p:sp>
      <p:sp>
        <p:nvSpPr>
          <p:cNvPr id="12" name="precaution-item-3">
            <a:extLst xmlns:a="http://schemas.openxmlformats.org/drawingml/2006/main">
              <a:ext uri="{FF2B5EF4-FFF2-40B4-BE49-F238E27FC236}">
                <a16:creationId xmlns:a16="http://schemas.microsoft.com/office/drawing/2014/main" id="{5277A675-C8BB-4A35-B8D3-07FCBE89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4、服用3天后，症状无改善，或出现其他严重症状时应停药，并去医院就诊。</a:t>
            </a:r>
          </a:p>
        </p:txBody>
      </p:sp>
      <p:sp>
        <p:nvSpPr>
          <p:cNvPr id="13" name="precaution-item-4">
            <a:extLst xmlns:a="http://schemas.openxmlformats.org/drawingml/2006/main">
              <a:ext uri="{FF2B5EF4-FFF2-40B4-BE49-F238E27FC236}">
                <a16:creationId xmlns:a16="http://schemas.microsoft.com/office/drawing/2014/main" id="{6DFECAD9-AA34-4CD7-9311-3B93F07A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5、对本品过敏者禁用，过敏体质者慎用。本品性状发生改变时禁止使用。</a:t>
            </a:r>
          </a:p>
        </p:txBody>
      </p:sp>
      <p:sp>
        <p:nvSpPr>
          <p:cNvPr id="14" name="precaution-card-0">
            <a:extLst xmlns:a="http://schemas.openxmlformats.org/drawingml/2006/main">
              <a:ext uri="{FF2B5EF4-FFF2-40B4-BE49-F238E27FC236}">
                <a16:creationId xmlns:a16="http://schemas.microsoft.com/office/drawing/2014/main" id="{8B8DE777-83A0-44FA-AA18-5D363D0E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00125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15" name="precaution-card-title-0">
            <a:extLst xmlns:a="http://schemas.openxmlformats.org/drawingml/2006/main">
              <a:ext uri="{FF2B5EF4-FFF2-40B4-BE49-F238E27FC236}">
                <a16:creationId xmlns:a16="http://schemas.microsoft.com/office/drawing/2014/main" id="{FEB98C18-0862-4F3F-A242-81D33217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9675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饮食宜清淡</a:t>
            </a:r>
          </a:p>
        </p:txBody>
      </p:sp>
      <p:sp>
        <p:nvSpPr>
          <p:cNvPr id="16" name="precaution-asset-0-surface">
            <a:extLst xmlns:a="http://schemas.openxmlformats.org/drawingml/2006/main">
              <a:ext uri="{FF2B5EF4-FFF2-40B4-BE49-F238E27FC236}">
                <a16:creationId xmlns:a16="http://schemas.microsoft.com/office/drawing/2014/main" id="{1BB77D69-3349-42F5-829E-BEFCFA03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24025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17" name="precaution-asset-0-label">
            <a:extLst xmlns:a="http://schemas.openxmlformats.org/drawingml/2006/main">
              <a:ext uri="{FF2B5EF4-FFF2-40B4-BE49-F238E27FC236}">
                <a16:creationId xmlns:a16="http://schemas.microsoft.com/office/drawing/2014/main" id="{CEFC1787-028C-418E-BE30-60CF641D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5519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饮食宜清淡</a:t>
            </a:r>
          </a:p>
        </p:txBody>
      </p:sp>
      <p:sp>
        <p:nvSpPr>
          <p:cNvPr id="18" name="precaution-card-1">
            <a:extLst xmlns:a="http://schemas.openxmlformats.org/drawingml/2006/main">
              <a:ext uri="{FF2B5EF4-FFF2-40B4-BE49-F238E27FC236}">
                <a16:creationId xmlns:a16="http://schemas.microsoft.com/office/drawing/2014/main" id="{E6ECA449-95E7-4653-8B4F-CE8AC68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000125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19" name="precaution-card-title-1">
            <a:extLst xmlns:a="http://schemas.openxmlformats.org/drawingml/2006/main">
              <a:ext uri="{FF2B5EF4-FFF2-40B4-BE49-F238E27FC236}">
                <a16:creationId xmlns:a16="http://schemas.microsoft.com/office/drawing/2014/main" id="{848F5695-5803-4263-A5D8-D7AEBA9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209675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滋补性中成药</a:t>
            </a:r>
          </a:p>
        </p:txBody>
      </p:sp>
      <p:sp>
        <p:nvSpPr>
          <p:cNvPr id="20" name="precaution-asset-1-surface">
            <a:extLst xmlns:a="http://schemas.openxmlformats.org/drawingml/2006/main">
              <a:ext uri="{FF2B5EF4-FFF2-40B4-BE49-F238E27FC236}">
                <a16:creationId xmlns:a16="http://schemas.microsoft.com/office/drawing/2014/main" id="{49BA2F45-2F3B-4DD6-846C-1D76C614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24025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1" name="precaution-asset-1-label">
            <a:extLst xmlns:a="http://schemas.openxmlformats.org/drawingml/2006/main">
              <a:ext uri="{FF2B5EF4-FFF2-40B4-BE49-F238E27FC236}">
                <a16:creationId xmlns:a16="http://schemas.microsoft.com/office/drawing/2014/main" id="{3C0FC16B-7D75-4900-B34B-F79B1DB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5519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滋补性中成药</a:t>
            </a:r>
          </a:p>
        </p:txBody>
      </p:sp>
      <p:sp>
        <p:nvSpPr>
          <p:cNvPr id="22" name="precaution-card-2">
            <a:extLst xmlns:a="http://schemas.openxmlformats.org/drawingml/2006/main">
              <a:ext uri="{FF2B5EF4-FFF2-40B4-BE49-F238E27FC236}">
                <a16:creationId xmlns:a16="http://schemas.microsoft.com/office/drawing/2014/main" id="{634983A5-DA10-471E-8408-F6425FB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6638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23" name="precaution-card-title-2">
            <a:extLst xmlns:a="http://schemas.openxmlformats.org/drawingml/2006/main">
              <a:ext uri="{FF2B5EF4-FFF2-40B4-BE49-F238E27FC236}">
                <a16:creationId xmlns:a16="http://schemas.microsoft.com/office/drawing/2014/main" id="{4D338368-9088-4ABD-91E6-76EB4602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6188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及时就诊</a:t>
            </a:r>
          </a:p>
        </p:txBody>
      </p:sp>
      <p:sp>
        <p:nvSpPr>
          <p:cNvPr id="24" name="precaution-asset-2-surface">
            <a:extLst xmlns:a="http://schemas.openxmlformats.org/drawingml/2006/main">
              <a:ext uri="{FF2B5EF4-FFF2-40B4-BE49-F238E27FC236}">
                <a16:creationId xmlns:a16="http://schemas.microsoft.com/office/drawing/2014/main" id="{9BA04199-36CD-417F-ACDE-5D034C8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0538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5" name="precaution-asset-2-label">
            <a:extLst xmlns:a="http://schemas.openxmlformats.org/drawingml/2006/main">
              <a:ext uri="{FF2B5EF4-FFF2-40B4-BE49-F238E27FC236}">
                <a16:creationId xmlns:a16="http://schemas.microsoft.com/office/drawing/2014/main" id="{4EEC7B08-940C-438D-98E9-14C6B3A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22031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及时就诊</a:t>
            </a:r>
          </a:p>
        </p:txBody>
      </p:sp>
      <p:sp>
        <p:nvSpPr>
          <p:cNvPr id="26" name="precaution-card-3">
            <a:extLst xmlns:a="http://schemas.openxmlformats.org/drawingml/2006/main">
              <a:ext uri="{FF2B5EF4-FFF2-40B4-BE49-F238E27FC236}">
                <a16:creationId xmlns:a16="http://schemas.microsoft.com/office/drawing/2014/main" id="{24BD493B-652D-4C9A-89F1-A0CFEA6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6638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27" name="precaution-card-title-3">
            <a:extLst xmlns:a="http://schemas.openxmlformats.org/drawingml/2006/main">
              <a:ext uri="{FF2B5EF4-FFF2-40B4-BE49-F238E27FC236}">
                <a16:creationId xmlns:a16="http://schemas.microsoft.com/office/drawing/2014/main" id="{73DF6E30-1F43-484F-A4C7-5997DB2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86188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过敏慎用</a:t>
            </a:r>
          </a:p>
        </p:txBody>
      </p:sp>
      <p:sp>
        <p:nvSpPr>
          <p:cNvPr id="28" name="precaution-asset-3-surface">
            <a:extLst xmlns:a="http://schemas.openxmlformats.org/drawingml/2006/main">
              <a:ext uri="{FF2B5EF4-FFF2-40B4-BE49-F238E27FC236}">
                <a16:creationId xmlns:a16="http://schemas.microsoft.com/office/drawing/2014/main" id="{60D42288-8B40-42AB-884E-0EF8481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00538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9" name="precaution-asset-3-label">
            <a:extLst xmlns:a="http://schemas.openxmlformats.org/drawingml/2006/main">
              <a:ext uri="{FF2B5EF4-FFF2-40B4-BE49-F238E27FC236}">
                <a16:creationId xmlns:a16="http://schemas.microsoft.com/office/drawing/2014/main" id="{287D3F0C-2D41-4A0F-B456-F8FDEEA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22031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过敏慎用</a:t>
            </a:r>
          </a:p>
        </p:txBody>
      </p:sp>
    </p:spTree>
    <p:extLst>
      <p:ext uri="{BB962C8B-B14F-4D97-AF65-F5344CB8AC3E}">
        <p14:creationId xmlns:p14="http://schemas.microsoft.com/office/powerpoint/2010/main" val="33805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2026-08-03T09:31:12.4310000Z</dcterms:created>
  <dcterms:modified xsi:type="dcterms:W3CDTF">2026-08-03T09:31:12.4310000Z</dcterms:modified>
</coreProperties>
</file>